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82" d="100"/>
          <a:sy n="82" d="100"/>
        </p:scale>
        <p:origin x="720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9D197D-288C-ED7C-ABF3-20E39D56433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C29BFDC-949A-723D-49EC-C9EA69C3DC0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DAB21FE-2B25-F5EA-DA15-A768F134F0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75F328-0CFE-44D7-AF58-50D6B4E72A82}" type="datetimeFigureOut">
              <a:rPr lang="en-IN" smtClean="0"/>
              <a:t>09-11-2025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772115C-3104-0F9B-7F40-2F9852AB46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E884C36-2793-34E5-DE8E-54010CAEB9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A88215-1C5F-40E2-8AEC-267A4AE347D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14665299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7F2DC8-364B-75BB-8638-45280650BF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BC4A2F5-8C35-AC4B-EE5A-81657FD1E34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FC931EB-2DEB-F9A4-880F-CDA38025CA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75F328-0CFE-44D7-AF58-50D6B4E72A82}" type="datetimeFigureOut">
              <a:rPr lang="en-IN" smtClean="0"/>
              <a:t>09-11-2025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4073772-B6D9-8990-EF03-4193599214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B7F0DEB-EF21-720A-93A8-6E0ED38384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A88215-1C5F-40E2-8AEC-267A4AE347D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50413175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5F0FC4-D05F-F96B-A42C-73DF8B4874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3777DB4-82BD-5F20-6326-D617A3CA182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5747B7E-6D44-0B01-F40F-45ACD29362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75F328-0CFE-44D7-AF58-50D6B4E72A82}" type="datetimeFigureOut">
              <a:rPr lang="en-IN" smtClean="0"/>
              <a:t>09-11-2025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01B8A85-8BD8-5922-60DE-880EE18381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2C0D3FF-62F9-6D76-17D9-318CE91D86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A88215-1C5F-40E2-8AEC-267A4AE347D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73668439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42D440-8D2A-820F-ADD9-8C48E593DB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208EB5C-BE0E-F7C9-63C8-9A69A1FE4D3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B48C74B-033C-0EBB-A39D-75F951D421C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0AD877E-4D1A-EAC2-A897-8DBB12B974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75F328-0CFE-44D7-AF58-50D6B4E72A82}" type="datetimeFigureOut">
              <a:rPr lang="en-IN" smtClean="0"/>
              <a:t>09-11-2025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0806DB5-AB52-E7AB-DD7E-1E67375F69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5DFC8B7-049D-8AD3-B5B2-855CBDCA25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A88215-1C5F-40E2-8AEC-267A4AE347D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11707871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ED36DB-2463-6F52-5235-1A1005D3C9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EFD11AC-8132-FBF8-2F1D-D280962BFB9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D15F470-364F-6CC0-CB68-DD52F745E88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76962CA-9925-99E4-7C33-110A75FB1AE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5404BA1-9E79-269E-4587-31BDF15C907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05F8056-3103-F7A5-1765-4BCCBBB9DB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75F328-0CFE-44D7-AF58-50D6B4E72A82}" type="datetimeFigureOut">
              <a:rPr lang="en-IN" smtClean="0"/>
              <a:t>09-11-2025</a:t>
            </a:fld>
            <a:endParaRPr lang="en-I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A3F1AB9-776A-401A-0A37-2B69BBF7F5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A185A80-F1EA-04AE-FFF2-0A13B627FF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A88215-1C5F-40E2-8AEC-267A4AE347D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89727070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CB9AE7-967D-B78C-8F5A-34521BD26E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10F832C-D4D0-973B-34B5-AA338328EF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75F328-0CFE-44D7-AF58-50D6B4E72A82}" type="datetimeFigureOut">
              <a:rPr lang="en-IN" smtClean="0"/>
              <a:t>09-11-2025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A9461A4-E09C-5E2B-84E8-CBFE800B65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17CEC7E-2942-E3C3-5A5F-39319BB280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A88215-1C5F-40E2-8AEC-267A4AE347D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71576744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C45FB40-1285-FA14-A0AD-A87E54F4DA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75F328-0CFE-44D7-AF58-50D6B4E72A82}" type="datetimeFigureOut">
              <a:rPr lang="en-IN" smtClean="0"/>
              <a:t>09-11-2025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195000A-3353-CC72-CEC0-9D64AEEA7A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A1298F7-1B77-D603-4955-FA7F2121BF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A88215-1C5F-40E2-8AEC-267A4AE347D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96770536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842998-6FBA-146A-30AC-6B8085C7C3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9B10F62-F62F-27C9-0CAD-92071F0D259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0B7C12D-F00C-7699-DCA7-84CA2B5C44E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887F294-AEE4-2D53-F63F-178D978E93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75F328-0CFE-44D7-AF58-50D6B4E72A82}" type="datetimeFigureOut">
              <a:rPr lang="en-IN" smtClean="0"/>
              <a:t>09-11-2025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2201CDD-C031-E556-F7C8-7E2178CDD2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F1A2438-7E9D-E3BE-B3F9-C23CDDC0BD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A88215-1C5F-40E2-8AEC-267A4AE347D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5191701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5D8B4C-92AC-4AF4-B100-6941C5D8C6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53594F4-5650-9EA7-A10E-746C4C68ADF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2D7B0D3-E610-1A91-7013-C03A92D1781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374F3C1-67BA-D7BA-E112-B57DD6B0F6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75F328-0CFE-44D7-AF58-50D6B4E72A82}" type="datetimeFigureOut">
              <a:rPr lang="en-IN" smtClean="0"/>
              <a:t>09-11-2025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E7BFBB0-AE4F-4DEF-97D5-602ACC5C2B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8BF27FA-2001-677E-C1EF-2B9A4F010F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A88215-1C5F-40E2-8AEC-267A4AE347D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19848178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9D58DE-1BF0-31D2-F8F2-10F6BDC508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EF63378-84E4-16D9-21B8-2CBFB15E68A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90C52A4-AA12-9597-01E5-CC3CCB06C3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75F328-0CFE-44D7-AF58-50D6B4E72A82}" type="datetimeFigureOut">
              <a:rPr lang="en-IN" smtClean="0"/>
              <a:t>09-11-2025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9A1A0B0-6D52-BF70-1311-251BCF2804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C28C76B-1198-4011-3C1D-466054B6B5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A88215-1C5F-40E2-8AEC-267A4AE347D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32321137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B76D345-F9A5-47DB-4D89-9B4FD632EBE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7C64316-31E6-A12A-9B46-B4EB931424A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BE85577-0E3F-5E14-23FD-AFDC7784C1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75F328-0CFE-44D7-AF58-50D6B4E72A82}" type="datetimeFigureOut">
              <a:rPr lang="en-IN" smtClean="0"/>
              <a:t>09-11-2025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DD56523-91FA-39DA-3BF0-081F813162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9D910CD-A0F2-3C44-7FCB-4BE41250B4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A88215-1C5F-40E2-8AEC-267A4AE347D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4164647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C218DD0-B08E-1401-3134-219AD4699C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A01D4FA-4B2F-5BD7-FED6-290F432B10F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26157E2-A683-B44C-96EC-4F59E4637B7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B75F328-0CFE-44D7-AF58-50D6B4E72A82}" type="datetimeFigureOut">
              <a:rPr lang="en-IN" smtClean="0"/>
              <a:t>09-11-2025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1942E93-7028-0205-B08B-7702E211D61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6B6DC70-781E-0EDF-0D7A-CC6A9F62079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0A88215-1C5F-40E2-8AEC-267A4AE347D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07218532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hyperlink" Target="https://www.youtube.com/watch?v=OXGznpKZ_sA&amp;t=5828s" TargetMode="External"/><Relationship Id="rId13" Type="http://schemas.openxmlformats.org/officeDocument/2006/relationships/hyperlink" Target="https://www.youtube.com/watch?v=OXGznpKZ_sA&amp;t=10821s" TargetMode="External"/><Relationship Id="rId18" Type="http://schemas.openxmlformats.org/officeDocument/2006/relationships/hyperlink" Target="https://www.youtube.com/watch?v=OXGznpKZ_sA&amp;t=17193s" TargetMode="External"/><Relationship Id="rId26" Type="http://schemas.openxmlformats.org/officeDocument/2006/relationships/hyperlink" Target="https://www.youtube.com/watch?v=OXGznpKZ_sA&amp;t=32243s" TargetMode="External"/><Relationship Id="rId3" Type="http://schemas.openxmlformats.org/officeDocument/2006/relationships/hyperlink" Target="https://www.youtube.com/watch?v=OXGznpKZ_sA&amp;t=68s" TargetMode="External"/><Relationship Id="rId21" Type="http://schemas.openxmlformats.org/officeDocument/2006/relationships/hyperlink" Target="https://www.youtube.com/watch?v=OXGznpKZ_sA&amp;t=23601s" TargetMode="External"/><Relationship Id="rId7" Type="http://schemas.openxmlformats.org/officeDocument/2006/relationships/hyperlink" Target="https://www.youtube.com/watch?v=OXGznpKZ_sA&amp;t=4316s" TargetMode="External"/><Relationship Id="rId12" Type="http://schemas.openxmlformats.org/officeDocument/2006/relationships/hyperlink" Target="https://www.youtube.com/watch?v=OXGznpKZ_sA&amp;t=9904s" TargetMode="External"/><Relationship Id="rId17" Type="http://schemas.openxmlformats.org/officeDocument/2006/relationships/hyperlink" Target="https://www.youtube.com/watch?v=OXGznpKZ_sA&amp;t=15699s" TargetMode="External"/><Relationship Id="rId25" Type="http://schemas.openxmlformats.org/officeDocument/2006/relationships/hyperlink" Target="https://www.youtube.com/watch?v=OXGznpKZ_sA&amp;t=31053s" TargetMode="External"/><Relationship Id="rId2" Type="http://schemas.openxmlformats.org/officeDocument/2006/relationships/hyperlink" Target="https://www.youtube.com/watch?v=OXGznpKZ_sA" TargetMode="External"/><Relationship Id="rId16" Type="http://schemas.openxmlformats.org/officeDocument/2006/relationships/hyperlink" Target="https://www.youtube.com/watch?v=OXGznpKZ_sA&amp;t=14273s" TargetMode="External"/><Relationship Id="rId20" Type="http://schemas.openxmlformats.org/officeDocument/2006/relationships/hyperlink" Target="https://www.youtube.com/watch?v=OXGznpKZ_sA&amp;t=21539s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www.youtube.com/watch?v=OXGznpKZ_sA&amp;t=3073s" TargetMode="External"/><Relationship Id="rId11" Type="http://schemas.openxmlformats.org/officeDocument/2006/relationships/hyperlink" Target="https://www.youtube.com/watch?v=OXGznpKZ_sA&amp;t=9151s" TargetMode="External"/><Relationship Id="rId24" Type="http://schemas.openxmlformats.org/officeDocument/2006/relationships/hyperlink" Target="https://www.youtube.com/watch?v=OXGznpKZ_sA&amp;t=28205s" TargetMode="External"/><Relationship Id="rId5" Type="http://schemas.openxmlformats.org/officeDocument/2006/relationships/hyperlink" Target="https://www.youtube.com/watch?v=OXGznpKZ_sA&amp;t=2081s" TargetMode="External"/><Relationship Id="rId15" Type="http://schemas.openxmlformats.org/officeDocument/2006/relationships/hyperlink" Target="https://www.youtube.com/watch?v=OXGznpKZ_sA&amp;t=12870s" TargetMode="External"/><Relationship Id="rId23" Type="http://schemas.openxmlformats.org/officeDocument/2006/relationships/hyperlink" Target="https://www.youtube.com/watch?v=OXGznpKZ_sA&amp;t=26428s" TargetMode="External"/><Relationship Id="rId10" Type="http://schemas.openxmlformats.org/officeDocument/2006/relationships/hyperlink" Target="https://www.youtube.com/watch?v=OXGznpKZ_sA&amp;t=8197s" TargetMode="External"/><Relationship Id="rId19" Type="http://schemas.openxmlformats.org/officeDocument/2006/relationships/hyperlink" Target="https://www.youtube.com/watch?v=OXGznpKZ_sA&amp;t=19960s" TargetMode="External"/><Relationship Id="rId4" Type="http://schemas.openxmlformats.org/officeDocument/2006/relationships/hyperlink" Target="https://www.youtube.com/watch?v=OXGznpKZ_sA&amp;t=890s" TargetMode="External"/><Relationship Id="rId9" Type="http://schemas.openxmlformats.org/officeDocument/2006/relationships/hyperlink" Target="https://www.youtube.com/watch?v=OXGznpKZ_sA&amp;t=7229s" TargetMode="External"/><Relationship Id="rId14" Type="http://schemas.openxmlformats.org/officeDocument/2006/relationships/hyperlink" Target="https://www.youtube.com/watch?v=OXGznpKZ_sA&amp;t=11566s" TargetMode="External"/><Relationship Id="rId22" Type="http://schemas.openxmlformats.org/officeDocument/2006/relationships/hyperlink" Target="https://www.youtube.com/watch?v=OXGznpKZ_sA&amp;t=24776s" TargetMode="Externa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9904D1-09E0-232F-DD28-58FA4E225F01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IN" dirty="0"/>
              <a:t>Roadmap- CSS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3A71EEF-B94E-956B-C70E-723E186F0A7A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70182229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7C5972-58BA-532A-87B7-244A194C5E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IN" dirty="0"/>
              <a:t>contents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19D01E-0934-9ED2-6C5F-B3F0C95FE76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18252"/>
            <a:ext cx="10515600" cy="4861249"/>
          </a:xfrm>
        </p:spPr>
        <p:txBody>
          <a:bodyPr>
            <a:noAutofit/>
          </a:bodyPr>
          <a:lstStyle/>
          <a:p>
            <a:pPr algn="ctr"/>
            <a:r>
              <a:rPr lang="en-IN" sz="1400" dirty="0"/>
              <a:t>(</a:t>
            </a:r>
            <a:r>
              <a:rPr lang="en-IN" sz="1400" dirty="0">
                <a:hlinkClick r:id="rId2"/>
              </a:rPr>
              <a:t>0:00:00</a:t>
            </a:r>
            <a:r>
              <a:rPr lang="en-IN" sz="1400" dirty="0"/>
              <a:t>) Intro </a:t>
            </a:r>
            <a:br>
              <a:rPr lang="en-IN" sz="1400" dirty="0"/>
            </a:br>
            <a:r>
              <a:rPr lang="en-IN" sz="1400" dirty="0"/>
              <a:t>(</a:t>
            </a:r>
            <a:r>
              <a:rPr lang="en-IN" sz="1400" dirty="0">
                <a:hlinkClick r:id="rId3"/>
              </a:rPr>
              <a:t>0:01:08</a:t>
            </a:r>
            <a:r>
              <a:rPr lang="en-IN" sz="1400" dirty="0"/>
              <a:t>) Chapter 1: Start Here (</a:t>
            </a:r>
            <a:r>
              <a:rPr lang="en-IN" sz="1400" dirty="0">
                <a:hlinkClick r:id="rId4"/>
              </a:rPr>
              <a:t>0:14:50</a:t>
            </a:r>
            <a:r>
              <a:rPr lang="en-IN" sz="1400" dirty="0"/>
              <a:t>) </a:t>
            </a:r>
            <a:br>
              <a:rPr lang="en-IN" sz="1400" dirty="0"/>
            </a:br>
            <a:r>
              <a:rPr lang="en-IN" sz="1400" dirty="0"/>
              <a:t>Chapter 2: Selectors (</a:t>
            </a:r>
            <a:r>
              <a:rPr lang="en-IN" sz="1400" dirty="0">
                <a:hlinkClick r:id="rId5"/>
              </a:rPr>
              <a:t>0:34:41</a:t>
            </a:r>
            <a:r>
              <a:rPr lang="en-IN" sz="1400" dirty="0"/>
              <a:t>) </a:t>
            </a:r>
            <a:br>
              <a:rPr lang="en-IN" sz="1400" dirty="0"/>
            </a:br>
            <a:r>
              <a:rPr lang="en-IN" sz="1400" dirty="0"/>
              <a:t>Chapter 3: </a:t>
            </a:r>
            <a:r>
              <a:rPr lang="en-IN" sz="1400" dirty="0" err="1"/>
              <a:t>Colors</a:t>
            </a:r>
            <a:r>
              <a:rPr lang="en-IN" sz="1400" dirty="0"/>
              <a:t> (</a:t>
            </a:r>
            <a:r>
              <a:rPr lang="en-IN" sz="1400" dirty="0">
                <a:hlinkClick r:id="rId6"/>
              </a:rPr>
              <a:t>0:51:13</a:t>
            </a:r>
            <a:r>
              <a:rPr lang="en-IN" sz="1400" dirty="0"/>
              <a:t>) </a:t>
            </a:r>
            <a:br>
              <a:rPr lang="en-IN" sz="1400" dirty="0"/>
            </a:br>
            <a:r>
              <a:rPr lang="en-IN" sz="1400" dirty="0"/>
              <a:t>Chapter 4: Units &amp; Sizes (</a:t>
            </a:r>
            <a:r>
              <a:rPr lang="en-IN" sz="1400" dirty="0">
                <a:hlinkClick r:id="rId7"/>
              </a:rPr>
              <a:t>1:11:56</a:t>
            </a:r>
            <a:r>
              <a:rPr lang="en-IN" sz="1400" dirty="0"/>
              <a:t>) </a:t>
            </a:r>
            <a:br>
              <a:rPr lang="en-IN" sz="1400" dirty="0"/>
            </a:br>
            <a:r>
              <a:rPr lang="en-IN" sz="1400" dirty="0"/>
              <a:t>Chapter 5: Box Model (</a:t>
            </a:r>
            <a:r>
              <a:rPr lang="en-IN" sz="1400" dirty="0">
                <a:hlinkClick r:id="rId8"/>
              </a:rPr>
              <a:t>1:37:08</a:t>
            </a:r>
            <a:r>
              <a:rPr lang="en-IN" sz="1400" dirty="0"/>
              <a:t>) </a:t>
            </a:r>
            <a:br>
              <a:rPr lang="en-IN" sz="1400" dirty="0"/>
            </a:br>
            <a:r>
              <a:rPr lang="en-IN" sz="1400" dirty="0"/>
              <a:t>Chapter 6: Typography (</a:t>
            </a:r>
            <a:r>
              <a:rPr lang="en-IN" sz="1400" dirty="0">
                <a:hlinkClick r:id="rId9"/>
              </a:rPr>
              <a:t>2:00:29</a:t>
            </a:r>
            <a:r>
              <a:rPr lang="en-IN" sz="1400" dirty="0"/>
              <a:t>) </a:t>
            </a:r>
            <a:br>
              <a:rPr lang="en-IN" sz="1400" dirty="0"/>
            </a:br>
            <a:r>
              <a:rPr lang="en-IN" sz="1400" dirty="0"/>
              <a:t>Chapter 7: Styling Links (</a:t>
            </a:r>
            <a:r>
              <a:rPr lang="en-IN" sz="1400" dirty="0">
                <a:hlinkClick r:id="rId10"/>
              </a:rPr>
              <a:t>2:16:37</a:t>
            </a:r>
            <a:r>
              <a:rPr lang="en-IN" sz="1400" dirty="0"/>
              <a:t>) </a:t>
            </a:r>
            <a:br>
              <a:rPr lang="en-IN" sz="1400" dirty="0"/>
            </a:br>
            <a:r>
              <a:rPr lang="en-IN" sz="1400" dirty="0"/>
              <a:t>Chapter 8: List Styles (</a:t>
            </a:r>
            <a:r>
              <a:rPr lang="en-IN" sz="1400" dirty="0">
                <a:hlinkClick r:id="rId11"/>
              </a:rPr>
              <a:t>2:32:31</a:t>
            </a:r>
            <a:r>
              <a:rPr lang="en-IN" sz="1400" dirty="0"/>
              <a:t>) </a:t>
            </a:r>
            <a:br>
              <a:rPr lang="en-IN" sz="1400" dirty="0"/>
            </a:br>
            <a:r>
              <a:rPr lang="en-IN" sz="1400" dirty="0"/>
              <a:t>Chapter 9: Mini Project (</a:t>
            </a:r>
            <a:r>
              <a:rPr lang="en-IN" sz="1400" dirty="0">
                <a:hlinkClick r:id="rId12"/>
              </a:rPr>
              <a:t>2:45:04</a:t>
            </a:r>
            <a:r>
              <a:rPr lang="en-IN" sz="1400" dirty="0"/>
              <a:t>) </a:t>
            </a:r>
            <a:br>
              <a:rPr lang="en-IN" sz="1400" dirty="0"/>
            </a:br>
            <a:r>
              <a:rPr lang="en-IN" sz="1400" dirty="0"/>
              <a:t>Chapter 10: Display (</a:t>
            </a:r>
            <a:r>
              <a:rPr lang="en-IN" sz="1400" dirty="0">
                <a:hlinkClick r:id="rId13"/>
              </a:rPr>
              <a:t>3:00:21</a:t>
            </a:r>
            <a:r>
              <a:rPr lang="en-IN" sz="1400" dirty="0"/>
              <a:t>) </a:t>
            </a:r>
            <a:br>
              <a:rPr lang="en-IN" sz="1400" dirty="0"/>
            </a:br>
            <a:r>
              <a:rPr lang="en-IN" sz="1400" dirty="0"/>
              <a:t>Chapter 11: Floats (</a:t>
            </a:r>
            <a:r>
              <a:rPr lang="en-IN" sz="1400" dirty="0">
                <a:hlinkClick r:id="rId14"/>
              </a:rPr>
              <a:t>3:12:46</a:t>
            </a:r>
            <a:r>
              <a:rPr lang="en-IN" sz="1400" dirty="0"/>
              <a:t>) </a:t>
            </a:r>
            <a:br>
              <a:rPr lang="en-IN" sz="1400" dirty="0"/>
            </a:br>
            <a:r>
              <a:rPr lang="en-IN" sz="1400" dirty="0"/>
              <a:t>Chapter 12: Columns (</a:t>
            </a:r>
            <a:r>
              <a:rPr lang="en-IN" sz="1400" dirty="0">
                <a:hlinkClick r:id="rId15"/>
              </a:rPr>
              <a:t>3:34:30</a:t>
            </a:r>
            <a:r>
              <a:rPr lang="en-IN" sz="1400" dirty="0"/>
              <a:t>) </a:t>
            </a:r>
            <a:br>
              <a:rPr lang="en-IN" sz="1400" dirty="0"/>
            </a:br>
            <a:r>
              <a:rPr lang="en-IN" sz="1400" dirty="0"/>
              <a:t>Chapter 13: Position (</a:t>
            </a:r>
            <a:r>
              <a:rPr lang="en-IN" sz="1400" dirty="0">
                <a:hlinkClick r:id="rId16"/>
              </a:rPr>
              <a:t>3:57:53</a:t>
            </a:r>
            <a:r>
              <a:rPr lang="en-IN" sz="1400" dirty="0"/>
              <a:t>) </a:t>
            </a:r>
            <a:br>
              <a:rPr lang="en-IN" sz="1400" dirty="0"/>
            </a:br>
            <a:r>
              <a:rPr lang="en-IN" sz="1400" dirty="0"/>
              <a:t>Chapter 14: Flexbox (</a:t>
            </a:r>
            <a:r>
              <a:rPr lang="en-IN" sz="1400" dirty="0">
                <a:hlinkClick r:id="rId17"/>
              </a:rPr>
              <a:t>4:21:39</a:t>
            </a:r>
            <a:r>
              <a:rPr lang="en-IN" sz="1400" dirty="0"/>
              <a:t>) </a:t>
            </a:r>
            <a:br>
              <a:rPr lang="en-IN" sz="1400" dirty="0"/>
            </a:br>
            <a:r>
              <a:rPr lang="en-IN" sz="1400" dirty="0"/>
              <a:t>Chapter 15: Grid Layout (</a:t>
            </a:r>
            <a:r>
              <a:rPr lang="en-IN" sz="1400" dirty="0">
                <a:hlinkClick r:id="rId18"/>
              </a:rPr>
              <a:t>4:46:33</a:t>
            </a:r>
            <a:r>
              <a:rPr lang="en-IN" sz="1400" dirty="0"/>
              <a:t>) </a:t>
            </a:r>
            <a:br>
              <a:rPr lang="en-IN" sz="1400" dirty="0"/>
            </a:br>
            <a:r>
              <a:rPr lang="en-IN" sz="1400" dirty="0"/>
              <a:t>Chapter 16: Images (</a:t>
            </a:r>
            <a:r>
              <a:rPr lang="en-IN" sz="1400" dirty="0">
                <a:hlinkClick r:id="rId19"/>
              </a:rPr>
              <a:t>5:32:40</a:t>
            </a:r>
            <a:r>
              <a:rPr lang="en-IN" sz="1400" dirty="0"/>
              <a:t>) </a:t>
            </a:r>
            <a:br>
              <a:rPr lang="en-IN" sz="1400" dirty="0"/>
            </a:br>
            <a:r>
              <a:rPr lang="en-IN" sz="1400" dirty="0"/>
              <a:t>Chapter 17: Media Queries (</a:t>
            </a:r>
            <a:r>
              <a:rPr lang="en-IN" sz="1400" dirty="0">
                <a:hlinkClick r:id="rId20"/>
              </a:rPr>
              <a:t>5:58:59</a:t>
            </a:r>
            <a:r>
              <a:rPr lang="en-IN" sz="1400" dirty="0"/>
              <a:t>) </a:t>
            </a:r>
            <a:br>
              <a:rPr lang="en-IN" sz="1400" dirty="0"/>
            </a:br>
            <a:r>
              <a:rPr lang="en-IN" sz="1400" dirty="0"/>
              <a:t>Chapter 18: Card Project (</a:t>
            </a:r>
            <a:r>
              <a:rPr lang="en-IN" sz="1400" dirty="0">
                <a:hlinkClick r:id="rId21"/>
              </a:rPr>
              <a:t>6:33:21</a:t>
            </a:r>
            <a:r>
              <a:rPr lang="en-IN" sz="1400" dirty="0"/>
              <a:t>) </a:t>
            </a:r>
            <a:br>
              <a:rPr lang="en-IN" sz="1400" dirty="0"/>
            </a:br>
            <a:r>
              <a:rPr lang="en-IN" sz="1400" dirty="0"/>
              <a:t>Chapter 19: Pseudo (</a:t>
            </a:r>
            <a:r>
              <a:rPr lang="en-IN" sz="1400" dirty="0">
                <a:hlinkClick r:id="rId22"/>
              </a:rPr>
              <a:t>6:52:56</a:t>
            </a:r>
            <a:r>
              <a:rPr lang="en-IN" sz="1400" dirty="0"/>
              <a:t>) </a:t>
            </a:r>
            <a:br>
              <a:rPr lang="en-IN" sz="1400" dirty="0"/>
            </a:br>
            <a:r>
              <a:rPr lang="en-IN" sz="1400" dirty="0"/>
              <a:t>Chapter 20: Variables (</a:t>
            </a:r>
            <a:r>
              <a:rPr lang="en-IN" sz="1400" dirty="0">
                <a:hlinkClick r:id="rId23"/>
              </a:rPr>
              <a:t>7:20:28</a:t>
            </a:r>
            <a:r>
              <a:rPr lang="en-IN" sz="1400" dirty="0"/>
              <a:t>) </a:t>
            </a:r>
            <a:br>
              <a:rPr lang="en-IN" sz="1400" dirty="0"/>
            </a:br>
            <a:r>
              <a:rPr lang="en-IN" sz="1400" dirty="0"/>
              <a:t>Chapter 21: Functions (</a:t>
            </a:r>
            <a:r>
              <a:rPr lang="en-IN" sz="1400" dirty="0">
                <a:hlinkClick r:id="rId24"/>
              </a:rPr>
              <a:t>7:50:05</a:t>
            </a:r>
            <a:r>
              <a:rPr lang="en-IN" sz="1400" dirty="0"/>
              <a:t>) </a:t>
            </a:r>
            <a:br>
              <a:rPr lang="en-IN" sz="1400" dirty="0"/>
            </a:br>
            <a:r>
              <a:rPr lang="en-IN" sz="1400" dirty="0"/>
              <a:t>Chapter 22: Animations (</a:t>
            </a:r>
            <a:r>
              <a:rPr lang="en-IN" sz="1400" dirty="0">
                <a:hlinkClick r:id="rId25"/>
              </a:rPr>
              <a:t>8:37:33</a:t>
            </a:r>
            <a:r>
              <a:rPr lang="en-IN" sz="1400" dirty="0"/>
              <a:t>) </a:t>
            </a:r>
            <a:br>
              <a:rPr lang="en-IN" sz="1400" dirty="0"/>
            </a:br>
            <a:r>
              <a:rPr lang="en-IN" sz="1400" dirty="0"/>
              <a:t>Chapter 23: Organization (</a:t>
            </a:r>
            <a:r>
              <a:rPr lang="en-IN" sz="1400" dirty="0">
                <a:hlinkClick r:id="rId26"/>
              </a:rPr>
              <a:t>8:57:23</a:t>
            </a:r>
            <a:r>
              <a:rPr lang="en-IN" sz="1400" dirty="0"/>
              <a:t>) </a:t>
            </a:r>
            <a:br>
              <a:rPr lang="en-IN" sz="1400" dirty="0"/>
            </a:br>
            <a:r>
              <a:rPr lang="en-IN" sz="1400" dirty="0"/>
              <a:t>Chapter 24: Final Project</a:t>
            </a:r>
          </a:p>
        </p:txBody>
      </p:sp>
    </p:spTree>
    <p:extLst>
      <p:ext uri="{BB962C8B-B14F-4D97-AF65-F5344CB8AC3E}">
        <p14:creationId xmlns:p14="http://schemas.microsoft.com/office/powerpoint/2010/main" val="365305901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Content Placeholder 6">
            <a:extLst>
              <a:ext uri="{FF2B5EF4-FFF2-40B4-BE49-F238E27FC236}">
                <a16:creationId xmlns:a16="http://schemas.microsoft.com/office/drawing/2014/main" id="{571CD6F9-4375-52D2-17AC-66F805808971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961280310"/>
              </p:ext>
            </p:extLst>
          </p:nvPr>
        </p:nvGraphicFramePr>
        <p:xfrm>
          <a:off x="1194318" y="289250"/>
          <a:ext cx="9647853" cy="6438121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505410">
                  <a:extLst>
                    <a:ext uri="{9D8B030D-6E8A-4147-A177-3AD203B41FA5}">
                      <a16:colId xmlns:a16="http://schemas.microsoft.com/office/drawing/2014/main" val="3182655021"/>
                    </a:ext>
                  </a:extLst>
                </a:gridCol>
                <a:gridCol w="1681483">
                  <a:extLst>
                    <a:ext uri="{9D8B030D-6E8A-4147-A177-3AD203B41FA5}">
                      <a16:colId xmlns:a16="http://schemas.microsoft.com/office/drawing/2014/main" val="1088352579"/>
                    </a:ext>
                  </a:extLst>
                </a:gridCol>
                <a:gridCol w="1460960">
                  <a:extLst>
                    <a:ext uri="{9D8B030D-6E8A-4147-A177-3AD203B41FA5}">
                      <a16:colId xmlns:a16="http://schemas.microsoft.com/office/drawing/2014/main" val="1819197050"/>
                    </a:ext>
                  </a:extLst>
                </a:gridCol>
              </a:tblGrid>
              <a:tr h="333001">
                <a:tc>
                  <a:txBody>
                    <a:bodyPr/>
                    <a:lstStyle/>
                    <a:p>
                      <a:pPr algn="ctr" fontAlgn="ctr"/>
                      <a:r>
                        <a:rPr lang="en-IN" sz="1600" b="1" u="none" strike="noStrike" dirty="0">
                          <a:effectLst/>
                        </a:rPr>
                        <a:t>Content</a:t>
                      </a:r>
                      <a:r>
                        <a:rPr lang="en-IN" sz="1200" u="none" strike="noStrike" dirty="0">
                          <a:effectLst/>
                        </a:rPr>
                        <a:t> </a:t>
                      </a:r>
                      <a:endParaRPr lang="en-IN" sz="1200" b="1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5718" marR="5718" marT="5718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IN" sz="1600" b="1" u="none" strike="noStrike" dirty="0">
                          <a:effectLst/>
                        </a:rPr>
                        <a:t>Date</a:t>
                      </a:r>
                      <a:endParaRPr lang="en-IN" sz="1600" b="1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5718" marR="5718" marT="5718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IN" sz="1600" b="1" u="none" strike="noStrike" dirty="0">
                          <a:effectLst/>
                        </a:rPr>
                        <a:t>Status</a:t>
                      </a:r>
                      <a:endParaRPr lang="en-IN" sz="1600" b="1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5718" marR="5718" marT="5718" marB="0" anchor="ctr"/>
                </a:tc>
                <a:extLst>
                  <a:ext uri="{0D108BD9-81ED-4DB2-BD59-A6C34878D82A}">
                    <a16:rowId xmlns:a16="http://schemas.microsoft.com/office/drawing/2014/main" val="3232693339"/>
                  </a:ext>
                </a:extLst>
              </a:tr>
              <a:tr h="1214549">
                <a:tc>
                  <a:txBody>
                    <a:bodyPr/>
                    <a:lstStyle/>
                    <a:p>
                      <a:pPr algn="ctr" fontAlgn="ctr"/>
                      <a:r>
                        <a:rPr lang="en-IN" sz="1400" u="none" strike="noStrike" dirty="0">
                          <a:effectLst/>
                        </a:rPr>
                        <a:t>Intro</a:t>
                      </a:r>
                      <a:br>
                        <a:rPr lang="en-IN" sz="1400" u="none" strike="noStrike" dirty="0">
                          <a:effectLst/>
                        </a:rPr>
                      </a:br>
                      <a:r>
                        <a:rPr lang="en-IN" sz="1400" u="none" strike="noStrike" dirty="0">
                          <a:effectLst/>
                        </a:rPr>
                        <a:t>Chapter 1: Start Here </a:t>
                      </a:r>
                      <a:br>
                        <a:rPr lang="en-IN" sz="1400" u="none" strike="noStrike" dirty="0">
                          <a:effectLst/>
                        </a:rPr>
                      </a:br>
                      <a:r>
                        <a:rPr lang="en-IN" sz="1400" u="none" strike="noStrike" dirty="0">
                          <a:effectLst/>
                        </a:rPr>
                        <a:t>Chapter 2: Selectors</a:t>
                      </a:r>
                      <a:br>
                        <a:rPr lang="en-IN" sz="1400" u="none" strike="noStrike" dirty="0">
                          <a:effectLst/>
                        </a:rPr>
                      </a:br>
                      <a:r>
                        <a:rPr lang="en-IN" sz="1400" u="none" strike="noStrike" dirty="0">
                          <a:effectLst/>
                        </a:rPr>
                        <a:t>Chapter 3: Colours</a:t>
                      </a:r>
                      <a:br>
                        <a:rPr lang="en-IN" sz="1400" u="none" strike="noStrike" dirty="0">
                          <a:effectLst/>
                        </a:rPr>
                      </a:br>
                      <a:r>
                        <a:rPr lang="en-IN" sz="1400" u="none" strike="noStrike" dirty="0">
                          <a:effectLst/>
                        </a:rPr>
                        <a:t>Chapter 4: Units &amp; Sizes 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" panose="02110004020202020204"/>
                      </a:endParaRPr>
                    </a:p>
                  </a:txBody>
                  <a:tcPr marL="5718" marR="5718" marT="5718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IN" sz="1400" u="none" strike="noStrike" dirty="0">
                          <a:effectLst/>
                        </a:rPr>
                        <a:t>16-10-2025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5718" marR="5718" marT="5718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IN" sz="1400" u="none" strike="noStrike" dirty="0">
                          <a:effectLst/>
                        </a:rPr>
                        <a:t>DONE</a:t>
                      </a:r>
                      <a:r>
                        <a:rPr lang="en-IN" sz="800" u="none" strike="noStrike" dirty="0">
                          <a:effectLst/>
                        </a:rPr>
                        <a:t> </a:t>
                      </a:r>
                      <a:endParaRPr lang="en-IN" sz="8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5718" marR="5718" marT="5718" marB="0" anchor="ctr"/>
                </a:tc>
                <a:extLst>
                  <a:ext uri="{0D108BD9-81ED-4DB2-BD59-A6C34878D82A}">
                    <a16:rowId xmlns:a16="http://schemas.microsoft.com/office/drawing/2014/main" val="1691979655"/>
                  </a:ext>
                </a:extLst>
              </a:tr>
              <a:tr h="73132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400" u="none" strike="noStrike" dirty="0">
                          <a:effectLst/>
                        </a:rPr>
                        <a:t>Chapter 5: Box Model </a:t>
                      </a:r>
                      <a:br>
                        <a:rPr lang="en-US" sz="1400" u="none" strike="noStrike" dirty="0">
                          <a:effectLst/>
                        </a:rPr>
                      </a:br>
                      <a:r>
                        <a:rPr lang="en-US" sz="1400" u="none" strike="noStrike" dirty="0">
                          <a:effectLst/>
                        </a:rPr>
                        <a:t>Chapter 6: Typography</a:t>
                      </a:r>
                      <a:br>
                        <a:rPr lang="en-US" sz="1400" u="none" strike="noStrike" dirty="0">
                          <a:effectLst/>
                        </a:rPr>
                      </a:br>
                      <a:r>
                        <a:rPr lang="en-US" sz="1400" u="none" strike="noStrike" dirty="0">
                          <a:effectLst/>
                        </a:rPr>
                        <a:t>Chapter 7: Styling Links 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Aptos" panose="02110004020202020204"/>
                      </a:endParaRPr>
                    </a:p>
                  </a:txBody>
                  <a:tcPr marL="5718" marR="5718" marT="5718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IN" sz="1400" u="none" strike="noStrike">
                          <a:effectLst/>
                        </a:rPr>
                        <a:t>17-10-2025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5718" marR="5718" marT="5718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IN" sz="800" u="none" strike="noStrike" dirty="0">
                          <a:effectLst/>
                        </a:rPr>
                        <a:t> </a:t>
                      </a:r>
                      <a:r>
                        <a:rPr lang="en-IN" sz="1400" u="none" strike="noStrike" dirty="0">
                          <a:effectLst/>
                        </a:rPr>
                        <a:t>DONE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5718" marR="5718" marT="5718" marB="0" anchor="ctr"/>
                </a:tc>
                <a:extLst>
                  <a:ext uri="{0D108BD9-81ED-4DB2-BD59-A6C34878D82A}">
                    <a16:rowId xmlns:a16="http://schemas.microsoft.com/office/drawing/2014/main" val="3644837770"/>
                  </a:ext>
                </a:extLst>
              </a:tr>
              <a:tr h="972935">
                <a:tc>
                  <a:txBody>
                    <a:bodyPr/>
                    <a:lstStyle/>
                    <a:p>
                      <a:pPr algn="ctr" fontAlgn="ctr"/>
                      <a:r>
                        <a:rPr lang="en-IN" sz="1400" u="none" strike="noStrike">
                          <a:effectLst/>
                        </a:rPr>
                        <a:t>Chapter 8: List Styles</a:t>
                      </a:r>
                      <a:br>
                        <a:rPr lang="en-IN" sz="1400" u="none" strike="noStrike">
                          <a:effectLst/>
                        </a:rPr>
                      </a:br>
                      <a:r>
                        <a:rPr lang="en-IN" sz="1400" u="none" strike="noStrike">
                          <a:effectLst/>
                        </a:rPr>
                        <a:t>Chapter 9: Mini Project</a:t>
                      </a:r>
                      <a:br>
                        <a:rPr lang="en-IN" sz="1400" u="none" strike="noStrike">
                          <a:effectLst/>
                        </a:rPr>
                      </a:br>
                      <a:r>
                        <a:rPr lang="en-IN" sz="1400" u="none" strike="noStrike">
                          <a:effectLst/>
                        </a:rPr>
                        <a:t>Chapter 10: Display </a:t>
                      </a:r>
                      <a:br>
                        <a:rPr lang="en-IN" sz="1400" u="none" strike="noStrike">
                          <a:effectLst/>
                        </a:rPr>
                      </a:br>
                      <a:r>
                        <a:rPr lang="en-IN" sz="1400" u="none" strike="noStrike">
                          <a:effectLst/>
                        </a:rPr>
                        <a:t>Chapter 11: Floats 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" panose="02110004020202020204"/>
                      </a:endParaRPr>
                    </a:p>
                  </a:txBody>
                  <a:tcPr marL="5718" marR="5718" marT="5718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IN" sz="1400" u="none" strike="noStrike" dirty="0">
                          <a:effectLst/>
                        </a:rPr>
                        <a:t>20-10-2025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5718" marR="5718" marT="5718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IN" sz="1400" u="none" strike="noStrike" dirty="0">
                          <a:effectLst/>
                        </a:rPr>
                        <a:t>DONE</a:t>
                      </a:r>
                      <a:r>
                        <a:rPr lang="en-IN" sz="800" u="none" strike="noStrike" dirty="0">
                          <a:effectLst/>
                        </a:rPr>
                        <a:t> </a:t>
                      </a:r>
                      <a:endParaRPr lang="en-IN" sz="8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5718" marR="5718" marT="5718" marB="0" anchor="ctr"/>
                </a:tc>
                <a:extLst>
                  <a:ext uri="{0D108BD9-81ED-4DB2-BD59-A6C34878D82A}">
                    <a16:rowId xmlns:a16="http://schemas.microsoft.com/office/drawing/2014/main" val="3627923791"/>
                  </a:ext>
                </a:extLst>
              </a:tr>
              <a:tr h="731320"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400" u="none" strike="noStrike">
                          <a:effectLst/>
                        </a:rPr>
                        <a:t>Chapter 12: Columns </a:t>
                      </a:r>
                      <a:br>
                        <a:rPr lang="fr-FR" sz="1400" u="none" strike="noStrike">
                          <a:effectLst/>
                        </a:rPr>
                      </a:br>
                      <a:r>
                        <a:rPr lang="fr-FR" sz="1400" u="none" strike="noStrike">
                          <a:effectLst/>
                        </a:rPr>
                        <a:t>Chapter 13: Position </a:t>
                      </a:r>
                      <a:br>
                        <a:rPr lang="fr-FR" sz="1400" u="none" strike="noStrike">
                          <a:effectLst/>
                        </a:rPr>
                      </a:br>
                      <a:r>
                        <a:rPr lang="fr-FR" sz="1400" u="none" strike="noStrike">
                          <a:effectLst/>
                        </a:rPr>
                        <a:t>Chapter 14: Flexbox </a:t>
                      </a:r>
                      <a:endParaRPr lang="fr-FR" sz="1400" b="0" i="0" u="none" strike="noStrike">
                        <a:solidFill>
                          <a:srgbClr val="000000"/>
                        </a:solidFill>
                        <a:effectLst/>
                        <a:latin typeface="Aptos" panose="02110004020202020204"/>
                      </a:endParaRPr>
                    </a:p>
                  </a:txBody>
                  <a:tcPr marL="5718" marR="5718" marT="5718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IN" sz="1400" u="none" strike="noStrike" dirty="0">
                          <a:effectLst/>
                        </a:rPr>
                        <a:t>21-10-2025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5718" marR="5718" marT="5718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IN" sz="1400" u="none" strike="noStrike" dirty="0">
                          <a:effectLst/>
                        </a:rPr>
                        <a:t>DONE</a:t>
                      </a:r>
                      <a:r>
                        <a:rPr lang="en-IN" sz="800" u="none" strike="noStrike" dirty="0">
                          <a:effectLst/>
                        </a:rPr>
                        <a:t> </a:t>
                      </a:r>
                      <a:endParaRPr lang="en-IN" sz="8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5718" marR="5718" marT="5718" marB="0" anchor="ctr"/>
                </a:tc>
                <a:extLst>
                  <a:ext uri="{0D108BD9-81ED-4DB2-BD59-A6C34878D82A}">
                    <a16:rowId xmlns:a16="http://schemas.microsoft.com/office/drawing/2014/main" val="1728377049"/>
                  </a:ext>
                </a:extLst>
              </a:tr>
              <a:tr h="489704">
                <a:tc>
                  <a:txBody>
                    <a:bodyPr/>
                    <a:lstStyle/>
                    <a:p>
                      <a:pPr algn="ctr" fontAlgn="ctr"/>
                      <a:r>
                        <a:rPr lang="en-IN" sz="1400" u="none" strike="noStrike" dirty="0">
                          <a:effectLst/>
                        </a:rPr>
                        <a:t>Chapter 15: Grid Layout</a:t>
                      </a:r>
                      <a:br>
                        <a:rPr lang="en-IN" sz="1400" u="none" strike="noStrike" dirty="0">
                          <a:effectLst/>
                        </a:rPr>
                      </a:br>
                      <a:r>
                        <a:rPr lang="en-IN" sz="1400" u="none" strike="noStrike" dirty="0">
                          <a:effectLst/>
                        </a:rPr>
                        <a:t>Chapter 16: Images 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" panose="02110004020202020204"/>
                      </a:endParaRPr>
                    </a:p>
                  </a:txBody>
                  <a:tcPr marL="5718" marR="5718" marT="5718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IN" sz="1400" u="none" strike="noStrike" dirty="0">
                          <a:effectLst/>
                        </a:rPr>
                        <a:t>22-10-2025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5718" marR="5718" marT="5718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IN" sz="800" u="none" strike="noStrike" dirty="0">
                          <a:effectLst/>
                        </a:rPr>
                        <a:t> </a:t>
                      </a:r>
                      <a:r>
                        <a:rPr lang="en-IN" sz="1400" u="none" strike="noStrike" dirty="0">
                          <a:effectLst/>
                        </a:rPr>
                        <a:t>DONE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5718" marR="5718" marT="5718" marB="0" anchor="ctr"/>
                </a:tc>
                <a:extLst>
                  <a:ext uri="{0D108BD9-81ED-4DB2-BD59-A6C34878D82A}">
                    <a16:rowId xmlns:a16="http://schemas.microsoft.com/office/drawing/2014/main" val="4008945750"/>
                  </a:ext>
                </a:extLst>
              </a:tr>
              <a:tr h="489704"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400" u="none" strike="noStrike" dirty="0" err="1">
                          <a:effectLst/>
                        </a:rPr>
                        <a:t>Chapter</a:t>
                      </a:r>
                      <a:r>
                        <a:rPr lang="fr-FR" sz="1400" u="none" strike="noStrike" dirty="0">
                          <a:effectLst/>
                        </a:rPr>
                        <a:t> 17: Media </a:t>
                      </a:r>
                      <a:r>
                        <a:rPr lang="fr-FR" sz="1400" u="none" strike="noStrike" dirty="0" err="1">
                          <a:effectLst/>
                        </a:rPr>
                        <a:t>Queries</a:t>
                      </a:r>
                      <a:r>
                        <a:rPr lang="fr-FR" sz="1400" u="none" strike="noStrike" dirty="0">
                          <a:effectLst/>
                        </a:rPr>
                        <a:t> </a:t>
                      </a:r>
                      <a:br>
                        <a:rPr lang="fr-FR" sz="1400" u="none" strike="noStrike" dirty="0">
                          <a:effectLst/>
                        </a:rPr>
                      </a:br>
                      <a:r>
                        <a:rPr lang="fr-FR" sz="1400" u="none" strike="noStrike" dirty="0" err="1">
                          <a:effectLst/>
                        </a:rPr>
                        <a:t>Chapter</a:t>
                      </a:r>
                      <a:r>
                        <a:rPr lang="fr-FR" sz="1400" u="none" strike="noStrike" dirty="0">
                          <a:effectLst/>
                        </a:rPr>
                        <a:t> 18: </a:t>
                      </a:r>
                      <a:r>
                        <a:rPr lang="fr-FR" sz="1400" u="none" strike="noStrike" dirty="0" err="1">
                          <a:effectLst/>
                        </a:rPr>
                        <a:t>Card</a:t>
                      </a:r>
                      <a:r>
                        <a:rPr lang="fr-FR" sz="1400" u="none" strike="noStrike" dirty="0">
                          <a:effectLst/>
                        </a:rPr>
                        <a:t> Project </a:t>
                      </a:r>
                      <a:endParaRPr lang="fr-FR" sz="1400" b="0" i="0" u="none" strike="noStrike" dirty="0">
                        <a:solidFill>
                          <a:srgbClr val="000000"/>
                        </a:solidFill>
                        <a:effectLst/>
                        <a:latin typeface="Aptos" panose="02110004020202020204"/>
                      </a:endParaRPr>
                    </a:p>
                  </a:txBody>
                  <a:tcPr marL="5718" marR="5718" marT="5718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IN" sz="1400" u="none" strike="noStrike" dirty="0">
                          <a:effectLst/>
                        </a:rPr>
                        <a:t>24-10-2025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5718" marR="5718" marT="5718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IN" sz="800" u="none" strike="noStrike">
                          <a:effectLst/>
                        </a:rPr>
                        <a:t> </a:t>
                      </a:r>
                      <a:endParaRPr lang="en-IN" sz="8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5718" marR="5718" marT="5718" marB="0" anchor="ctr"/>
                </a:tc>
                <a:extLst>
                  <a:ext uri="{0D108BD9-81ED-4DB2-BD59-A6C34878D82A}">
                    <a16:rowId xmlns:a16="http://schemas.microsoft.com/office/drawing/2014/main" val="913176090"/>
                  </a:ext>
                </a:extLst>
              </a:tr>
              <a:tr h="489704"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400" u="none" strike="noStrike">
                          <a:effectLst/>
                        </a:rPr>
                        <a:t>Chapter 19: Pseudo </a:t>
                      </a:r>
                      <a:br>
                        <a:rPr lang="fr-FR" sz="1400" u="none" strike="noStrike">
                          <a:effectLst/>
                        </a:rPr>
                      </a:br>
                      <a:r>
                        <a:rPr lang="fr-FR" sz="1400" u="none" strike="noStrike">
                          <a:effectLst/>
                        </a:rPr>
                        <a:t>Chapter 20: Variables </a:t>
                      </a:r>
                      <a:endParaRPr lang="fr-FR" sz="1400" b="0" i="0" u="none" strike="noStrike">
                        <a:solidFill>
                          <a:srgbClr val="000000"/>
                        </a:solidFill>
                        <a:effectLst/>
                        <a:latin typeface="Aptos" panose="02110004020202020204"/>
                      </a:endParaRPr>
                    </a:p>
                  </a:txBody>
                  <a:tcPr marL="5718" marR="5718" marT="5718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IN" sz="1400" u="none" strike="noStrike" dirty="0">
                          <a:effectLst/>
                        </a:rPr>
                        <a:t>27-10-2025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5718" marR="5718" marT="5718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IN" sz="800" u="none" strike="noStrike">
                          <a:effectLst/>
                        </a:rPr>
                        <a:t> </a:t>
                      </a:r>
                      <a:endParaRPr lang="en-IN" sz="8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5718" marR="5718" marT="5718" marB="0" anchor="ctr"/>
                </a:tc>
                <a:extLst>
                  <a:ext uri="{0D108BD9-81ED-4DB2-BD59-A6C34878D82A}">
                    <a16:rowId xmlns:a16="http://schemas.microsoft.com/office/drawing/2014/main" val="1513138080"/>
                  </a:ext>
                </a:extLst>
              </a:tr>
              <a:tr h="489704"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400" u="none" strike="noStrike">
                          <a:effectLst/>
                        </a:rPr>
                        <a:t>Chapter 21: Functions </a:t>
                      </a:r>
                      <a:br>
                        <a:rPr lang="fr-FR" sz="1400" u="none" strike="noStrike">
                          <a:effectLst/>
                        </a:rPr>
                      </a:br>
                      <a:r>
                        <a:rPr lang="fr-FR" sz="1400" u="none" strike="noStrike">
                          <a:effectLst/>
                        </a:rPr>
                        <a:t>Chapter 22: Animations </a:t>
                      </a:r>
                      <a:endParaRPr lang="fr-FR" sz="1400" b="0" i="0" u="none" strike="noStrike">
                        <a:solidFill>
                          <a:srgbClr val="000000"/>
                        </a:solidFill>
                        <a:effectLst/>
                        <a:latin typeface="Aptos" panose="02110004020202020204"/>
                      </a:endParaRPr>
                    </a:p>
                  </a:txBody>
                  <a:tcPr marL="5718" marR="5718" marT="5718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IN" sz="1400" u="none" strike="noStrike" dirty="0">
                          <a:effectLst/>
                        </a:rPr>
                        <a:t>28-10-2025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5718" marR="5718" marT="5718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IN" sz="800" u="none" strike="noStrike">
                          <a:effectLst/>
                        </a:rPr>
                        <a:t> </a:t>
                      </a:r>
                      <a:endParaRPr lang="en-IN" sz="8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5718" marR="5718" marT="5718" marB="0" anchor="ctr"/>
                </a:tc>
                <a:extLst>
                  <a:ext uri="{0D108BD9-81ED-4DB2-BD59-A6C34878D82A}">
                    <a16:rowId xmlns:a16="http://schemas.microsoft.com/office/drawing/2014/main" val="397424094"/>
                  </a:ext>
                </a:extLst>
              </a:tr>
              <a:tr h="248090">
                <a:tc>
                  <a:txBody>
                    <a:bodyPr/>
                    <a:lstStyle/>
                    <a:p>
                      <a:pPr algn="ctr" fontAlgn="ctr"/>
                      <a:r>
                        <a:rPr lang="en-IN" sz="1400" u="none" strike="noStrike">
                          <a:effectLst/>
                        </a:rPr>
                        <a:t>Chapter 23: Organization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" panose="02110004020202020204"/>
                      </a:endParaRPr>
                    </a:p>
                  </a:txBody>
                  <a:tcPr marL="5718" marR="5718" marT="5718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IN" sz="1400" u="none" strike="noStrike" dirty="0">
                          <a:effectLst/>
                        </a:rPr>
                        <a:t>29-10-2025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5718" marR="5718" marT="5718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IN" sz="800" u="none" strike="noStrike">
                          <a:effectLst/>
                        </a:rPr>
                        <a:t> </a:t>
                      </a:r>
                      <a:endParaRPr lang="en-IN" sz="8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5718" marR="5718" marT="5718" marB="0" anchor="ctr"/>
                </a:tc>
                <a:extLst>
                  <a:ext uri="{0D108BD9-81ED-4DB2-BD59-A6C34878D82A}">
                    <a16:rowId xmlns:a16="http://schemas.microsoft.com/office/drawing/2014/main" val="2205905631"/>
                  </a:ext>
                </a:extLst>
              </a:tr>
              <a:tr h="248090">
                <a:tc>
                  <a:txBody>
                    <a:bodyPr/>
                    <a:lstStyle/>
                    <a:p>
                      <a:pPr algn="ctr" fontAlgn="ctr"/>
                      <a:r>
                        <a:rPr lang="en-IN" sz="1400" u="none" strike="noStrike">
                          <a:effectLst/>
                        </a:rPr>
                        <a:t>Chapter 24: Final Project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" panose="02110004020202020204"/>
                      </a:endParaRPr>
                    </a:p>
                  </a:txBody>
                  <a:tcPr marL="5718" marR="5718" marT="5718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IN" sz="1400" u="none" strike="noStrike" dirty="0">
                          <a:effectLst/>
                        </a:rPr>
                        <a:t>30-10-2025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5718" marR="5718" marT="5718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IN" sz="800" u="none" strike="noStrike" dirty="0">
                          <a:effectLst/>
                        </a:rPr>
                        <a:t> </a:t>
                      </a:r>
                      <a:endParaRPr lang="en-IN" sz="8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5718" marR="5718" marT="5718" marB="0" anchor="ctr"/>
                </a:tc>
                <a:extLst>
                  <a:ext uri="{0D108BD9-81ED-4DB2-BD59-A6C34878D82A}">
                    <a16:rowId xmlns:a16="http://schemas.microsoft.com/office/drawing/2014/main" val="141590517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67753358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201</TotalTime>
  <Words>358</Words>
  <Application>Microsoft Office PowerPoint</Application>
  <PresentationFormat>Widescreen</PresentationFormat>
  <Paragraphs>36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8" baseType="lpstr">
      <vt:lpstr>Aptos</vt:lpstr>
      <vt:lpstr>Aptos Display</vt:lpstr>
      <vt:lpstr>Aptos Narrow</vt:lpstr>
      <vt:lpstr>Arial</vt:lpstr>
      <vt:lpstr>Office Theme</vt:lpstr>
      <vt:lpstr>Roadmap- CSS</vt:lpstr>
      <vt:lpstr>contents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Glen Paul Chirayath Shaju</dc:creator>
  <cp:lastModifiedBy>Glen Paul Chirayath Shaju</cp:lastModifiedBy>
  <cp:revision>6</cp:revision>
  <dcterms:created xsi:type="dcterms:W3CDTF">2025-10-15T08:21:37Z</dcterms:created>
  <dcterms:modified xsi:type="dcterms:W3CDTF">2025-11-09T16:59:56Z</dcterms:modified>
</cp:coreProperties>
</file>