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A39808-6B71-3577-AA98-BB87182A9D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3A4B58-71E9-6287-2794-EA493C565F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8CDB3-C772-B0DF-7A20-033BB262D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63BDC-F577-6253-1D06-7A07FF318A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81B050-10C9-5919-4877-E3EFE6F60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7633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605B4-BBAA-702B-F02E-977D13D6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ADF9F6-A81E-0E7B-1F1B-16BD5DB81F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8E93C2-3516-7B71-5388-166DBCAAF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C80ACA-7717-58BD-F30F-98189F7AD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DE6405-F9C0-8BB4-CDD0-792506B46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771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81E36-0387-E1B1-166F-E6137D961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ECF3DF-CF37-99EB-11C9-5A65629B17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1CA5A-83B5-5038-B09E-5AC10D253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8FB7C7-87B1-BD4A-75CE-DB054AE9F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0DBACB-14C0-9A40-B54A-E4684AF2E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05364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74D542-0FBA-C08F-1E4C-0AA23366B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24624-CFE6-C93A-DDA7-3283B9F827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1A57B7-9EA6-8FBD-1057-8ADA8CB17B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90E1F6A-1A29-6E25-A8D5-0F0AB02CE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846812-1989-C951-A9E0-BFF528FC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E861EE-D83C-B735-8C15-35B1EBCF7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941846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04D166-BFC4-FD39-96A0-84A18C44A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F7C4DE-0DB0-F219-6E8B-3B207F6DB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1D1EE-77FD-9E91-7B29-A7E85D5C4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754072-45F3-6969-636A-4BEB7EB5920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4C3861E-3E4A-30F0-FE1E-6F5D2865151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AD74EF-8623-F765-F423-2BEEA7126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B0B7F1B-2022-162C-C353-CD06E0F05D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139A777-2244-B867-9AA6-05CE8F5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011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6FB89-F54A-5437-3AA2-E4ED4D287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B307F3-F09F-8E56-1903-F59DA965C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2B7A3B1-ECEB-1452-5C9C-4701B9AFB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9EB43B-2B48-BFF1-A988-E7B2FE39A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2450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92350F-B949-7DE2-AC95-C0A3A2D74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51D140-87EB-2E7A-CD85-8F8C722A2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98A5E1-1301-67C8-82A2-C6EE02347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82100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9F104-7508-3414-36F7-AA807427F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721C4A-1973-281D-DBD1-9D823FCFE7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89A67D5-16A6-A155-2F6E-B2A5E793C4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CBC927-574A-E9BD-8003-DEEFD8E2A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9D53F4-A14C-1162-2E3C-90311DB936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14528D-6659-0FD0-28A6-0AA233EC8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37685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634B-9E8A-A649-62EF-FAA8DE58B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8663C96-CF5E-F3A6-BB19-E2ACB38DD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A8F9D8-A1A1-70F2-3D46-CEF1D577AA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E9ABD0-33C6-7D6B-6A1A-68A34BB7F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1941B2-9204-121C-EE2E-1C81DC8CC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74D098-B123-32D9-65F8-D6A2B4C427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6833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E5E88-48CE-B78E-3185-3A35B29F7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42E4A-00CC-2CB5-F48F-C47480BE55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2F2FE-5770-60E2-7A53-B379B7967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229673-A917-C8B7-C58A-98B88ADF8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430A26-DA06-656F-D89E-20F7167B6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00571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B83BFA2-77D5-F315-27EB-673FAD62069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75C20D-E986-74BA-23E5-F7A20D31AB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B5EA3-CCCA-7FCA-C9A3-E5110293E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889EC-FB63-4751-817E-CDD324F6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B30EDE-B64A-CE0C-9656-CD2085B85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9995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4B428E-89F3-2EF4-7D34-D5B55AA2D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CE08F-0C02-F7E0-187D-C949356F6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A759C-890A-0874-5E18-79B07CCA64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7B9D6-B1DD-42FC-8CF6-CEEED335747B}" type="datetimeFigureOut">
              <a:rPr lang="en-IN" smtClean="0"/>
              <a:t>27-11-2025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23657-D285-C717-C81D-DB7C7D7AF9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F020C2-D880-892C-92D6-7EF39A1064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096D21-94C8-42CF-887D-D8A88037F1A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806941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12852s" TargetMode="External"/><Relationship Id="rId3" Type="http://schemas.openxmlformats.org/officeDocument/2006/relationships/hyperlink" Target="https://www.youtube.com/watch?v=EerdGm-ehJQ&amp;t=888s" TargetMode="External"/><Relationship Id="rId7" Type="http://schemas.openxmlformats.org/officeDocument/2006/relationships/hyperlink" Target="https://www.youtube.com/watch?v=EerdGm-ehJQ&amp;t=9175s" TargetMode="External"/><Relationship Id="rId12" Type="http://schemas.openxmlformats.org/officeDocument/2006/relationships/hyperlink" Target="https://www.youtube.com/watch?v=EerdGm-ehJQ&amp;t=27748s" TargetMode="External"/><Relationship Id="rId2" Type="http://schemas.openxmlformats.org/officeDocument/2006/relationships/hyperlink" Target="https://www.youtube.com/watch?v=EerdGm-ehJQ&amp;t=121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EerdGm-ehJQ&amp;t=6666s" TargetMode="External"/><Relationship Id="rId11" Type="http://schemas.openxmlformats.org/officeDocument/2006/relationships/hyperlink" Target="https://www.youtube.com/watch?v=EerdGm-ehJQ&amp;t=23931s" TargetMode="External"/><Relationship Id="rId5" Type="http://schemas.openxmlformats.org/officeDocument/2006/relationships/hyperlink" Target="https://www.youtube.com/watch?v=EerdGm-ehJQ&amp;t=4052s" TargetMode="External"/><Relationship Id="rId10" Type="http://schemas.openxmlformats.org/officeDocument/2006/relationships/hyperlink" Target="https://www.youtube.com/watch?v=EerdGm-ehJQ&amp;t=19546s" TargetMode="External"/><Relationship Id="rId4" Type="http://schemas.openxmlformats.org/officeDocument/2006/relationships/hyperlink" Target="https://www.youtube.com/watch?v=EerdGm-ehJQ&amp;t=2606s" TargetMode="External"/><Relationship Id="rId9" Type="http://schemas.openxmlformats.org/officeDocument/2006/relationships/hyperlink" Target="https://www.youtube.com/watch?v=EerdGm-ehJQ&amp;t=15345s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EerdGm-ehJQ&amp;t=56077s" TargetMode="External"/><Relationship Id="rId3" Type="http://schemas.openxmlformats.org/officeDocument/2006/relationships/hyperlink" Target="https://www.youtube.com/watch?v=EerdGm-ehJQ&amp;t=34106s" TargetMode="External"/><Relationship Id="rId7" Type="http://schemas.openxmlformats.org/officeDocument/2006/relationships/hyperlink" Target="https://www.youtube.com/watch?v=EerdGm-ehJQ&amp;t=50193s" TargetMode="External"/><Relationship Id="rId2" Type="http://schemas.openxmlformats.org/officeDocument/2006/relationships/hyperlink" Target="https://www.youtube.com/watch?v=EerdGm-ehJQ&amp;t=31384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44880s" TargetMode="External"/><Relationship Id="rId5" Type="http://schemas.openxmlformats.org/officeDocument/2006/relationships/hyperlink" Target="https://www.youtube.com/watch?v=EerdGm-ehJQ&amp;t=39537s" TargetMode="External"/><Relationship Id="rId10" Type="http://schemas.openxmlformats.org/officeDocument/2006/relationships/hyperlink" Target="https://www.youtube.com/watch?v=EerdGm-ehJQ&amp;t=63390s" TargetMode="External"/><Relationship Id="rId4" Type="http://schemas.openxmlformats.org/officeDocument/2006/relationships/hyperlink" Target="https://www.youtube.com/watch?v=EerdGm-ehJQ&amp;t=36622s" TargetMode="External"/><Relationship Id="rId9" Type="http://schemas.openxmlformats.org/officeDocument/2006/relationships/hyperlink" Target="https://www.youtube.com/watch?v=EerdGm-ehJQ&amp;t=57504s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EerdGm-ehJQ&amp;t=67910s" TargetMode="External"/><Relationship Id="rId7" Type="http://schemas.openxmlformats.org/officeDocument/2006/relationships/hyperlink" Target="https://www.youtube.com/watch?v=EerdGm-ehJQ&amp;t=80049s" TargetMode="External"/><Relationship Id="rId2" Type="http://schemas.openxmlformats.org/officeDocument/2006/relationships/hyperlink" Target="https://www.youtube.com/watch?v=EerdGm-ehJQ&amp;t=65169s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EerdGm-ehJQ&amp;t=76367s" TargetMode="External"/><Relationship Id="rId5" Type="http://schemas.openxmlformats.org/officeDocument/2006/relationships/hyperlink" Target="https://www.youtube.com/watch?v=EerdGm-ehJQ&amp;t=73857s" TargetMode="External"/><Relationship Id="rId4" Type="http://schemas.openxmlformats.org/officeDocument/2006/relationships/hyperlink" Target="https://www.youtube.com/watch?v=EerdGm-ehJQ&amp;t=70379s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DD774-AD0D-7B1E-0EB1-FC73B47182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4891" y="431898"/>
            <a:ext cx="6920204" cy="641123"/>
          </a:xfrm>
        </p:spPr>
        <p:txBody>
          <a:bodyPr>
            <a:normAutofit fontScale="90000"/>
          </a:bodyPr>
          <a:lstStyle/>
          <a:p>
            <a:r>
              <a:rPr lang="en-IN" dirty="0"/>
              <a:t>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748468D-B2E7-5F2B-C71B-A27D6DA5C7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138334"/>
            <a:ext cx="9234196" cy="5287767"/>
          </a:xfrm>
        </p:spPr>
        <p:txBody>
          <a:bodyPr>
            <a:normAutofit/>
          </a:bodyPr>
          <a:lstStyle/>
          <a:p>
            <a:r>
              <a:rPr lang="en-US" dirty="0"/>
              <a:t> Intro </a:t>
            </a:r>
            <a:r>
              <a:rPr lang="en-US" dirty="0">
                <a:hlinkClick r:id="rId2"/>
              </a:rPr>
              <a:t>00:02:01</a:t>
            </a:r>
            <a:r>
              <a:rPr lang="en-US" dirty="0"/>
              <a:t> </a:t>
            </a:r>
          </a:p>
          <a:p>
            <a:r>
              <a:rPr lang="en-US" dirty="0"/>
              <a:t>1 JavaScript Basics </a:t>
            </a:r>
            <a:r>
              <a:rPr lang="en-US" dirty="0">
                <a:hlinkClick r:id="rId3"/>
              </a:rPr>
              <a:t>00:14:48</a:t>
            </a:r>
            <a:r>
              <a:rPr lang="en-US" dirty="0"/>
              <a:t> </a:t>
            </a:r>
          </a:p>
          <a:p>
            <a:r>
              <a:rPr lang="en-US" dirty="0"/>
              <a:t>2 Numbers and Math </a:t>
            </a:r>
            <a:r>
              <a:rPr lang="en-US" dirty="0">
                <a:hlinkClick r:id="rId4"/>
              </a:rPr>
              <a:t>00:43:26</a:t>
            </a:r>
            <a:r>
              <a:rPr lang="en-US" dirty="0"/>
              <a:t> </a:t>
            </a:r>
          </a:p>
          <a:p>
            <a:r>
              <a:rPr lang="en-US" dirty="0"/>
              <a:t>3 Strings </a:t>
            </a:r>
            <a:r>
              <a:rPr lang="en-US" dirty="0">
                <a:hlinkClick r:id="rId5"/>
              </a:rPr>
              <a:t>01:07:32</a:t>
            </a:r>
            <a:r>
              <a:rPr lang="en-US" dirty="0"/>
              <a:t> </a:t>
            </a:r>
          </a:p>
          <a:p>
            <a:r>
              <a:rPr lang="en-US" dirty="0"/>
              <a:t>4 HTML CSS Review, console.log </a:t>
            </a:r>
            <a:r>
              <a:rPr lang="en-US" dirty="0">
                <a:hlinkClick r:id="rId6"/>
              </a:rPr>
              <a:t>01:51:06</a:t>
            </a:r>
            <a:r>
              <a:rPr lang="en-US" dirty="0"/>
              <a:t> </a:t>
            </a:r>
          </a:p>
          <a:p>
            <a:r>
              <a:rPr lang="en-US" dirty="0"/>
              <a:t>5 Variables </a:t>
            </a:r>
            <a:r>
              <a:rPr lang="en-US" dirty="0">
                <a:hlinkClick r:id="rId7"/>
              </a:rPr>
              <a:t>02:32:55</a:t>
            </a:r>
            <a:r>
              <a:rPr lang="en-US" dirty="0"/>
              <a:t> </a:t>
            </a:r>
          </a:p>
          <a:p>
            <a:r>
              <a:rPr lang="en-US" dirty="0"/>
              <a:t>6 Booleans and If-Statements </a:t>
            </a:r>
            <a:r>
              <a:rPr lang="en-US" dirty="0">
                <a:hlinkClick r:id="rId8"/>
              </a:rPr>
              <a:t>03:34:12</a:t>
            </a:r>
            <a:r>
              <a:rPr lang="en-US" dirty="0"/>
              <a:t> </a:t>
            </a:r>
          </a:p>
          <a:p>
            <a:r>
              <a:rPr lang="en-US" dirty="0"/>
              <a:t>7 Functions </a:t>
            </a:r>
            <a:r>
              <a:rPr lang="en-US" dirty="0">
                <a:hlinkClick r:id="rId9"/>
              </a:rPr>
              <a:t>04:15:45</a:t>
            </a:r>
            <a:r>
              <a:rPr lang="en-US" dirty="0"/>
              <a:t> </a:t>
            </a:r>
          </a:p>
          <a:p>
            <a:r>
              <a:rPr lang="en-US" dirty="0"/>
              <a:t>8 Objects </a:t>
            </a:r>
            <a:r>
              <a:rPr lang="en-US" dirty="0">
                <a:hlinkClick r:id="rId10"/>
              </a:rPr>
              <a:t>05:25:46</a:t>
            </a:r>
            <a:r>
              <a:rPr lang="en-US" dirty="0"/>
              <a:t> </a:t>
            </a:r>
          </a:p>
          <a:p>
            <a:r>
              <a:rPr lang="en-US" dirty="0"/>
              <a:t>9 Document Object Model (DOM) </a:t>
            </a:r>
            <a:r>
              <a:rPr lang="en-US" dirty="0">
                <a:hlinkClick r:id="rId11"/>
              </a:rPr>
              <a:t>06:38:51</a:t>
            </a:r>
            <a:r>
              <a:rPr lang="en-US" dirty="0"/>
              <a:t> </a:t>
            </a:r>
          </a:p>
          <a:p>
            <a:r>
              <a:rPr lang="en-US" dirty="0"/>
              <a:t>10 HTML, CSS, and JavaScript Together </a:t>
            </a:r>
            <a:r>
              <a:rPr lang="en-US" dirty="0">
                <a:hlinkClick r:id="rId12"/>
              </a:rPr>
              <a:t>07:42:28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28705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0277-E069-0AF8-83EF-03182EF47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55205-683F-5A0D-A94B-55F4F4D207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algn="ctr"/>
            <a:r>
              <a:rPr lang="en-US" dirty="0"/>
              <a:t>11 Arrays and Loops </a:t>
            </a:r>
            <a:r>
              <a:rPr lang="en-US" dirty="0">
                <a:hlinkClick r:id="rId2"/>
              </a:rPr>
              <a:t>08:43:04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11 (Part 2) Arrays and Loops </a:t>
            </a:r>
            <a:r>
              <a:rPr lang="en-US" dirty="0">
                <a:hlinkClick r:id="rId3"/>
              </a:rPr>
              <a:t>09:28:26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Advanced Functions </a:t>
            </a:r>
            <a:r>
              <a:rPr lang="en-US" dirty="0">
                <a:hlinkClick r:id="rId4"/>
              </a:rPr>
              <a:t>10:10:22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12 (Part 2) Advanced Functions </a:t>
            </a:r>
            <a:r>
              <a:rPr lang="en-US" dirty="0">
                <a:hlinkClick r:id="rId5"/>
              </a:rPr>
              <a:t>10:58:57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13 Start the Amazon Project and Intro to Git </a:t>
            </a:r>
            <a:r>
              <a:rPr lang="en-US" dirty="0">
                <a:hlinkClick r:id="rId6"/>
              </a:rPr>
              <a:t>12:28:00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14 Modules </a:t>
            </a:r>
            <a:r>
              <a:rPr lang="en-US" dirty="0">
                <a:hlinkClick r:id="rId7"/>
              </a:rPr>
              <a:t>13:56:33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15 External Libraries </a:t>
            </a:r>
            <a:r>
              <a:rPr lang="en-US" dirty="0">
                <a:hlinkClick r:id="rId8"/>
              </a:rPr>
              <a:t>15:34:37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16 Testing </a:t>
            </a:r>
            <a:r>
              <a:rPr lang="en-US" dirty="0">
                <a:hlinkClick r:id="rId9"/>
              </a:rPr>
              <a:t>15:58:24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Testing Frameworks </a:t>
            </a:r>
            <a:r>
              <a:rPr lang="en-US" dirty="0">
                <a:hlinkClick r:id="rId10"/>
              </a:rPr>
              <a:t>17:36:30</a:t>
            </a:r>
            <a:r>
              <a:rPr lang="en-US" dirty="0"/>
              <a:t> </a:t>
            </a:r>
          </a:p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373501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176723-3B4C-2BEF-AB47-A25F10EDB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DC3E0-0E03-7CE2-ADA2-66FBCC52F7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ctr"/>
            <a:r>
              <a:rPr lang="en-US" dirty="0"/>
              <a:t>17 Object-Oriented Programming </a:t>
            </a:r>
            <a:r>
              <a:rPr lang="en-US" dirty="0">
                <a:hlinkClick r:id="rId2"/>
              </a:rPr>
              <a:t>18:06:09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Classes </a:t>
            </a:r>
            <a:r>
              <a:rPr lang="en-US" dirty="0">
                <a:hlinkClick r:id="rId3"/>
              </a:rPr>
              <a:t>18:51:50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Inheritance </a:t>
            </a:r>
            <a:r>
              <a:rPr lang="en-US" dirty="0">
                <a:hlinkClick r:id="rId4"/>
              </a:rPr>
              <a:t>19:32:59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18 Intro to Backend, Callbacks, Async Await </a:t>
            </a:r>
            <a:r>
              <a:rPr lang="en-US" dirty="0">
                <a:hlinkClick r:id="rId5"/>
              </a:rPr>
              <a:t>20:30:57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Promises and fetch </a:t>
            </a:r>
            <a:r>
              <a:rPr lang="en-US" dirty="0">
                <a:hlinkClick r:id="rId6"/>
              </a:rPr>
              <a:t>21:12:47</a:t>
            </a:r>
            <a:endParaRPr lang="en-US" dirty="0"/>
          </a:p>
          <a:p>
            <a:pPr algn="ctr"/>
            <a:r>
              <a:rPr lang="en-US" dirty="0"/>
              <a:t> Async Await </a:t>
            </a:r>
            <a:r>
              <a:rPr lang="en-US" dirty="0">
                <a:hlinkClick r:id="rId7"/>
              </a:rPr>
              <a:t>22:14:09</a:t>
            </a:r>
            <a:r>
              <a:rPr lang="en-US" dirty="0"/>
              <a:t> </a:t>
            </a:r>
          </a:p>
          <a:p>
            <a:pPr algn="ctr"/>
            <a:r>
              <a:rPr lang="en-US" dirty="0"/>
              <a:t>Next steps after this course 22:15:56 </a:t>
            </a:r>
          </a:p>
          <a:p>
            <a:pPr algn="ctr"/>
            <a:endParaRPr lang="en-IN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877084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1947B-62DF-7ABA-6EA7-FBA53ECCC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8376" y="365126"/>
            <a:ext cx="10355424" cy="502622"/>
          </a:xfrm>
        </p:spPr>
        <p:txBody>
          <a:bodyPr>
            <a:normAutofit fontScale="90000"/>
          </a:bodyPr>
          <a:lstStyle/>
          <a:p>
            <a:pPr algn="ctr"/>
            <a:r>
              <a:rPr lang="en-IN" dirty="0"/>
              <a:t>ROADMAP</a:t>
            </a:r>
          </a:p>
        </p:txBody>
      </p:sp>
      <p:graphicFrame>
        <p:nvGraphicFramePr>
          <p:cNvPr id="9" name="Content Placeholder 8">
            <a:extLst>
              <a:ext uri="{FF2B5EF4-FFF2-40B4-BE49-F238E27FC236}">
                <a16:creationId xmlns:a16="http://schemas.microsoft.com/office/drawing/2014/main" id="{E00C99C7-8836-8760-ACD0-3388E97FD2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4359678"/>
              </p:ext>
            </p:extLst>
          </p:nvPr>
        </p:nvGraphicFramePr>
        <p:xfrm>
          <a:off x="2528596" y="867748"/>
          <a:ext cx="8665029" cy="544907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758405">
                  <a:extLst>
                    <a:ext uri="{9D8B030D-6E8A-4147-A177-3AD203B41FA5}">
                      <a16:colId xmlns:a16="http://schemas.microsoft.com/office/drawing/2014/main" val="3506254319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682407492"/>
                    </a:ext>
                  </a:extLst>
                </a:gridCol>
                <a:gridCol w="1453312">
                  <a:extLst>
                    <a:ext uri="{9D8B030D-6E8A-4147-A177-3AD203B41FA5}">
                      <a16:colId xmlns:a16="http://schemas.microsoft.com/office/drawing/2014/main" val="3977183951"/>
                    </a:ext>
                  </a:extLst>
                </a:gridCol>
              </a:tblGrid>
              <a:tr h="356712"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Contents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Date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b="1" u="none" strike="noStrike" dirty="0">
                          <a:effectLst/>
                        </a:rPr>
                        <a:t>Status</a:t>
                      </a:r>
                      <a:endParaRPr lang="en-IN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7774483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Intro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3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4664685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JavaScript Basics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4126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Numbers and Math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3584728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0510447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Strings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20/11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7080932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171322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31794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HTML CSS Review consolelog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21/11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DONE</a:t>
                      </a:r>
                    </a:p>
                    <a:p>
                      <a:pPr algn="ctr" fontAlgn="b"/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7765333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 Variables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5953559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3830380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 Variables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24/11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58152709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7313207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3749946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Booleans and IfStatements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25/11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71851932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5453119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062341790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26/11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DONE</a:t>
                      </a:r>
                    </a:p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75127061"/>
                  </a:ext>
                </a:extLst>
              </a:tr>
              <a:tr h="282909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Objects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48012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87399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22EEF08-61A5-CBE1-8865-21AC150BC53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793266"/>
              </p:ext>
            </p:extLst>
          </p:nvPr>
        </p:nvGraphicFramePr>
        <p:xfrm>
          <a:off x="2239347" y="345233"/>
          <a:ext cx="9004041" cy="6130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83699">
                  <a:extLst>
                    <a:ext uri="{9D8B030D-6E8A-4147-A177-3AD203B41FA5}">
                      <a16:colId xmlns:a16="http://schemas.microsoft.com/office/drawing/2014/main" val="39676942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2788288118"/>
                    </a:ext>
                  </a:extLst>
                </a:gridCol>
                <a:gridCol w="1510171">
                  <a:extLst>
                    <a:ext uri="{9D8B030D-6E8A-4147-A177-3AD203B41FA5}">
                      <a16:colId xmlns:a16="http://schemas.microsoft.com/office/drawing/2014/main" val="1587959234"/>
                    </a:ext>
                  </a:extLst>
                </a:gridCol>
              </a:tblGrid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Objects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28/11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48536132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583478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83896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Document Object Model DOM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01/12</a:t>
                      </a:r>
                    </a:p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2738154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HTML CSS and JavaScript Together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685774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888696624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8931506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133889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Arrays and Loops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03/12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2226501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Part  Arrays and Loops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498116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64055341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Arrays and Loops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84641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1914960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9626257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08/12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4573168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9693168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089418695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Part  Advanced Functions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2000568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22097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68263343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  10/12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613871429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807589407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Start the Amazon Project and Intro to Git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0271936"/>
                  </a:ext>
                </a:extLst>
              </a:tr>
              <a:tr h="255426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Modules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02445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0084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90BD49F-878E-F074-E086-4E36A5B6CCC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80239281"/>
              </p:ext>
            </p:extLst>
          </p:nvPr>
        </p:nvGraphicFramePr>
        <p:xfrm>
          <a:off x="1738605" y="228600"/>
          <a:ext cx="8378887" cy="6629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568249">
                  <a:extLst>
                    <a:ext uri="{9D8B030D-6E8A-4147-A177-3AD203B41FA5}">
                      <a16:colId xmlns:a16="http://schemas.microsoft.com/office/drawing/2014/main" val="12913714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3545468516"/>
                    </a:ext>
                  </a:extLst>
                </a:gridCol>
                <a:gridCol w="1405319">
                  <a:extLst>
                    <a:ext uri="{9D8B030D-6E8A-4147-A177-3AD203B41FA5}">
                      <a16:colId xmlns:a16="http://schemas.microsoft.com/office/drawing/2014/main" val="563622776"/>
                    </a:ext>
                  </a:extLst>
                </a:gridCol>
              </a:tblGrid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15/12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3502509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773925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Modules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16/12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478675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905044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6384649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17/12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2193731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3747979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External Libraries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19/12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332646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450070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4512312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22/12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3230544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97493351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Testing Frameworks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           23/12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6835234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71504000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err="1">
                          <a:effectLst/>
                        </a:rPr>
                        <a:t>ObjectOriented</a:t>
                      </a:r>
                      <a:r>
                        <a:rPr lang="en-IN" sz="1400" u="none" strike="noStrike" dirty="0">
                          <a:effectLst/>
                        </a:rPr>
                        <a:t> Programming  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24/12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083885643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756191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Classes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26/12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600087268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8180285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Inheritance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29/12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3887171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7557466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          30/12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515973087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26080679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>
                          <a:effectLst/>
                        </a:rPr>
                        <a:t>Intro to Backend Callbacks Async Await  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31/12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4538652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019256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6497497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Promises and fetch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02/01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9548810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509052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</a:rPr>
                        <a:t>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25485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>
                          <a:effectLst/>
                        </a:rPr>
                        <a:t>Async Await  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 dirty="0">
                          <a:effectLst/>
                        </a:rPr>
                        <a:t>05/01 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rowSpan="2">
                  <a:txBody>
                    <a:bodyPr/>
                    <a:lstStyle/>
                    <a:p>
                      <a:pPr algn="ctr" fontAlgn="b"/>
                      <a:r>
                        <a:rPr lang="en-IN" sz="1400" u="none" strike="noStrike">
                          <a:effectLst/>
                        </a:rPr>
                        <a:t> </a:t>
                      </a:r>
                      <a:endParaRPr lang="en-IN" sz="1400" b="0" i="0" u="none" strike="noStrike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80128154"/>
                  </a:ext>
                </a:extLst>
              </a:tr>
              <a:tr h="216004">
                <a:tc>
                  <a:txBody>
                    <a:bodyPr/>
                    <a:lstStyle/>
                    <a:p>
                      <a:pPr algn="l" fontAlgn="b"/>
                      <a:r>
                        <a:rPr lang="en-US" sz="1400" u="none" strike="noStrike" dirty="0">
                          <a:effectLst/>
                        </a:rPr>
                        <a:t>Next steps after this course</a:t>
                      </a:r>
                      <a:endParaRPr 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/>
                      </a:endParaRPr>
                    </a:p>
                  </a:txBody>
                  <a:tcPr marL="7620" marR="7620" marT="7620" marB="0" anchor="b"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71177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05226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F413A-45DF-5CD4-3381-8CBFF0DCA2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Practiss</a:t>
            </a:r>
            <a:r>
              <a:rPr lang="en-IN" dirty="0"/>
              <a:t> the exercises in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8F2294E-5AC1-5FA3-AC68-9CEFA8EE3D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144" y="1825625"/>
            <a:ext cx="7735712" cy="4351338"/>
          </a:xfrm>
        </p:spPr>
      </p:pic>
    </p:spTree>
    <p:extLst>
      <p:ext uri="{BB962C8B-B14F-4D97-AF65-F5344CB8AC3E}">
        <p14:creationId xmlns:p14="http://schemas.microsoft.com/office/powerpoint/2010/main" val="4140449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60AE04-9409-AE0A-697C-100B8F608DF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446" y="718458"/>
            <a:ext cx="9256140" cy="5206579"/>
          </a:xfrm>
        </p:spPr>
      </p:pic>
    </p:spTree>
    <p:extLst>
      <p:ext uri="{BB962C8B-B14F-4D97-AF65-F5344CB8AC3E}">
        <p14:creationId xmlns:p14="http://schemas.microsoft.com/office/powerpoint/2010/main" val="4240907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4B1EC6-A9F1-A0BC-F165-E7707567C9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9283" y="559837"/>
            <a:ext cx="9654247" cy="5430514"/>
          </a:xfrm>
        </p:spPr>
      </p:pic>
    </p:spTree>
    <p:extLst>
      <p:ext uri="{BB962C8B-B14F-4D97-AF65-F5344CB8AC3E}">
        <p14:creationId xmlns:p14="http://schemas.microsoft.com/office/powerpoint/2010/main" val="212224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440</Words>
  <Application>Microsoft Office PowerPoint</Application>
  <PresentationFormat>Widescreen</PresentationFormat>
  <Paragraphs>224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Aptos</vt:lpstr>
      <vt:lpstr>Aptos Display</vt:lpstr>
      <vt:lpstr>Aptos Narrow</vt:lpstr>
      <vt:lpstr>Arial</vt:lpstr>
      <vt:lpstr>Calibri</vt:lpstr>
      <vt:lpstr>Office Theme</vt:lpstr>
      <vt:lpstr>CONTENTS</vt:lpstr>
      <vt:lpstr>CONTENTS</vt:lpstr>
      <vt:lpstr>CONTENTS</vt:lpstr>
      <vt:lpstr>ROADMAP</vt:lpstr>
      <vt:lpstr>PowerPoint Presentation</vt:lpstr>
      <vt:lpstr>PowerPoint Presentation</vt:lpstr>
      <vt:lpstr>Practiss the exercises in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Glen Paul Chirayath Shaju</dc:creator>
  <cp:lastModifiedBy>Glen Paul Chirayath Shaju</cp:lastModifiedBy>
  <cp:revision>12</cp:revision>
  <dcterms:created xsi:type="dcterms:W3CDTF">2025-09-08T10:21:50Z</dcterms:created>
  <dcterms:modified xsi:type="dcterms:W3CDTF">2025-11-27T15:33:23Z</dcterms:modified>
</cp:coreProperties>
</file>