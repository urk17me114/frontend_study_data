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7" r:id="rId4"/>
    <p:sldId id="260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72" autoAdjust="0"/>
    <p:restoredTop sz="94660"/>
  </p:normalViewPr>
  <p:slideViewPr>
    <p:cSldViewPr snapToGrid="0">
      <p:cViewPr varScale="1">
        <p:scale>
          <a:sx n="82" d="100"/>
          <a:sy n="82" d="100"/>
        </p:scale>
        <p:origin x="72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A39808-6B71-3577-AA98-BB87182A9DA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13A4B58-71E9-6287-2794-EA493C565FB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98CDB3-C772-B0DF-7A20-033BB262DD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7B9D6-B1DD-42FC-8CF6-CEEED335747B}" type="datetimeFigureOut">
              <a:rPr lang="en-IN" smtClean="0"/>
              <a:t>10-03-2026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763BDC-F577-6253-1D06-7A07FF318A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81B050-10C9-5919-4877-E3EFE6F602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96D21-94C8-42CF-887D-D8A88037F1A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276332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7605B4-BBAA-702B-F02E-977D13D6CB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ADF9F6-A81E-0E7B-1F1B-16BD5DB81F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68E93C2-3516-7B71-5388-166DBCAAF6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7B9D6-B1DD-42FC-8CF6-CEEED335747B}" type="datetimeFigureOut">
              <a:rPr lang="en-IN" smtClean="0"/>
              <a:t>10-03-2026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C80ACA-7717-58BD-F30F-98189F7ADB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DE6405-F9C0-8BB4-CDD0-792506B469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96D21-94C8-42CF-887D-D8A88037F1A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27712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981E36-0387-E1B1-166F-E6137D9617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7ECF3DF-CF37-99EB-11C9-5A65629B17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61CA5A-83B5-5038-B09E-5AC10D253F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7B9D6-B1DD-42FC-8CF6-CEEED335747B}" type="datetimeFigureOut">
              <a:rPr lang="en-IN" smtClean="0"/>
              <a:t>10-03-2026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8FB7C7-87B1-BD4A-75CE-DB054AE9FA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0DBACB-14C0-9A40-B54A-E4684AF2E6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96D21-94C8-42CF-887D-D8A88037F1A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05364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74D542-0FBA-C08F-1E4C-0AA23366B4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024624-CFE6-C93A-DDA7-3283B9F8275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E1A57B7-9EA6-8FBD-1057-8ADA8CB17B2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90E1F6A-1A29-6E25-A8D5-0F0AB02CE2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7B9D6-B1DD-42FC-8CF6-CEEED335747B}" type="datetimeFigureOut">
              <a:rPr lang="en-IN" smtClean="0"/>
              <a:t>10-03-2026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B846812-1989-C951-A9E0-BFF528FC4A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9E861EE-D83C-B735-8C15-35B1EBCF74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96D21-94C8-42CF-887D-D8A88037F1A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9418468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04D166-BFC4-FD39-96A0-84A18C44AA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F7C4DE-0DB0-F219-6E8B-3B207F6DB95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901D1EE-77FD-9E91-7B29-A7E85D5C44E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B754072-45F3-6969-636A-4BEB7EB5920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4C3861E-3E4A-30F0-FE1E-6F5D2865151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4AD74EF-8623-F765-F423-2BEEA71264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7B9D6-B1DD-42FC-8CF6-CEEED335747B}" type="datetimeFigureOut">
              <a:rPr lang="en-IN" smtClean="0"/>
              <a:t>10-03-2026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B0B7F1B-2022-162C-C353-CD06E0F05D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139A777-2244-B867-9AA6-05CE8F5F75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96D21-94C8-42CF-887D-D8A88037F1A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3011313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76FB89-F54A-5437-3AA2-E4ED4D2879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5B307F3-F09F-8E56-1903-F59DA965C1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7B9D6-B1DD-42FC-8CF6-CEEED335747B}" type="datetimeFigureOut">
              <a:rPr lang="en-IN" smtClean="0"/>
              <a:t>10-03-2026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2B7A3B1-ECEB-1452-5C9C-4701B9AFBC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D9EB43B-2B48-BFF1-A988-E7B2FE39AF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96D21-94C8-42CF-887D-D8A88037F1A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4245089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A92350F-B949-7DE2-AC95-C0A3A2D74C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7B9D6-B1DD-42FC-8CF6-CEEED335747B}" type="datetimeFigureOut">
              <a:rPr lang="en-IN" smtClean="0"/>
              <a:t>10-03-2026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551D140-87EB-2E7A-CD85-8F8C722A2F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E98A5E1-1301-67C8-82A2-C6EE02347C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96D21-94C8-42CF-887D-D8A88037F1A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82100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F9F104-7508-3414-36F7-AA807427F9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721C4A-1973-281D-DBD1-9D823FCFE77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89A67D5-16A6-A155-2F6E-B2A5E793C49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5CBC927-574A-E9BD-8003-DEEFD8E2AC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7B9D6-B1DD-42FC-8CF6-CEEED335747B}" type="datetimeFigureOut">
              <a:rPr lang="en-IN" smtClean="0"/>
              <a:t>10-03-2026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79D53F4-A14C-1162-2E3C-90311DB936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714528D-6659-0FD0-28A6-0AA233EC82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96D21-94C8-42CF-887D-D8A88037F1A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037685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C0634B-9E8A-A649-62EF-FAA8DE58B1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8663C96-CF5E-F3A6-BB19-E2ACB38DD1C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CA8F9D8-A1A1-70F2-3D46-CEF1D577AA7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1E9ABD0-33C6-7D6B-6A1A-68A34BB7F1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7B9D6-B1DD-42FC-8CF6-CEEED335747B}" type="datetimeFigureOut">
              <a:rPr lang="en-IN" smtClean="0"/>
              <a:t>10-03-2026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41941B2-9204-121C-EE2E-1C81DC8CCA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D74D098-B123-32D9-65F8-D6A2B4C427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96D21-94C8-42CF-887D-D8A88037F1A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568337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4E5E88-48CE-B78E-3185-3A35B29F75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8C42E4A-00CC-2CB5-F48F-C47480BE55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92F2FE-5770-60E2-7A53-B379B7967E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7B9D6-B1DD-42FC-8CF6-CEEED335747B}" type="datetimeFigureOut">
              <a:rPr lang="en-IN" smtClean="0"/>
              <a:t>10-03-2026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229673-A917-C8B7-C58A-98B88ADF84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430A26-DA06-656F-D89E-20F7167B69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96D21-94C8-42CF-887D-D8A88037F1A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005711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B83BFA2-77D5-F315-27EB-673FAD62069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475C20D-E986-74BA-23E5-F7A20D31AB5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1B5EA3-CCCA-7FCA-C9A3-E5110293EB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7B9D6-B1DD-42FC-8CF6-CEEED335747B}" type="datetimeFigureOut">
              <a:rPr lang="en-IN" smtClean="0"/>
              <a:t>10-03-2026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889EC-FB63-4751-817E-CDD324F677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B30EDE-B64A-CE0C-9656-CD2085B857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96D21-94C8-42CF-887D-D8A88037F1A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939995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A4B428E-89F3-2EF4-7D34-D5B55AA2DD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DCE08F-0C02-F7E0-187D-C949356F6FA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CA759C-890A-0874-5E18-79B07CCA64B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757B9D6-B1DD-42FC-8CF6-CEEED335747B}" type="datetimeFigureOut">
              <a:rPr lang="en-IN" smtClean="0"/>
              <a:t>10-03-2026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C23657-D285-C717-C81D-DB7C7D7AF9D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6F020C2-D880-892C-92D6-7EF39A10644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8096D21-94C8-42CF-887D-D8A88037F1A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806941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youtube.com/watch?v=TtPXvEcE11E&amp;t=22199s" TargetMode="External"/><Relationship Id="rId3" Type="http://schemas.openxmlformats.org/officeDocument/2006/relationships/hyperlink" Target="https://www.youtube.com/watch?v=TtPXvEcE11E&amp;t=2416s" TargetMode="External"/><Relationship Id="rId7" Type="http://schemas.openxmlformats.org/officeDocument/2006/relationships/hyperlink" Target="https://www.youtube.com/watch?v=TtPXvEcE11E&amp;t=17969s" TargetMode="External"/><Relationship Id="rId2" Type="http://schemas.openxmlformats.org/officeDocument/2006/relationships/hyperlink" Target="https://www.youtube.com/watch?v=TtPXvEcE11E&amp;t=80s" TargetMode="Externa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www.youtube.com/watch?v=TtPXvEcE11E&amp;t=13729s" TargetMode="External"/><Relationship Id="rId5" Type="http://schemas.openxmlformats.org/officeDocument/2006/relationships/hyperlink" Target="https://www.youtube.com/watch?v=TtPXvEcE11E&amp;t=9761s" TargetMode="External"/><Relationship Id="rId4" Type="http://schemas.openxmlformats.org/officeDocument/2006/relationships/hyperlink" Target="https://www.youtube.com/watch?v=TtPXvEcE11E&amp;t=5809s" TargetMode="External"/><Relationship Id="rId9" Type="http://schemas.openxmlformats.org/officeDocument/2006/relationships/hyperlink" Target="https://www.youtube.com/watch?v=TtPXvEcE11E&amp;t=28858s" TargetMode="Externa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TtPXvEcE11E&amp;t=35431s" TargetMode="External"/><Relationship Id="rId7" Type="http://schemas.openxmlformats.org/officeDocument/2006/relationships/hyperlink" Target="https://www.youtube.com/watch?v=TtPXvEcE11E&amp;t=41469s" TargetMode="External"/><Relationship Id="rId2" Type="http://schemas.openxmlformats.org/officeDocument/2006/relationships/hyperlink" Target="https://www.youtube.com/watch?v=TtPXvEcE11E&amp;t=31810s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youtube.com/watch?v=TtPXvEcE11E&amp;t=41052s" TargetMode="External"/><Relationship Id="rId5" Type="http://schemas.openxmlformats.org/officeDocument/2006/relationships/hyperlink" Target="https://www.youtube.com/watch?v=TtPXvEcE11E&amp;t=39013s" TargetMode="External"/><Relationship Id="rId4" Type="http://schemas.openxmlformats.org/officeDocument/2006/relationships/hyperlink" Target="https://www.youtube.com/watch?v=TtPXvEcE11E&amp;t=38466s" TargetMode="Externa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1DD774-AD0D-7B1E-0EB1-FC73B471821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044891" y="431898"/>
            <a:ext cx="6920204" cy="641123"/>
          </a:xfrm>
        </p:spPr>
        <p:txBody>
          <a:bodyPr>
            <a:normAutofit fontScale="90000"/>
          </a:bodyPr>
          <a:lstStyle/>
          <a:p>
            <a:r>
              <a:rPr lang="en-IN" dirty="0"/>
              <a:t>CONTENTS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748468D-B2E7-5F2B-C71B-A27D6DA5C7D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1138334"/>
            <a:ext cx="9234196" cy="5287767"/>
          </a:xfrm>
        </p:spPr>
        <p:txBody>
          <a:bodyPr>
            <a:normAutofit/>
          </a:bodyPr>
          <a:lstStyle/>
          <a:p>
            <a:r>
              <a:rPr lang="en-US" dirty="0"/>
              <a:t>Intro </a:t>
            </a:r>
            <a:r>
              <a:rPr lang="en-US" dirty="0">
                <a:hlinkClick r:id="rId2"/>
              </a:rPr>
              <a:t>1:20</a:t>
            </a:r>
            <a:r>
              <a:rPr lang="en-US" dirty="0"/>
              <a:t> </a:t>
            </a:r>
          </a:p>
          <a:p>
            <a:r>
              <a:rPr lang="en-US" dirty="0"/>
              <a:t>React Basics, JSX </a:t>
            </a:r>
            <a:r>
              <a:rPr lang="en-US" dirty="0">
                <a:hlinkClick r:id="rId3"/>
              </a:rPr>
              <a:t>40:16</a:t>
            </a:r>
            <a:r>
              <a:rPr lang="en-US" dirty="0"/>
              <a:t> </a:t>
            </a:r>
          </a:p>
          <a:p>
            <a:r>
              <a:rPr lang="en-US" dirty="0"/>
              <a:t> Components, Props, Start the Chatbot Project </a:t>
            </a:r>
            <a:r>
              <a:rPr lang="en-US" dirty="0">
                <a:hlinkClick r:id="rId4"/>
              </a:rPr>
              <a:t>1:36:49</a:t>
            </a:r>
            <a:r>
              <a:rPr lang="en-US" dirty="0"/>
              <a:t> </a:t>
            </a:r>
          </a:p>
          <a:p>
            <a:r>
              <a:rPr lang="en-US" dirty="0"/>
              <a:t>State, Event Handlers, Chatbot Project Features </a:t>
            </a:r>
            <a:r>
              <a:rPr lang="en-US" dirty="0">
                <a:hlinkClick r:id="rId5"/>
              </a:rPr>
              <a:t>2:42:41</a:t>
            </a:r>
            <a:r>
              <a:rPr lang="en-US" dirty="0"/>
              <a:t> </a:t>
            </a:r>
          </a:p>
          <a:p>
            <a:r>
              <a:rPr lang="en-US" dirty="0"/>
              <a:t>CSS with React, Hooks, Finish Chatbot Project </a:t>
            </a:r>
            <a:r>
              <a:rPr lang="en-US" dirty="0">
                <a:hlinkClick r:id="rId6"/>
              </a:rPr>
              <a:t>3:48:49</a:t>
            </a:r>
            <a:r>
              <a:rPr lang="en-US" dirty="0"/>
              <a:t> </a:t>
            </a:r>
          </a:p>
          <a:p>
            <a:r>
              <a:rPr lang="en-US" dirty="0"/>
              <a:t>Proper React Setup with Vite </a:t>
            </a:r>
            <a:r>
              <a:rPr lang="en-US" dirty="0">
                <a:hlinkClick r:id="rId7"/>
              </a:rPr>
              <a:t>4:59:29</a:t>
            </a:r>
            <a:r>
              <a:rPr lang="en-US" dirty="0"/>
              <a:t> </a:t>
            </a:r>
          </a:p>
          <a:p>
            <a:r>
              <a:rPr lang="en-US" dirty="0"/>
              <a:t>React Router, Git, Start the Ecommerce Project </a:t>
            </a:r>
            <a:r>
              <a:rPr lang="en-US" dirty="0">
                <a:hlinkClick r:id="rId8"/>
              </a:rPr>
              <a:t>6:09:59</a:t>
            </a:r>
            <a:r>
              <a:rPr lang="en-US" dirty="0"/>
              <a:t> </a:t>
            </a:r>
          </a:p>
          <a:p>
            <a:r>
              <a:rPr lang="en-US" dirty="0"/>
              <a:t>React with Backend, Data Fetching, Load Ecommerce Project Data </a:t>
            </a:r>
            <a:r>
              <a:rPr lang="en-US" dirty="0">
                <a:hlinkClick r:id="rId9"/>
              </a:rPr>
              <a:t>8:00:58</a:t>
            </a:r>
            <a:r>
              <a:rPr lang="en-US" dirty="0"/>
              <a:t>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287053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7A0277-E069-0AF8-83EF-03182EF474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dirty="0"/>
              <a:t>CONTENTS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F55205-683F-5A0D-A94B-55F4F4D207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ctr"/>
            <a:r>
              <a:rPr lang="en-US" dirty="0"/>
              <a:t>Data Mutation, Update Ecommerce Project Data </a:t>
            </a:r>
            <a:r>
              <a:rPr lang="en-US" dirty="0">
                <a:hlinkClick r:id="rId2"/>
              </a:rPr>
              <a:t>8:50:10</a:t>
            </a:r>
            <a:r>
              <a:rPr lang="en-US" dirty="0"/>
              <a:t> </a:t>
            </a:r>
          </a:p>
          <a:p>
            <a:pPr algn="ctr"/>
            <a:r>
              <a:rPr lang="en-US" dirty="0"/>
              <a:t>Automated Tests in React with </a:t>
            </a:r>
            <a:r>
              <a:rPr lang="en-US" dirty="0" err="1"/>
              <a:t>Vitest</a:t>
            </a:r>
            <a:r>
              <a:rPr lang="en-US" dirty="0"/>
              <a:t> </a:t>
            </a:r>
            <a:r>
              <a:rPr lang="en-US" dirty="0">
                <a:hlinkClick r:id="rId3"/>
              </a:rPr>
              <a:t>9:50:31</a:t>
            </a:r>
            <a:r>
              <a:rPr lang="en-US" dirty="0"/>
              <a:t> </a:t>
            </a:r>
          </a:p>
          <a:p>
            <a:pPr lvl="1" algn="ctr"/>
            <a:r>
              <a:rPr lang="en-US" dirty="0"/>
              <a:t>Deploy React to the Internet, Intro to AWS </a:t>
            </a:r>
            <a:r>
              <a:rPr lang="en-US" dirty="0">
                <a:hlinkClick r:id="rId4"/>
              </a:rPr>
              <a:t>10:41:06</a:t>
            </a:r>
            <a:endParaRPr lang="en-US" dirty="0"/>
          </a:p>
          <a:p>
            <a:pPr algn="ctr"/>
            <a:r>
              <a:rPr lang="en-US" dirty="0"/>
              <a:t> React 19 Updates </a:t>
            </a:r>
            <a:r>
              <a:rPr lang="en-US" dirty="0">
                <a:hlinkClick r:id="rId5"/>
              </a:rPr>
              <a:t>10:50:13</a:t>
            </a:r>
            <a:r>
              <a:rPr lang="en-US" dirty="0"/>
              <a:t> </a:t>
            </a:r>
          </a:p>
          <a:p>
            <a:pPr algn="ctr"/>
            <a:r>
              <a:rPr lang="en-US" dirty="0"/>
              <a:t>TypeScript with React </a:t>
            </a:r>
            <a:r>
              <a:rPr lang="en-US" dirty="0">
                <a:hlinkClick r:id="rId6"/>
              </a:rPr>
              <a:t>11:24:12</a:t>
            </a:r>
            <a:r>
              <a:rPr lang="en-US" dirty="0"/>
              <a:t> </a:t>
            </a:r>
          </a:p>
          <a:p>
            <a:pPr algn="ctr"/>
            <a:r>
              <a:rPr lang="en-US" dirty="0"/>
              <a:t>AI with React </a:t>
            </a:r>
            <a:r>
              <a:rPr lang="en-US" dirty="0">
                <a:hlinkClick r:id="rId7"/>
              </a:rPr>
              <a:t>11:31:09</a:t>
            </a:r>
            <a:r>
              <a:rPr lang="en-US" dirty="0"/>
              <a:t> </a:t>
            </a:r>
          </a:p>
          <a:p>
            <a:pPr algn="ctr"/>
            <a:r>
              <a:rPr lang="en-US" dirty="0"/>
              <a:t>Conclusion and Next Steps</a:t>
            </a:r>
          </a:p>
          <a:p>
            <a:pPr algn="ctr"/>
            <a:r>
              <a:rPr lang="en-US" dirty="0"/>
              <a:t>Start the project using </a:t>
            </a:r>
            <a:r>
              <a:rPr lang="en-US" dirty="0" err="1"/>
              <a:t>npx</a:t>
            </a:r>
            <a:r>
              <a:rPr lang="en-US" dirty="0"/>
              <a:t> </a:t>
            </a:r>
            <a:r>
              <a:rPr lang="en-US" dirty="0">
                <a:highlight>
                  <a:srgbClr val="FFFF00"/>
                </a:highlight>
              </a:rPr>
              <a:t>create-vite@6.5.0</a:t>
            </a:r>
            <a:endParaRPr lang="en-IN" dirty="0">
              <a:highlight>
                <a:srgbClr val="FFFF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33735016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C1947B-62DF-7ABA-6EA7-FBA53ECCC6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98376" y="365126"/>
            <a:ext cx="10355424" cy="502622"/>
          </a:xfrm>
        </p:spPr>
        <p:txBody>
          <a:bodyPr>
            <a:normAutofit fontScale="90000"/>
          </a:bodyPr>
          <a:lstStyle/>
          <a:p>
            <a:pPr algn="ctr"/>
            <a:r>
              <a:rPr lang="en-IN" dirty="0"/>
              <a:t>ROADMAP</a:t>
            </a:r>
          </a:p>
        </p:txBody>
      </p:sp>
      <p:graphicFrame>
        <p:nvGraphicFramePr>
          <p:cNvPr id="9" name="Content Placeholder 8">
            <a:extLst>
              <a:ext uri="{FF2B5EF4-FFF2-40B4-BE49-F238E27FC236}">
                <a16:creationId xmlns:a16="http://schemas.microsoft.com/office/drawing/2014/main" id="{E00C99C7-8836-8760-ACD0-3388E97FD25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626122077"/>
              </p:ext>
            </p:extLst>
          </p:nvPr>
        </p:nvGraphicFramePr>
        <p:xfrm>
          <a:off x="2453952" y="867748"/>
          <a:ext cx="8665029" cy="544907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758405">
                  <a:extLst>
                    <a:ext uri="{9D8B030D-6E8A-4147-A177-3AD203B41FA5}">
                      <a16:colId xmlns:a16="http://schemas.microsoft.com/office/drawing/2014/main" val="3506254319"/>
                    </a:ext>
                  </a:extLst>
                </a:gridCol>
                <a:gridCol w="1453312">
                  <a:extLst>
                    <a:ext uri="{9D8B030D-6E8A-4147-A177-3AD203B41FA5}">
                      <a16:colId xmlns:a16="http://schemas.microsoft.com/office/drawing/2014/main" val="682407492"/>
                    </a:ext>
                  </a:extLst>
                </a:gridCol>
                <a:gridCol w="1453312">
                  <a:extLst>
                    <a:ext uri="{9D8B030D-6E8A-4147-A177-3AD203B41FA5}">
                      <a16:colId xmlns:a16="http://schemas.microsoft.com/office/drawing/2014/main" val="3977183951"/>
                    </a:ext>
                  </a:extLst>
                </a:gridCol>
              </a:tblGrid>
              <a:tr h="356712">
                <a:tc>
                  <a:txBody>
                    <a:bodyPr/>
                    <a:lstStyle/>
                    <a:p>
                      <a:pPr algn="ctr" fontAlgn="b"/>
                      <a:r>
                        <a:rPr lang="en-IN" sz="1400" b="1" u="none" strike="noStrike" dirty="0">
                          <a:effectLst/>
                        </a:rPr>
                        <a:t>Contents</a:t>
                      </a:r>
                      <a:endParaRPr lang="en-IN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IN" sz="1400" b="1" u="none" strike="noStrike" dirty="0">
                          <a:effectLst/>
                        </a:rPr>
                        <a:t>Date</a:t>
                      </a:r>
                      <a:endParaRPr lang="en-IN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IN" sz="1400" b="1" u="none" strike="noStrike" dirty="0">
                          <a:effectLst/>
                        </a:rPr>
                        <a:t>Status</a:t>
                      </a:r>
                      <a:endParaRPr lang="en-IN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777448307"/>
                  </a:ext>
                </a:extLst>
              </a:tr>
              <a:tr h="282909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 Intro  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3">
                  <a:txBody>
                    <a:bodyPr/>
                    <a:lstStyle/>
                    <a:p>
                      <a:pPr algn="ctr" fontAlgn="b"/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08/01</a:t>
                      </a:r>
                    </a:p>
                    <a:p>
                      <a:pPr algn="ctr" fontAlgn="b"/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3">
                  <a:txBody>
                    <a:bodyPr/>
                    <a:lstStyle/>
                    <a:p>
                      <a:pPr algn="ctr" fontAlgn="b"/>
                      <a:r>
                        <a:rPr lang="en-IN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DONE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546646854"/>
                  </a:ext>
                </a:extLst>
              </a:tr>
              <a:tr h="282909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 React Basics  JSX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52541264"/>
                  </a:ext>
                </a:extLst>
              </a:tr>
              <a:tr h="282909">
                <a:tc>
                  <a:txBody>
                    <a:bodyPr/>
                    <a:lstStyle/>
                    <a:p>
                      <a:pPr algn="l" fontAlgn="b"/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5847286"/>
                  </a:ext>
                </a:extLst>
              </a:tr>
              <a:tr h="282909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605104474"/>
                  </a:ext>
                </a:extLst>
              </a:tr>
              <a:tr h="282909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 </a:t>
                      </a:r>
                      <a:r>
                        <a:rPr lang="en-US" sz="1400" dirty="0"/>
                        <a:t>Components, Props, Start the Chatbot Project 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09/01</a:t>
                      </a: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DONE</a:t>
                      </a:r>
                    </a:p>
                    <a:p>
                      <a:pPr algn="ctr" fontAlgn="b"/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070809323"/>
                  </a:ext>
                </a:extLst>
              </a:tr>
              <a:tr h="282909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 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31713220"/>
                  </a:ext>
                </a:extLst>
              </a:tr>
              <a:tr h="282909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368431794"/>
                  </a:ext>
                </a:extLst>
              </a:tr>
              <a:tr h="282909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 </a:t>
                      </a:r>
                      <a:r>
                        <a:rPr lang="en-US" sz="1400" dirty="0"/>
                        <a:t>State, Event Handlers, Chatbot Project Features 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12/01</a:t>
                      </a: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DONE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927765333"/>
                  </a:ext>
                </a:extLst>
              </a:tr>
              <a:tr h="282909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 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59535591"/>
                  </a:ext>
                </a:extLst>
              </a:tr>
              <a:tr h="282909">
                <a:tc>
                  <a:txBody>
                    <a:bodyPr/>
                    <a:lstStyle/>
                    <a:p>
                      <a:pPr algn="l" fontAlgn="b"/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738303809"/>
                  </a:ext>
                </a:extLst>
              </a:tr>
              <a:tr h="282909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 </a:t>
                      </a:r>
                      <a:r>
                        <a:rPr lang="en-US" sz="1400" dirty="0"/>
                        <a:t>State, Event Handlers, Chatbot Project Features 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13/01</a:t>
                      </a: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DONE</a:t>
                      </a: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581527096"/>
                  </a:ext>
                </a:extLst>
              </a:tr>
              <a:tr h="282909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dirty="0"/>
                        <a:t>CSS with React, Hooks, Finish Chatbot Project 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97313207"/>
                  </a:ext>
                </a:extLst>
              </a:tr>
              <a:tr h="282909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423749946"/>
                  </a:ext>
                </a:extLst>
              </a:tr>
              <a:tr h="282909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dirty="0"/>
                        <a:t>CSS with React, Hooks, Finish Chatbot Project 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14/01</a:t>
                      </a: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DONE</a:t>
                      </a: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271851932"/>
                  </a:ext>
                </a:extLst>
              </a:tr>
              <a:tr h="282909">
                <a:tc>
                  <a:txBody>
                    <a:bodyPr/>
                    <a:lstStyle/>
                    <a:p>
                      <a:pPr algn="l" fontAlgn="b"/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15453119"/>
                  </a:ext>
                </a:extLst>
              </a:tr>
              <a:tr h="282909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4062341790"/>
                  </a:ext>
                </a:extLst>
              </a:tr>
              <a:tr h="282909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dirty="0"/>
                        <a:t>Proper React Setup with Vite 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04/03</a:t>
                      </a: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DONE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275127061"/>
                  </a:ext>
                </a:extLst>
              </a:tr>
              <a:tr h="282909">
                <a:tc>
                  <a:txBody>
                    <a:bodyPr/>
                    <a:lstStyle/>
                    <a:p>
                      <a:pPr algn="l" fontAlgn="b"/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3480123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4873991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122EEF08-61A5-CBE1-8865-21AC150BC53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09865976"/>
              </p:ext>
            </p:extLst>
          </p:nvPr>
        </p:nvGraphicFramePr>
        <p:xfrm>
          <a:off x="2127380" y="140970"/>
          <a:ext cx="9004041" cy="6560923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983699">
                  <a:extLst>
                    <a:ext uri="{9D8B030D-6E8A-4147-A177-3AD203B41FA5}">
                      <a16:colId xmlns:a16="http://schemas.microsoft.com/office/drawing/2014/main" val="3967694218"/>
                    </a:ext>
                  </a:extLst>
                </a:gridCol>
                <a:gridCol w="1510171">
                  <a:extLst>
                    <a:ext uri="{9D8B030D-6E8A-4147-A177-3AD203B41FA5}">
                      <a16:colId xmlns:a16="http://schemas.microsoft.com/office/drawing/2014/main" val="2788288118"/>
                    </a:ext>
                  </a:extLst>
                </a:gridCol>
                <a:gridCol w="1510171">
                  <a:extLst>
                    <a:ext uri="{9D8B030D-6E8A-4147-A177-3AD203B41FA5}">
                      <a16:colId xmlns:a16="http://schemas.microsoft.com/office/drawing/2014/main" val="1587959234"/>
                    </a:ext>
                  </a:extLst>
                </a:gridCol>
              </a:tblGrid>
              <a:tr h="213141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dirty="0"/>
                        <a:t>Proper React Setup with Vite 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06/03</a:t>
                      </a: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DONE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648536132"/>
                  </a:ext>
                </a:extLst>
              </a:tr>
              <a:tr h="213141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dirty="0"/>
                        <a:t>React Router, Git, Start the Ecommerce Project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05834789"/>
                  </a:ext>
                </a:extLst>
              </a:tr>
              <a:tr h="213141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818389668"/>
                  </a:ext>
                </a:extLst>
              </a:tr>
              <a:tr h="213141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dirty="0"/>
                        <a:t>React Router, Git, Start the Ecommerce Project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07/03</a:t>
                      </a: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DONE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427381547"/>
                  </a:ext>
                </a:extLst>
              </a:tr>
              <a:tr h="213141">
                <a:tc>
                  <a:txBody>
                    <a:bodyPr/>
                    <a:lstStyle/>
                    <a:p>
                      <a:pPr algn="l" fontAlgn="b"/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46857748"/>
                  </a:ext>
                </a:extLst>
              </a:tr>
              <a:tr h="213141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888696624"/>
                  </a:ext>
                </a:extLst>
              </a:tr>
              <a:tr h="418933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dirty="0"/>
                        <a:t>React Router, Git, Start the Ecommerce Project</a:t>
                      </a:r>
                      <a:br>
                        <a:rPr lang="en-US" sz="1400" dirty="0"/>
                      </a:br>
                      <a:r>
                        <a:rPr lang="en-US" sz="1400" dirty="0"/>
                        <a:t>React with Backend, Data Fetching, Load Ecommerce Project Data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09/03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689315061"/>
                  </a:ext>
                </a:extLst>
              </a:tr>
              <a:tr h="213141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013388976"/>
                  </a:ext>
                </a:extLst>
              </a:tr>
              <a:tr h="213141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dirty="0"/>
                        <a:t>React with Backend, Data Fetching, Load Ecommerce Project Data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10/03</a:t>
                      </a: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922265013"/>
                  </a:ext>
                </a:extLst>
              </a:tr>
              <a:tr h="213141">
                <a:tc>
                  <a:txBody>
                    <a:bodyPr/>
                    <a:lstStyle/>
                    <a:p>
                      <a:pPr algn="l" fontAlgn="b"/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4981167"/>
                  </a:ext>
                </a:extLst>
              </a:tr>
              <a:tr h="213141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664055341"/>
                  </a:ext>
                </a:extLst>
              </a:tr>
              <a:tr h="213141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dirty="0"/>
                        <a:t>React with Backend, Data Fetching, Load Ecommerce Project Data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11/03</a:t>
                      </a: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36846416"/>
                  </a:ext>
                </a:extLst>
              </a:tr>
              <a:tr h="213141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dirty="0"/>
                        <a:t>Data Mutation, Update Ecommerce Project Data 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1914960"/>
                  </a:ext>
                </a:extLst>
              </a:tr>
              <a:tr h="213141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796262576"/>
                  </a:ext>
                </a:extLst>
              </a:tr>
              <a:tr h="213141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dirty="0"/>
                        <a:t>Data Mutation, Update Ecommerce Project Data 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13/03</a:t>
                      </a: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445731683"/>
                  </a:ext>
                </a:extLst>
              </a:tr>
              <a:tr h="411583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dirty="0"/>
                        <a:t>Automated Tests in React with </a:t>
                      </a:r>
                      <a:r>
                        <a:rPr lang="en-US" sz="1400" dirty="0" err="1"/>
                        <a:t>Vitest</a:t>
                      </a:r>
                      <a:r>
                        <a:rPr lang="en-US" sz="1400" dirty="0"/>
                        <a:t> 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19693168"/>
                  </a:ext>
                </a:extLst>
              </a:tr>
              <a:tr h="213141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089418695"/>
                  </a:ext>
                </a:extLst>
              </a:tr>
              <a:tr h="213141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dirty="0"/>
                        <a:t>Deploy React to the Internet, Intro to AWS 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14/03</a:t>
                      </a: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920005686"/>
                  </a:ext>
                </a:extLst>
              </a:tr>
              <a:tr h="213141">
                <a:tc>
                  <a:txBody>
                    <a:bodyPr/>
                    <a:lstStyle/>
                    <a:p>
                      <a:pPr algn="l" fontAlgn="b"/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02209729"/>
                  </a:ext>
                </a:extLst>
              </a:tr>
              <a:tr h="213141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668263343"/>
                  </a:ext>
                </a:extLst>
              </a:tr>
              <a:tr h="830517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dirty="0"/>
                        <a:t>Deploy React to the Internet, Intro to AWS </a:t>
                      </a:r>
                      <a:br>
                        <a:rPr lang="en-US" sz="1400" dirty="0"/>
                      </a:br>
                      <a:r>
                        <a:rPr lang="en-US" sz="1400" dirty="0"/>
                        <a:t>React 19 Updates  </a:t>
                      </a:r>
                      <a:br>
                        <a:rPr lang="en-US" sz="1400" dirty="0"/>
                      </a:br>
                      <a:r>
                        <a:rPr lang="en-US" sz="1400" dirty="0"/>
                        <a:t>TypeScript with React </a:t>
                      </a:r>
                      <a:br>
                        <a:rPr lang="en-US" sz="1400" dirty="0"/>
                      </a:b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             16/03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613871429"/>
                  </a:ext>
                </a:extLst>
              </a:tr>
              <a:tr h="213141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807589407"/>
                  </a:ext>
                </a:extLst>
              </a:tr>
              <a:tr h="418933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dirty="0"/>
                        <a:t>TypeScript with React </a:t>
                      </a:r>
                      <a:br>
                        <a:rPr lang="en-US" sz="1400" dirty="0"/>
                      </a:br>
                      <a:r>
                        <a:rPr lang="en-US" sz="1400" dirty="0"/>
                        <a:t>AI with React 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17/03</a:t>
                      </a: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700271936"/>
                  </a:ext>
                </a:extLst>
              </a:tr>
              <a:tr h="213141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dirty="0"/>
                        <a:t>Conclusion and next steps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5024458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100841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1061</TotalTime>
  <Words>338</Words>
  <Application>Microsoft Office PowerPoint</Application>
  <PresentationFormat>Widescreen</PresentationFormat>
  <Paragraphs>80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Aptos</vt:lpstr>
      <vt:lpstr>Aptos Display</vt:lpstr>
      <vt:lpstr>Aptos Narrow</vt:lpstr>
      <vt:lpstr>Arial</vt:lpstr>
      <vt:lpstr>Office Theme</vt:lpstr>
      <vt:lpstr>CONTENTS</vt:lpstr>
      <vt:lpstr>CONTENTS</vt:lpstr>
      <vt:lpstr>ROADMAP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Glen Paul Chirayath Shaju</dc:creator>
  <cp:lastModifiedBy>Glen Paul Chirayath Shaju</cp:lastModifiedBy>
  <cp:revision>37</cp:revision>
  <dcterms:created xsi:type="dcterms:W3CDTF">2025-09-08T10:21:50Z</dcterms:created>
  <dcterms:modified xsi:type="dcterms:W3CDTF">2026-03-10T08:36:35Z</dcterms:modified>
</cp:coreProperties>
</file>