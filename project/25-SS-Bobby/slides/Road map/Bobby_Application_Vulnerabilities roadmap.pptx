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4" r:id="rId5"/>
    <p:sldId id="286" r:id="rId6"/>
    <p:sldId id="288" r:id="rId7"/>
    <p:sldId id="285" r:id="rId8"/>
    <p:sldId id="289" r:id="rId9"/>
    <p:sldId id="259" r:id="rId10"/>
    <p:sldId id="277" r:id="rId11"/>
    <p:sldId id="278" r:id="rId12"/>
    <p:sldId id="275" r:id="rId13"/>
    <p:sldId id="276" r:id="rId14"/>
    <p:sldId id="279" r:id="rId15"/>
    <p:sldId id="260" r:id="rId16"/>
    <p:sldId id="280" r:id="rId17"/>
    <p:sldId id="281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Bobby’s Application - Vulnerable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May 26,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(Normal Functionality)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Role-Based Login</a:t>
            </a:r>
          </a:p>
          <a:p>
            <a:r>
              <a:rPr dirty="0"/>
              <a:t>Edit and View Marks</a:t>
            </a:r>
            <a:endParaRPr lang="en-IN" dirty="0"/>
          </a:p>
          <a:p>
            <a:r>
              <a:rPr lang="en-IN" dirty="0"/>
              <a:t>Edit or View Timetable</a:t>
            </a:r>
            <a:endParaRPr dirty="0"/>
          </a:p>
          <a:p>
            <a:r>
              <a:rPr dirty="0"/>
              <a:t>Edit and View Attendance</a:t>
            </a:r>
          </a:p>
          <a:p>
            <a:r>
              <a:rPr lang="en-IN" dirty="0"/>
              <a:t>Edit or view assignments</a:t>
            </a:r>
            <a:endParaRPr dirty="0"/>
          </a:p>
          <a:p>
            <a:r>
              <a:rPr dirty="0"/>
              <a:t>File Repository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1 - Role-Based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Users can register and log in as: Student, Faculty, Admin</a:t>
            </a:r>
          </a:p>
          <a:p>
            <a:r>
              <a:rPr dirty="0"/>
              <a:t>Students: View</a:t>
            </a:r>
            <a:r>
              <a:rPr lang="en-IN" dirty="0"/>
              <a:t> profile,</a:t>
            </a:r>
            <a:r>
              <a:rPr dirty="0"/>
              <a:t> </a:t>
            </a:r>
            <a:r>
              <a:rPr lang="en-IN" dirty="0"/>
              <a:t>marks ,attendance and timetable</a:t>
            </a:r>
            <a:endParaRPr dirty="0"/>
          </a:p>
          <a:p>
            <a:r>
              <a:rPr dirty="0"/>
              <a:t>Faculty: Edit</a:t>
            </a:r>
            <a:r>
              <a:rPr lang="en-IN" dirty="0"/>
              <a:t> and view</a:t>
            </a:r>
            <a:r>
              <a:rPr dirty="0"/>
              <a:t> </a:t>
            </a:r>
            <a:r>
              <a:rPr lang="en-IN" dirty="0"/>
              <a:t>Marks , attendance</a:t>
            </a:r>
          </a:p>
          <a:p>
            <a:pPr marL="0" indent="0">
              <a:buNone/>
            </a:pPr>
            <a:r>
              <a:rPr lang="en-IN" dirty="0"/>
              <a:t>	View profile , timetable</a:t>
            </a:r>
            <a:endParaRPr dirty="0"/>
          </a:p>
          <a:p>
            <a:r>
              <a:rPr dirty="0"/>
              <a:t>Admin: </a:t>
            </a:r>
            <a:r>
              <a:rPr lang="en-IN" dirty="0"/>
              <a:t>Has all the read and write permissions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Manage users, logs, repository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F5B7C-8917-49F7-DD61-0AAA4200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06137"/>
            <a:ext cx="8229600" cy="1143000"/>
          </a:xfrm>
        </p:spPr>
        <p:txBody>
          <a:bodyPr/>
          <a:lstStyle/>
          <a:p>
            <a:r>
              <a:rPr lang="en-IN" dirty="0"/>
              <a:t>Login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D5C6D3-2C86-F17D-A1EA-A3C9D565BAA1}"/>
              </a:ext>
            </a:extLst>
          </p:cNvPr>
          <p:cNvSpPr/>
          <p:nvPr/>
        </p:nvSpPr>
        <p:spPr>
          <a:xfrm>
            <a:off x="958646" y="1709019"/>
            <a:ext cx="3190568" cy="441714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95D449-DF31-D1E8-06A8-2F4350F70117}"/>
              </a:ext>
            </a:extLst>
          </p:cNvPr>
          <p:cNvSpPr/>
          <p:nvPr/>
        </p:nvSpPr>
        <p:spPr>
          <a:xfrm>
            <a:off x="1304001" y="5095895"/>
            <a:ext cx="2499851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Student registration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5A821B-647C-50AC-DCB8-6D371A18303A}"/>
              </a:ext>
            </a:extLst>
          </p:cNvPr>
          <p:cNvSpPr/>
          <p:nvPr/>
        </p:nvSpPr>
        <p:spPr>
          <a:xfrm>
            <a:off x="1425677" y="2592465"/>
            <a:ext cx="2256503" cy="405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Password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C86C2F-FBB8-5865-9305-2FD27138A63A}"/>
              </a:ext>
            </a:extLst>
          </p:cNvPr>
          <p:cNvSpPr/>
          <p:nvPr/>
        </p:nvSpPr>
        <p:spPr>
          <a:xfrm>
            <a:off x="1962764" y="3346609"/>
            <a:ext cx="1182328" cy="3177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Login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7D4AD6-12C3-DFC8-3604-E6719DBDA050}"/>
              </a:ext>
            </a:extLst>
          </p:cNvPr>
          <p:cNvSpPr/>
          <p:nvPr/>
        </p:nvSpPr>
        <p:spPr>
          <a:xfrm>
            <a:off x="1425678" y="1995948"/>
            <a:ext cx="2256503" cy="405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C1A69-7B24-CCDA-333D-55E7F56161C9}"/>
              </a:ext>
            </a:extLst>
          </p:cNvPr>
          <p:cNvSpPr txBox="1"/>
          <p:nvPr/>
        </p:nvSpPr>
        <p:spPr>
          <a:xfrm>
            <a:off x="1056969" y="4570069"/>
            <a:ext cx="208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Forgot password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FAE17-D523-93E1-30FC-0077489CAA83}"/>
              </a:ext>
            </a:extLst>
          </p:cNvPr>
          <p:cNvSpPr/>
          <p:nvPr/>
        </p:nvSpPr>
        <p:spPr>
          <a:xfrm>
            <a:off x="1304002" y="5600336"/>
            <a:ext cx="2499851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Teacher registration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B85181-EFA5-34A3-77D6-C6DB7B0A5902}"/>
              </a:ext>
            </a:extLst>
          </p:cNvPr>
          <p:cNvSpPr txBox="1"/>
          <p:nvPr/>
        </p:nvSpPr>
        <p:spPr>
          <a:xfrm>
            <a:off x="4616242" y="1239934"/>
            <a:ext cx="39771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based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Based on the user ID, the system determines the role and is directed corresponding page</a:t>
            </a:r>
          </a:p>
          <a:p>
            <a:r>
              <a:rPr lang="en-IN" dirty="0"/>
              <a:t>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Features to be implemented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Username + Password Fields – core of login functionality.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Clear Error Messages – e.g., "Invalid credentials"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Show/Hide Password Toggle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Password Hashing – store passwords securely in the DB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Captcha verification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Forgot password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Student registration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Teacher registration</a:t>
            </a: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02057B-C355-FC43-07CF-04C0E4C7C5DB}"/>
              </a:ext>
            </a:extLst>
          </p:cNvPr>
          <p:cNvSpPr/>
          <p:nvPr/>
        </p:nvSpPr>
        <p:spPr>
          <a:xfrm>
            <a:off x="1425674" y="3862950"/>
            <a:ext cx="2256503" cy="40591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Enter Captcha</a:t>
            </a:r>
          </a:p>
        </p:txBody>
      </p:sp>
    </p:spTree>
    <p:extLst>
      <p:ext uri="{BB962C8B-B14F-4D97-AF65-F5344CB8AC3E}">
        <p14:creationId xmlns:p14="http://schemas.microsoft.com/office/powerpoint/2010/main" val="125915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33BB-7521-34FB-B935-6AE69FAA4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Student registration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14D09D-0D21-BEE8-C92C-40DFA45F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Features to be implemented</a:t>
            </a:r>
          </a:p>
          <a:p>
            <a:r>
              <a:rPr lang="en-IN" dirty="0"/>
              <a:t>Input fields for labels like:</a:t>
            </a:r>
          </a:p>
          <a:p>
            <a:pPr marL="0" indent="0">
              <a:buNone/>
            </a:pPr>
            <a:r>
              <a:rPr lang="en-IN" dirty="0"/>
              <a:t>   First name, last name, DOB, Gender, email         	address, Class applying for</a:t>
            </a:r>
          </a:p>
          <a:p>
            <a:r>
              <a:rPr lang="en-IN" dirty="0"/>
              <a:t>Link to the application form where other personal, academic details needs to be filled</a:t>
            </a:r>
          </a:p>
          <a:p>
            <a:r>
              <a:rPr lang="en-IN" dirty="0"/>
              <a:t>Submit button</a:t>
            </a:r>
          </a:p>
        </p:txBody>
      </p:sp>
    </p:spTree>
    <p:extLst>
      <p:ext uri="{BB962C8B-B14F-4D97-AF65-F5344CB8AC3E}">
        <p14:creationId xmlns:p14="http://schemas.microsoft.com/office/powerpoint/2010/main" val="267631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33BB-7521-34FB-B935-6AE69FAA4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Teacher registration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14D09D-0D21-BEE8-C92C-40DFA45F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Features to be implemented</a:t>
            </a:r>
          </a:p>
          <a:p>
            <a:r>
              <a:rPr lang="en-IN" dirty="0"/>
              <a:t>Input fields for labels like:</a:t>
            </a:r>
          </a:p>
          <a:p>
            <a:pPr marL="0" indent="0">
              <a:buNone/>
            </a:pPr>
            <a:r>
              <a:rPr lang="en-IN" dirty="0"/>
              <a:t>   First name, last name, DOB, Gender, email         	address</a:t>
            </a:r>
          </a:p>
          <a:p>
            <a:r>
              <a:rPr lang="en-IN" dirty="0"/>
              <a:t>Upload CV file (pdf) feature</a:t>
            </a:r>
          </a:p>
          <a:p>
            <a:r>
              <a:rPr lang="en-IN" dirty="0"/>
              <a:t>Submit button</a:t>
            </a:r>
          </a:p>
        </p:txBody>
      </p:sp>
    </p:spTree>
    <p:extLst>
      <p:ext uri="{BB962C8B-B14F-4D97-AF65-F5344CB8AC3E}">
        <p14:creationId xmlns:p14="http://schemas.microsoft.com/office/powerpoint/2010/main" val="1553503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F5B7C-8917-49F7-DD61-0AAA4200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06137"/>
            <a:ext cx="8229600" cy="1143000"/>
          </a:xfrm>
        </p:spPr>
        <p:txBody>
          <a:bodyPr/>
          <a:lstStyle/>
          <a:p>
            <a:r>
              <a:rPr lang="en-IN" dirty="0"/>
              <a:t>Forgot password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D5C6D3-2C86-F17D-A1EA-A3C9D565BAA1}"/>
              </a:ext>
            </a:extLst>
          </p:cNvPr>
          <p:cNvSpPr/>
          <p:nvPr/>
        </p:nvSpPr>
        <p:spPr>
          <a:xfrm>
            <a:off x="958646" y="1709019"/>
            <a:ext cx="3190568" cy="441714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95D449-DF31-D1E8-06A8-2F4350F70117}"/>
              </a:ext>
            </a:extLst>
          </p:cNvPr>
          <p:cNvSpPr/>
          <p:nvPr/>
        </p:nvSpPr>
        <p:spPr>
          <a:xfrm>
            <a:off x="1312605" y="5330648"/>
            <a:ext cx="2499851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Change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5A821B-647C-50AC-DCB8-6D371A18303A}"/>
              </a:ext>
            </a:extLst>
          </p:cNvPr>
          <p:cNvSpPr/>
          <p:nvPr/>
        </p:nvSpPr>
        <p:spPr>
          <a:xfrm>
            <a:off x="1182329" y="2592465"/>
            <a:ext cx="2730910" cy="405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Security question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C86C2F-FBB8-5865-9305-2FD27138A63A}"/>
              </a:ext>
            </a:extLst>
          </p:cNvPr>
          <p:cNvSpPr/>
          <p:nvPr/>
        </p:nvSpPr>
        <p:spPr>
          <a:xfrm>
            <a:off x="1731706" y="3346609"/>
            <a:ext cx="1950475" cy="3177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New password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7D4AD6-12C3-DFC8-3604-E6719DBDA050}"/>
              </a:ext>
            </a:extLst>
          </p:cNvPr>
          <p:cNvSpPr/>
          <p:nvPr/>
        </p:nvSpPr>
        <p:spPr>
          <a:xfrm>
            <a:off x="1425678" y="1995948"/>
            <a:ext cx="2256503" cy="405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C1A69-7B24-CCDA-333D-55E7F56161C9}"/>
              </a:ext>
            </a:extLst>
          </p:cNvPr>
          <p:cNvSpPr txBox="1"/>
          <p:nvPr/>
        </p:nvSpPr>
        <p:spPr>
          <a:xfrm>
            <a:off x="1056969" y="4256648"/>
            <a:ext cx="262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Password instructions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B85181-EFA5-34A3-77D6-C6DB7B0A5902}"/>
              </a:ext>
            </a:extLst>
          </p:cNvPr>
          <p:cNvSpPr txBox="1"/>
          <p:nvPr/>
        </p:nvSpPr>
        <p:spPr>
          <a:xfrm>
            <a:off x="4650660" y="1701391"/>
            <a:ext cx="39771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From the user ID entered the security question submitted during the registration process appears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first generated password generated by the admin for the role of student / teacher needs to be updated in the database</a:t>
            </a:r>
          </a:p>
          <a:p>
            <a:r>
              <a:rPr lang="en-IN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Password strength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Captcha verification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5B3B9D-0432-B01B-EED7-3E2C70430461}"/>
              </a:ext>
            </a:extLst>
          </p:cNvPr>
          <p:cNvSpPr/>
          <p:nvPr/>
        </p:nvSpPr>
        <p:spPr>
          <a:xfrm>
            <a:off x="1731706" y="3763294"/>
            <a:ext cx="1950475" cy="3177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Repeat password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3362BC-ED91-FFD8-42CE-8F9F7913EE90}"/>
              </a:ext>
            </a:extLst>
          </p:cNvPr>
          <p:cNvSpPr/>
          <p:nvPr/>
        </p:nvSpPr>
        <p:spPr>
          <a:xfrm>
            <a:off x="1312605" y="4676899"/>
            <a:ext cx="2499851" cy="369332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Captcha</a:t>
            </a:r>
          </a:p>
        </p:txBody>
      </p:sp>
    </p:spTree>
    <p:extLst>
      <p:ext uri="{BB962C8B-B14F-4D97-AF65-F5344CB8AC3E}">
        <p14:creationId xmlns:p14="http://schemas.microsoft.com/office/powerpoint/2010/main" val="298421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2045-0942-F25D-7279-315C93EAD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Dashboard: During login based on the role the corresponding dashboard is loaded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FF94AC-3BE1-ADF9-388E-3C187D79D864}"/>
              </a:ext>
            </a:extLst>
          </p:cNvPr>
          <p:cNvSpPr/>
          <p:nvPr/>
        </p:nvSpPr>
        <p:spPr>
          <a:xfrm>
            <a:off x="663678" y="1755059"/>
            <a:ext cx="2133600" cy="39771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Student</a:t>
            </a:r>
          </a:p>
          <a:p>
            <a:endParaRPr lang="en-IN" sz="1800" dirty="0"/>
          </a:p>
          <a:p>
            <a:r>
              <a:rPr lang="en-IN" sz="1800" dirty="0"/>
              <a:t>View profile</a:t>
            </a:r>
          </a:p>
          <a:p>
            <a:endParaRPr lang="en-IN" sz="1800" dirty="0"/>
          </a:p>
          <a:p>
            <a:r>
              <a:rPr lang="en-IN" sz="1800" dirty="0"/>
              <a:t>View Marks</a:t>
            </a:r>
          </a:p>
          <a:p>
            <a:endParaRPr lang="en-IN" sz="1800" dirty="0"/>
          </a:p>
          <a:p>
            <a:r>
              <a:rPr lang="en-IN" sz="1800" dirty="0"/>
              <a:t>View attendance</a:t>
            </a:r>
          </a:p>
          <a:p>
            <a:endParaRPr lang="en-IN" sz="1800" dirty="0"/>
          </a:p>
          <a:p>
            <a:r>
              <a:rPr lang="en-IN" sz="1800" dirty="0"/>
              <a:t>View timetable</a:t>
            </a:r>
          </a:p>
          <a:p>
            <a:pPr marL="0" indent="0">
              <a:buNone/>
            </a:pPr>
            <a:endParaRPr lang="en-IN" dirty="0"/>
          </a:p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46172E-82F9-C6AA-1BAC-13E72A6FA2B3}"/>
              </a:ext>
            </a:extLst>
          </p:cNvPr>
          <p:cNvSpPr/>
          <p:nvPr/>
        </p:nvSpPr>
        <p:spPr>
          <a:xfrm>
            <a:off x="3254477" y="1769807"/>
            <a:ext cx="2635045" cy="39771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Teacher</a:t>
            </a:r>
            <a:endParaRPr lang="en-IN" sz="1800" b="1" dirty="0"/>
          </a:p>
          <a:p>
            <a:endParaRPr lang="en-IN" sz="1800" dirty="0"/>
          </a:p>
          <a:p>
            <a:r>
              <a:rPr lang="en-IN" sz="1800" dirty="0"/>
              <a:t>View profile</a:t>
            </a:r>
          </a:p>
          <a:p>
            <a:endParaRPr lang="en-IN" sz="1800" dirty="0"/>
          </a:p>
          <a:p>
            <a:r>
              <a:rPr lang="en-IN" sz="1800" dirty="0"/>
              <a:t>Edit / View Marks</a:t>
            </a:r>
          </a:p>
          <a:p>
            <a:endParaRPr lang="en-IN" sz="1800" dirty="0"/>
          </a:p>
          <a:p>
            <a:r>
              <a:rPr lang="en-IN" sz="1800" dirty="0"/>
              <a:t>Edit / View attendance</a:t>
            </a:r>
          </a:p>
          <a:p>
            <a:endParaRPr lang="en-IN" sz="1800" dirty="0"/>
          </a:p>
          <a:p>
            <a:r>
              <a:rPr lang="en-IN" sz="1800" dirty="0"/>
              <a:t>View timetable</a:t>
            </a:r>
          </a:p>
          <a:p>
            <a:pPr marL="0" indent="0">
              <a:buNone/>
            </a:pPr>
            <a:endParaRPr lang="en-IN" dirty="0"/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236F2-361D-603A-C0F4-415419AF8B91}"/>
              </a:ext>
            </a:extLst>
          </p:cNvPr>
          <p:cNvSpPr/>
          <p:nvPr/>
        </p:nvSpPr>
        <p:spPr>
          <a:xfrm>
            <a:off x="6280354" y="1324564"/>
            <a:ext cx="2635045" cy="48381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Admin</a:t>
            </a:r>
          </a:p>
          <a:p>
            <a:endParaRPr lang="en-IN" sz="1800" dirty="0"/>
          </a:p>
          <a:p>
            <a:r>
              <a:rPr lang="en-IN" sz="1800" dirty="0"/>
              <a:t>Create login credentials for students / teachers</a:t>
            </a:r>
          </a:p>
          <a:p>
            <a:endParaRPr lang="en-IN" sz="1800" dirty="0"/>
          </a:p>
          <a:p>
            <a:r>
              <a:rPr lang="en-IN" sz="1800" dirty="0"/>
              <a:t>Create profile for teacher / students</a:t>
            </a:r>
          </a:p>
          <a:p>
            <a:endParaRPr lang="en-IN" sz="1800" dirty="0"/>
          </a:p>
          <a:p>
            <a:r>
              <a:rPr lang="en-IN" sz="1800" dirty="0"/>
              <a:t>Edit / View / approve marks</a:t>
            </a:r>
          </a:p>
          <a:p>
            <a:endParaRPr lang="en-IN" sz="1800" dirty="0"/>
          </a:p>
          <a:p>
            <a:r>
              <a:rPr lang="en-IN" sz="1800" dirty="0"/>
              <a:t>Edit / View / approve marks</a:t>
            </a:r>
          </a:p>
          <a:p>
            <a:endParaRPr lang="en-IN" dirty="0"/>
          </a:p>
          <a:p>
            <a:r>
              <a:rPr lang="en-IN" dirty="0"/>
              <a:t>Create </a:t>
            </a:r>
            <a:r>
              <a:rPr lang="en-IN" sz="1800" dirty="0"/>
              <a:t>timetable</a:t>
            </a:r>
          </a:p>
          <a:p>
            <a:pPr marL="0" indent="0">
              <a:buNone/>
            </a:pPr>
            <a:endParaRPr lang="en-IN" dirty="0"/>
          </a:p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05A128-BAAC-562E-2C8A-AA0BE40FB09F}"/>
              </a:ext>
            </a:extLst>
          </p:cNvPr>
          <p:cNvSpPr txBox="1"/>
          <p:nvPr/>
        </p:nvSpPr>
        <p:spPr>
          <a:xfrm>
            <a:off x="663678" y="6162700"/>
            <a:ext cx="313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Logout button to be introduced</a:t>
            </a:r>
          </a:p>
        </p:txBody>
      </p:sp>
    </p:spTree>
    <p:extLst>
      <p:ext uri="{BB962C8B-B14F-4D97-AF65-F5344CB8AC3E}">
        <p14:creationId xmlns:p14="http://schemas.microsoft.com/office/powerpoint/2010/main" val="269631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2 - Edit and View 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Faculty can add or update student marks</a:t>
            </a:r>
          </a:p>
          <a:p>
            <a:r>
              <a:rPr dirty="0"/>
              <a:t>Students can view marks via </a:t>
            </a:r>
            <a:r>
              <a:rPr dirty="0" err="1"/>
              <a:t>dashboar</a:t>
            </a:r>
            <a:r>
              <a:rPr lang="en-IN" dirty="0"/>
              <a:t>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D5C6D3-2C86-F17D-A1EA-A3C9D565BAA1}"/>
              </a:ext>
            </a:extLst>
          </p:cNvPr>
          <p:cNvSpPr/>
          <p:nvPr/>
        </p:nvSpPr>
        <p:spPr>
          <a:xfrm>
            <a:off x="958645" y="474407"/>
            <a:ext cx="7639665" cy="54667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95D449-DF31-D1E8-06A8-2F4350F70117}"/>
              </a:ext>
            </a:extLst>
          </p:cNvPr>
          <p:cNvSpPr/>
          <p:nvPr/>
        </p:nvSpPr>
        <p:spPr>
          <a:xfrm>
            <a:off x="6469626" y="1348582"/>
            <a:ext cx="1592826" cy="537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Class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5A821B-647C-50AC-DCB8-6D371A18303A}"/>
              </a:ext>
            </a:extLst>
          </p:cNvPr>
          <p:cNvSpPr/>
          <p:nvPr/>
        </p:nvSpPr>
        <p:spPr>
          <a:xfrm>
            <a:off x="1514168" y="1691148"/>
            <a:ext cx="1907458" cy="60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subject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C86C2F-FBB8-5865-9305-2FD27138A63A}"/>
              </a:ext>
            </a:extLst>
          </p:cNvPr>
          <p:cNvSpPr/>
          <p:nvPr/>
        </p:nvSpPr>
        <p:spPr>
          <a:xfrm>
            <a:off x="3726426" y="1691148"/>
            <a:ext cx="1907458" cy="60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7D4AD6-12C3-DFC8-3604-E6719DBDA050}"/>
              </a:ext>
            </a:extLst>
          </p:cNvPr>
          <p:cNvSpPr/>
          <p:nvPr/>
        </p:nvSpPr>
        <p:spPr>
          <a:xfrm>
            <a:off x="1784555" y="673509"/>
            <a:ext cx="5791200" cy="5837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Student Dashboard </a:t>
            </a:r>
          </a:p>
        </p:txBody>
      </p:sp>
    </p:spTree>
    <p:extLst>
      <p:ext uri="{BB962C8B-B14F-4D97-AF65-F5344CB8AC3E}">
        <p14:creationId xmlns:p14="http://schemas.microsoft.com/office/powerpoint/2010/main" val="638613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F938A-648F-9C39-010D-2C2E0DD9A8FD}"/>
              </a:ext>
            </a:extLst>
          </p:cNvPr>
          <p:cNvSpPr/>
          <p:nvPr/>
        </p:nvSpPr>
        <p:spPr>
          <a:xfrm>
            <a:off x="958645" y="474407"/>
            <a:ext cx="7639665" cy="54667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61A27-DB97-F422-A9C8-23F327035A24}"/>
              </a:ext>
            </a:extLst>
          </p:cNvPr>
          <p:cNvSpPr/>
          <p:nvPr/>
        </p:nvSpPr>
        <p:spPr>
          <a:xfrm>
            <a:off x="1514168" y="1691148"/>
            <a:ext cx="1907458" cy="60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52AEFA-6A1C-5C07-3EE6-8D8423518BF6}"/>
              </a:ext>
            </a:extLst>
          </p:cNvPr>
          <p:cNvSpPr/>
          <p:nvPr/>
        </p:nvSpPr>
        <p:spPr>
          <a:xfrm>
            <a:off x="3726426" y="1691148"/>
            <a:ext cx="1907458" cy="60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Subject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40A1D-2F1A-5805-73FE-0E81C0DB7734}"/>
              </a:ext>
            </a:extLst>
          </p:cNvPr>
          <p:cNvSpPr/>
          <p:nvPr/>
        </p:nvSpPr>
        <p:spPr>
          <a:xfrm>
            <a:off x="1514168" y="2453147"/>
            <a:ext cx="5122606" cy="31414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F4A04F-6E94-B2CB-39B5-2DEF880E8A31}"/>
              </a:ext>
            </a:extLst>
          </p:cNvPr>
          <p:cNvSpPr/>
          <p:nvPr/>
        </p:nvSpPr>
        <p:spPr>
          <a:xfrm>
            <a:off x="1666568" y="2598174"/>
            <a:ext cx="1907458" cy="609600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Student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A45A-359D-D852-84B1-34F7A77DDE95}"/>
              </a:ext>
            </a:extLst>
          </p:cNvPr>
          <p:cNvSpPr/>
          <p:nvPr/>
        </p:nvSpPr>
        <p:spPr>
          <a:xfrm>
            <a:off x="4380271" y="2598174"/>
            <a:ext cx="1907458" cy="609600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E4B861-9933-1872-872B-7B2560CF7178}"/>
              </a:ext>
            </a:extLst>
          </p:cNvPr>
          <p:cNvSpPr/>
          <p:nvPr/>
        </p:nvSpPr>
        <p:spPr>
          <a:xfrm>
            <a:off x="6916993" y="4050888"/>
            <a:ext cx="1425678" cy="4227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submit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D422D7-FF03-48EF-5732-6D8B438A4E69}"/>
              </a:ext>
            </a:extLst>
          </p:cNvPr>
          <p:cNvSpPr/>
          <p:nvPr/>
        </p:nvSpPr>
        <p:spPr>
          <a:xfrm>
            <a:off x="6916993" y="4784620"/>
            <a:ext cx="1425678" cy="422789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Approve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519189-E795-8D44-1776-C1088D8A3C90}"/>
              </a:ext>
            </a:extLst>
          </p:cNvPr>
          <p:cNvSpPr/>
          <p:nvPr/>
        </p:nvSpPr>
        <p:spPr>
          <a:xfrm>
            <a:off x="2104103" y="796413"/>
            <a:ext cx="5791200" cy="5837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Teacher and admin Dashboard </a:t>
            </a:r>
          </a:p>
        </p:txBody>
      </p:sp>
    </p:spTree>
    <p:extLst>
      <p:ext uri="{BB962C8B-B14F-4D97-AF65-F5344CB8AC3E}">
        <p14:creationId xmlns:p14="http://schemas.microsoft.com/office/powerpoint/2010/main" val="2712029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1C0C-00B7-28E9-7EFE-2732F9D5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251290" cy="1325562"/>
          </a:xfrm>
        </p:spPr>
        <p:txBody>
          <a:bodyPr>
            <a:normAutofit fontScale="90000"/>
          </a:bodyPr>
          <a:lstStyle/>
          <a:p>
            <a:r>
              <a:rPr lang="en-US" dirty="0"/>
              <a:t>    Use Case 3 - Edit and View Timetable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E6809-FB00-F828-E542-729C3541C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 can Edit or update Student’s and Teacher’s Time Table</a:t>
            </a:r>
          </a:p>
          <a:p>
            <a:r>
              <a:rPr lang="en-US" dirty="0"/>
              <a:t>Students can view their class Time Table</a:t>
            </a:r>
          </a:p>
          <a:p>
            <a:r>
              <a:rPr lang="en-US" dirty="0"/>
              <a:t>Teacher can view their own Time 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064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0B057-E27A-E57B-A5EC-F640BB20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Student/Admin Dashboard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C2ADD6-4373-E83F-87D1-70345ED6E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9904028"/>
              </p:ext>
            </p:extLst>
          </p:nvPr>
        </p:nvGraphicFramePr>
        <p:xfrm>
          <a:off x="457200" y="2008238"/>
          <a:ext cx="8229599" cy="3955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4">
                  <a:extLst>
                    <a:ext uri="{9D8B030D-6E8A-4147-A177-3AD203B41FA5}">
                      <a16:colId xmlns:a16="http://schemas.microsoft.com/office/drawing/2014/main" val="3958408181"/>
                    </a:ext>
                  </a:extLst>
                </a:gridCol>
                <a:gridCol w="832230">
                  <a:extLst>
                    <a:ext uri="{9D8B030D-6E8A-4147-A177-3AD203B41FA5}">
                      <a16:colId xmlns:a16="http://schemas.microsoft.com/office/drawing/2014/main" val="3773880498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75090494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84935592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1890428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097322309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324268247"/>
                    </a:ext>
                  </a:extLst>
                </a:gridCol>
              </a:tblGrid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DAY/SUBJECT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746989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676675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Tue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691532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702783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 err="1"/>
                        <a:t>Thur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146306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 err="1"/>
                        <a:t>Frid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6354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1519BAA-7C24-0C96-ED89-6A15214B957F}"/>
              </a:ext>
            </a:extLst>
          </p:cNvPr>
          <p:cNvSpPr/>
          <p:nvPr/>
        </p:nvSpPr>
        <p:spPr>
          <a:xfrm>
            <a:off x="6381135" y="1268362"/>
            <a:ext cx="1966452" cy="5112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1F77BD-593A-D73E-8C73-BEBFAC3FCA83}"/>
              </a:ext>
            </a:extLst>
          </p:cNvPr>
          <p:cNvSpPr/>
          <p:nvPr/>
        </p:nvSpPr>
        <p:spPr>
          <a:xfrm>
            <a:off x="7143135" y="6160573"/>
            <a:ext cx="1425678" cy="422789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Approve</a:t>
            </a:r>
          </a:p>
        </p:txBody>
      </p:sp>
    </p:spTree>
    <p:extLst>
      <p:ext uri="{BB962C8B-B14F-4D97-AF65-F5344CB8AC3E}">
        <p14:creationId xmlns:p14="http://schemas.microsoft.com/office/powerpoint/2010/main" val="2624709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7C75-A7B3-F212-1388-DFBE2AE03F5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Teacher/Admin Dashboard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E35B3164-5BC4-4FBA-7B59-0223CB8F2C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8503066"/>
              </p:ext>
            </p:extLst>
          </p:nvPr>
        </p:nvGraphicFramePr>
        <p:xfrm>
          <a:off x="457201" y="1919749"/>
          <a:ext cx="8229599" cy="3955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4">
                  <a:extLst>
                    <a:ext uri="{9D8B030D-6E8A-4147-A177-3AD203B41FA5}">
                      <a16:colId xmlns:a16="http://schemas.microsoft.com/office/drawing/2014/main" val="3958408181"/>
                    </a:ext>
                  </a:extLst>
                </a:gridCol>
                <a:gridCol w="832230">
                  <a:extLst>
                    <a:ext uri="{9D8B030D-6E8A-4147-A177-3AD203B41FA5}">
                      <a16:colId xmlns:a16="http://schemas.microsoft.com/office/drawing/2014/main" val="3773880498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75090494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84935592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1890428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097322309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324268247"/>
                    </a:ext>
                  </a:extLst>
                </a:gridCol>
              </a:tblGrid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DAY/Period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746989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Class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676675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Tue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Class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691532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702783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 err="1"/>
                        <a:t>Thur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146306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 err="1"/>
                        <a:t>Frid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Class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6354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C1B0028-A18D-630D-4967-353A332D7F05}"/>
              </a:ext>
            </a:extLst>
          </p:cNvPr>
          <p:cNvSpPr/>
          <p:nvPr/>
        </p:nvSpPr>
        <p:spPr>
          <a:xfrm>
            <a:off x="6449961" y="1268362"/>
            <a:ext cx="1966452" cy="5112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C3C95A-6954-9AEB-25CD-615713C7AF6A}"/>
              </a:ext>
            </a:extLst>
          </p:cNvPr>
          <p:cNvSpPr/>
          <p:nvPr/>
        </p:nvSpPr>
        <p:spPr>
          <a:xfrm>
            <a:off x="6990735" y="6014885"/>
            <a:ext cx="1425678" cy="422789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Approve</a:t>
            </a:r>
          </a:p>
        </p:txBody>
      </p:sp>
    </p:spTree>
    <p:extLst>
      <p:ext uri="{BB962C8B-B14F-4D97-AF65-F5344CB8AC3E}">
        <p14:creationId xmlns:p14="http://schemas.microsoft.com/office/powerpoint/2010/main" val="632757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Use Case </a:t>
            </a:r>
            <a:r>
              <a:rPr lang="en-IN" dirty="0"/>
              <a:t>4</a:t>
            </a:r>
            <a:r>
              <a:rPr dirty="0"/>
              <a:t> - Edit and View 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Faculty can update attendance records</a:t>
            </a:r>
          </a:p>
          <a:p>
            <a:r>
              <a:rPr dirty="0"/>
              <a:t>Students can view their attendance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54AA6-565A-2D4C-60F9-2A2C5773ECB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Student Dashboard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60138DA0-F352-2953-CC41-944ADA310A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058463"/>
              </p:ext>
            </p:extLst>
          </p:nvPr>
        </p:nvGraphicFramePr>
        <p:xfrm>
          <a:off x="457201" y="2008238"/>
          <a:ext cx="8229600" cy="3955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863">
                  <a:extLst>
                    <a:ext uri="{9D8B030D-6E8A-4147-A177-3AD203B41FA5}">
                      <a16:colId xmlns:a16="http://schemas.microsoft.com/office/drawing/2014/main" val="3958408181"/>
                    </a:ext>
                  </a:extLst>
                </a:gridCol>
                <a:gridCol w="611452">
                  <a:extLst>
                    <a:ext uri="{9D8B030D-6E8A-4147-A177-3AD203B41FA5}">
                      <a16:colId xmlns:a16="http://schemas.microsoft.com/office/drawing/2014/main" val="3773880498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75090494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84935592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1890428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097322309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324268247"/>
                    </a:ext>
                  </a:extLst>
                </a:gridCol>
              </a:tblGrid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DATE/SUBJECT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D6………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746989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676675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691532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S3</a:t>
                      </a:r>
                    </a:p>
                    <a:p>
                      <a:r>
                        <a:rPr lang="en-IN" dirty="0"/>
                        <a:t>…….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702783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146306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6354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1BC17DC-6F7B-E77D-F923-ED0F28610A7E}"/>
              </a:ext>
            </a:extLst>
          </p:cNvPr>
          <p:cNvSpPr/>
          <p:nvPr/>
        </p:nvSpPr>
        <p:spPr>
          <a:xfrm>
            <a:off x="6381135" y="1268362"/>
            <a:ext cx="1966452" cy="5112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2517993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FD8C-0495-BAD4-4E9E-485355419E7C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Teacher/Admin Dashboard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D9F301B6-1A9E-92C5-2ADF-F6B7550795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1866451"/>
              </p:ext>
            </p:extLst>
          </p:nvPr>
        </p:nvGraphicFramePr>
        <p:xfrm>
          <a:off x="457201" y="2008238"/>
          <a:ext cx="8229600" cy="3955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863">
                  <a:extLst>
                    <a:ext uri="{9D8B030D-6E8A-4147-A177-3AD203B41FA5}">
                      <a16:colId xmlns:a16="http://schemas.microsoft.com/office/drawing/2014/main" val="3958408181"/>
                    </a:ext>
                  </a:extLst>
                </a:gridCol>
                <a:gridCol w="611452">
                  <a:extLst>
                    <a:ext uri="{9D8B030D-6E8A-4147-A177-3AD203B41FA5}">
                      <a16:colId xmlns:a16="http://schemas.microsoft.com/office/drawing/2014/main" val="3773880498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75090494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84935592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1890428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097322309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324268247"/>
                    </a:ext>
                  </a:extLst>
                </a:gridCol>
              </a:tblGrid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STUDENT NAME/SUBJECT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D6………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746989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A/P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A/P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A/P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676675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691532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r>
                        <a:rPr lang="en-IN" dirty="0"/>
                        <a:t>S3</a:t>
                      </a:r>
                    </a:p>
                    <a:p>
                      <a:r>
                        <a:rPr lang="en-IN" dirty="0"/>
                        <a:t>…….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702783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146306"/>
                  </a:ext>
                </a:extLst>
              </a:tr>
              <a:tr h="65917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6354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5573048-29EF-5274-24C6-64A9BC8CAFCD}"/>
              </a:ext>
            </a:extLst>
          </p:cNvPr>
          <p:cNvSpPr/>
          <p:nvPr/>
        </p:nvSpPr>
        <p:spPr>
          <a:xfrm>
            <a:off x="6381135" y="1268362"/>
            <a:ext cx="1966452" cy="5112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9F0A4-753B-13E9-28A4-E1D8E55620F8}"/>
              </a:ext>
            </a:extLst>
          </p:cNvPr>
          <p:cNvSpPr/>
          <p:nvPr/>
        </p:nvSpPr>
        <p:spPr>
          <a:xfrm>
            <a:off x="3731341" y="1268361"/>
            <a:ext cx="1966452" cy="5112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A6E056-97A5-1A66-0FC8-6601D6A5C4CE}"/>
              </a:ext>
            </a:extLst>
          </p:cNvPr>
          <p:cNvSpPr/>
          <p:nvPr/>
        </p:nvSpPr>
        <p:spPr>
          <a:xfrm>
            <a:off x="1081548" y="1268362"/>
            <a:ext cx="1966452" cy="5112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Month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8EC4D-EE43-931F-F9DB-AE317721C6F8}"/>
              </a:ext>
            </a:extLst>
          </p:cNvPr>
          <p:cNvSpPr/>
          <p:nvPr/>
        </p:nvSpPr>
        <p:spPr>
          <a:xfrm>
            <a:off x="6990735" y="6014885"/>
            <a:ext cx="1425678" cy="422789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Approve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D7575B-EE8B-F095-6C65-6DA104184AE6}"/>
              </a:ext>
            </a:extLst>
          </p:cNvPr>
          <p:cNvSpPr/>
          <p:nvPr/>
        </p:nvSpPr>
        <p:spPr>
          <a:xfrm>
            <a:off x="5107857" y="6014884"/>
            <a:ext cx="1425678" cy="422789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Submit</a:t>
            </a:r>
          </a:p>
        </p:txBody>
      </p:sp>
    </p:spTree>
    <p:extLst>
      <p:ext uri="{BB962C8B-B14F-4D97-AF65-F5344CB8AC3E}">
        <p14:creationId xmlns:p14="http://schemas.microsoft.com/office/powerpoint/2010/main" val="3237500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Use Case </a:t>
            </a:r>
            <a:r>
              <a:rPr lang="en-IN" dirty="0"/>
              <a:t>5</a:t>
            </a:r>
            <a:r>
              <a:rPr dirty="0"/>
              <a:t>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IN" dirty="0"/>
              <a:t>Edit and view assignments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can upload their assignment file</a:t>
            </a:r>
          </a:p>
          <a:p>
            <a:r>
              <a:rPr lang="en-US" dirty="0"/>
              <a:t>Faculty can view and grade the assignments and can also give the feedback </a:t>
            </a:r>
          </a:p>
          <a:p>
            <a:r>
              <a:rPr lang="en-US" dirty="0"/>
              <a:t>Admin can view the uploaded file, edit the grade and approve the grade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 Case </a:t>
            </a:r>
            <a:r>
              <a:rPr lang="en-IN" dirty="0"/>
              <a:t>6</a:t>
            </a:r>
            <a:r>
              <a:rPr dirty="0"/>
              <a:t> - File Repository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Faculty &amp; Students: Upload project reports and assignments</a:t>
            </a:r>
          </a:p>
          <a:p>
            <a:r>
              <a:t>Admin: View, download, delete any file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Misuse Cases (Vulnerabilities)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SQL Injection</a:t>
            </a:r>
          </a:p>
          <a:p>
            <a:r>
              <a:t>Unauthorized File Downloads</a:t>
            </a:r>
          </a:p>
          <a:p>
            <a:r>
              <a:t>Unrestricted File Upload</a:t>
            </a:r>
          </a:p>
          <a:p>
            <a:r>
              <a:t>Password Reset Exploits</a:t>
            </a:r>
          </a:p>
          <a:p>
            <a:r>
              <a:t>Brute-Force Attacks</a:t>
            </a:r>
          </a:p>
          <a:p>
            <a:r>
              <a:t>Typosquatting Libraries</a:t>
            </a:r>
          </a:p>
          <a:p>
            <a:r>
              <a:t>API DoS Attacks</a:t>
            </a:r>
          </a:p>
          <a:p>
            <a:r>
              <a:t>Exposed Config Files</a:t>
            </a:r>
          </a:p>
          <a:p>
            <a:r>
              <a:t>URL Access Control Bypass</a:t>
            </a:r>
          </a:p>
          <a:p>
            <a:r>
              <a:t>CAPTCHA Bypass</a:t>
            </a:r>
          </a:p>
          <a:p>
            <a:r>
              <a:t>Exposed Password Files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Misuse Case 1 - 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Vulnerability: Raw SQL used in login</a:t>
            </a:r>
          </a:p>
          <a:p>
            <a:r>
              <a:rPr dirty="0"/>
              <a:t>Exploit: View DB schema, Retrieve credentials, Edit data without auth</a:t>
            </a:r>
            <a:r>
              <a:rPr lang="en-IN" dirty="0" err="1"/>
              <a:t>orization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Misuse Case 2 - Unauthorized File Downloads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No auth checks on downloads</a:t>
            </a:r>
          </a:p>
          <a:p>
            <a:r>
              <a:t>Exploit: Brute-force filenames to access sensitive files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Misuse Case 3 - Unrestricted File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Weak file upload permissions</a:t>
            </a:r>
          </a:p>
          <a:p>
            <a:r>
              <a:t>Exploit: Upload script files without admin credentials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Misuse Case 4 - Password Reset Exploit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Weak, guessable security questions</a:t>
            </a:r>
          </a:p>
          <a:p>
            <a:r>
              <a:t>Exploit: Reset passwords using public profile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Misuse Case 5 - Brute-Force via Public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No CAPTCHA/rate limits</a:t>
            </a:r>
          </a:p>
          <a:p>
            <a:r>
              <a:t>Exploit: Use public data for brute-force login attempts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Misuse Case 6 - Typosquatting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Use of typo’d or outdated libraries</a:t>
            </a:r>
          </a:p>
          <a:p>
            <a:r>
              <a:t>Exploit: Insecure dependencies in requirements.txt or backups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Misuse Case 7 - API Misuse for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No API throttling</a:t>
            </a:r>
          </a:p>
          <a:p>
            <a:r>
              <a:t>Exploit: Overload server with repeated API calls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Misuse Case 8 - Exposed Config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Public config file access</a:t>
            </a:r>
          </a:p>
          <a:p>
            <a:r>
              <a:t>Exploit: Download .env, .git files for credentials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Misuse Case 9 - Unauthorized URL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Missing backend role checks</a:t>
            </a:r>
          </a:p>
          <a:p>
            <a:r>
              <a:t>Exploit: Access admin URLs like /admin/logs as a student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Misuse Case 10 - CAPTCHA Bypass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Simple/bypassable CAPTCHA</a:t>
            </a:r>
          </a:p>
          <a:p>
            <a:r>
              <a:t>Exploit: Disable JavaScript or use script bypass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Misuse Case 11 - Exposed Password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Poorly secured password files</a:t>
            </a:r>
          </a:p>
          <a:p>
            <a:r>
              <a:t>Exploit: Extract admin credentials from file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F634-0FC6-0D1F-91B0-21A3EC3FE1E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Road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4DAD5-EAEC-4C39-0F84-18BA400206A0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8558982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Role-Based Login &amp; Dashboard ( 13 / 06 / 2025 )</a:t>
            </a:r>
          </a:p>
          <a:p>
            <a:r>
              <a:rPr lang="en-US" dirty="0"/>
              <a:t>Edit or View Timetable ( 20 / 06 / 2025 )</a:t>
            </a:r>
          </a:p>
          <a:p>
            <a:r>
              <a:rPr lang="en-US" dirty="0"/>
              <a:t>Edit and View Marks ( 04 / 07 / 2025 )</a:t>
            </a:r>
          </a:p>
          <a:p>
            <a:r>
              <a:rPr lang="en-US" dirty="0"/>
              <a:t>Edit and View Attendance ( 04 / 07 / 2025 )</a:t>
            </a:r>
          </a:p>
          <a:p>
            <a:r>
              <a:rPr lang="en-US" dirty="0"/>
              <a:t>File Repository Access (11/07/2025)</a:t>
            </a:r>
          </a:p>
          <a:p>
            <a:r>
              <a:rPr lang="en-US" dirty="0"/>
              <a:t>Edit and view assignments (18/07/2025)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00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981</Words>
  <Application>Microsoft Office PowerPoint</Application>
  <PresentationFormat>On-screen Show (4:3)</PresentationFormat>
  <Paragraphs>243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Wingdings</vt:lpstr>
      <vt:lpstr>Office Theme</vt:lpstr>
      <vt:lpstr>Bobby’s Application - Vulnerable App</vt:lpstr>
      <vt:lpstr>Use Cases (Normal Functionality)</vt:lpstr>
      <vt:lpstr>Use Case 1 - Role-Based Login</vt:lpstr>
      <vt:lpstr>Login page</vt:lpstr>
      <vt:lpstr>Student registration</vt:lpstr>
      <vt:lpstr>Teacher registration</vt:lpstr>
      <vt:lpstr>Forgot password</vt:lpstr>
      <vt:lpstr>Dashboard: During login based on the role the corresponding dashboard is loaded</vt:lpstr>
      <vt:lpstr>Use Case 2 - Edit and View Marks</vt:lpstr>
      <vt:lpstr>PowerPoint Presentation</vt:lpstr>
      <vt:lpstr>PowerPoint Presentation</vt:lpstr>
      <vt:lpstr>    Use Case 3 - Edit and View Timetable</vt:lpstr>
      <vt:lpstr>Student/Admin Dashboard</vt:lpstr>
      <vt:lpstr>PowerPoint Presentation</vt:lpstr>
      <vt:lpstr>Use Case 4 - Edit and View Attendance</vt:lpstr>
      <vt:lpstr>PowerPoint Presentation</vt:lpstr>
      <vt:lpstr>PowerPoint Presentation</vt:lpstr>
      <vt:lpstr>Use Case 5 – Edit and view assignments</vt:lpstr>
      <vt:lpstr>Use Case 6 - File Repository Access</vt:lpstr>
      <vt:lpstr>Misuse Cases (Vulnerabilities)</vt:lpstr>
      <vt:lpstr>Misuse Case 1 - SQL Injection</vt:lpstr>
      <vt:lpstr>Misuse Case 2 - Unauthorized File Downloads</vt:lpstr>
      <vt:lpstr>Misuse Case 3 - Unrestricted File Upload</vt:lpstr>
      <vt:lpstr>Misuse Case 4 - Password Reset Exploit</vt:lpstr>
      <vt:lpstr>Misuse Case 5 - Brute-Force via Public Profile</vt:lpstr>
      <vt:lpstr>Misuse Case 6 - Typosquatting Libraries</vt:lpstr>
      <vt:lpstr>Misuse Case 7 - API Misuse for DoS</vt:lpstr>
      <vt:lpstr>Misuse Case 8 - Exposed Config Files</vt:lpstr>
      <vt:lpstr>Misuse Case 9 - Unauthorized URL Access</vt:lpstr>
      <vt:lpstr>Misuse Case 10 - CAPTCHA Bypass</vt:lpstr>
      <vt:lpstr>Misuse Case 11 - Exposed Password Files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Glen Paul Chirayath Shaju</cp:lastModifiedBy>
  <cp:revision>12</cp:revision>
  <dcterms:created xsi:type="dcterms:W3CDTF">2013-01-27T09:14:16Z</dcterms:created>
  <dcterms:modified xsi:type="dcterms:W3CDTF">2025-05-28T10:40:26Z</dcterms:modified>
  <cp:category/>
</cp:coreProperties>
</file>