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9" r:id="rId2"/>
    <p:sldId id="256" r:id="rId3"/>
    <p:sldId id="257" r:id="rId4"/>
    <p:sldId id="258" r:id="rId5"/>
    <p:sldId id="259" r:id="rId6"/>
    <p:sldId id="260" r:id="rId7"/>
    <p:sldId id="261" r:id="rId8"/>
    <p:sldId id="262" r:id="rId9"/>
    <p:sldId id="263" r:id="rId10"/>
    <p:sldId id="264" r:id="rId11"/>
    <p:sldId id="265" r:id="rId12"/>
    <p:sldId id="266" r:id="rId13"/>
    <p:sldId id="268" r:id="rId14"/>
    <p:sldId id="270" r:id="rId15"/>
    <p:sldId id="271" r:id="rId16"/>
    <p:sldId id="273" r:id="rId17"/>
    <p:sldId id="274" r:id="rId18"/>
    <p:sldId id="275" r:id="rId19"/>
    <p:sldId id="277" r:id="rId20"/>
    <p:sldId id="278" r:id="rId21"/>
    <p:sldId id="280" r:id="rId22"/>
    <p:sldId id="281" r:id="rId23"/>
    <p:sldId id="282" r:id="rId24"/>
    <p:sldId id="283" r:id="rId25"/>
    <p:sldId id="285" r:id="rId26"/>
    <p:sldId id="286" r:id="rId27"/>
    <p:sldId id="288" r:id="rId28"/>
    <p:sldId id="289" r:id="rId29"/>
    <p:sldId id="290" r:id="rId30"/>
    <p:sldId id="291" r:id="rId31"/>
    <p:sldId id="292" r:id="rId32"/>
    <p:sldId id="293" r:id="rId33"/>
    <p:sldId id="295" r:id="rId34"/>
    <p:sldId id="296" r:id="rId35"/>
    <p:sldId id="297" r:id="rId36"/>
    <p:sldId id="29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03" autoAdjust="0"/>
    <p:restoredTop sz="94660"/>
  </p:normalViewPr>
  <p:slideViewPr>
    <p:cSldViewPr snapToGrid="0">
      <p:cViewPr varScale="1">
        <p:scale>
          <a:sx n="82" d="100"/>
          <a:sy n="82" d="100"/>
        </p:scale>
        <p:origin x="4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09E99-E554-EAAA-397F-CC3D5A9458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BB6912C-0A43-CF71-DA2E-72124E6036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2EE9ABC-DF81-2456-FD7E-BB68838728EB}"/>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5" name="Footer Placeholder 4">
            <a:extLst>
              <a:ext uri="{FF2B5EF4-FFF2-40B4-BE49-F238E27FC236}">
                <a16:creationId xmlns:a16="http://schemas.microsoft.com/office/drawing/2014/main" id="{6A89A929-366A-C116-7246-A2AF596A96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B3D2D4-039A-6ACF-41C5-62FF59DA5F46}"/>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240877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1A1C8-AC34-B768-EEDA-F42E1EE363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FB27EF-B6B1-0121-4E50-6318BD066A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3A9665-8DD4-62A2-C32C-01CAA2FB540F}"/>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5" name="Footer Placeholder 4">
            <a:extLst>
              <a:ext uri="{FF2B5EF4-FFF2-40B4-BE49-F238E27FC236}">
                <a16:creationId xmlns:a16="http://schemas.microsoft.com/office/drawing/2014/main" id="{196D28AE-AAC4-EE81-3557-F5A89D2901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AF1107-63B1-E724-855E-73A95479B456}"/>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2994587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1E7D1-D2C5-31BC-C16F-08CE978F48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CBC873-8620-5C4D-098D-274A6A7874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297C2C-C3F3-6017-1F70-4F9C7FFF4968}"/>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5" name="Footer Placeholder 4">
            <a:extLst>
              <a:ext uri="{FF2B5EF4-FFF2-40B4-BE49-F238E27FC236}">
                <a16:creationId xmlns:a16="http://schemas.microsoft.com/office/drawing/2014/main" id="{B5C94274-2DCF-E8D1-6E2C-7657E59FC9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3AC359-86D7-49B8-51F8-331EB5E69D75}"/>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3234236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1CB0C-1A27-AD75-ADAD-442D1B8E03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92E60E-A867-E53A-2C12-4C7F8FBAB1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10516FC-6429-0C86-90E9-BD42CFD7BB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07FFDC-F9AF-A21B-CE2C-2D1F6E726E5A}"/>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6" name="Footer Placeholder 5">
            <a:extLst>
              <a:ext uri="{FF2B5EF4-FFF2-40B4-BE49-F238E27FC236}">
                <a16:creationId xmlns:a16="http://schemas.microsoft.com/office/drawing/2014/main" id="{C4D2097A-8C9F-A3ED-366D-BAF7AF46C5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25CC28-BCB9-B427-F83D-822420F258BA}"/>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1605663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3A965-56C1-9C1C-B4D6-C79F814FBBE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483330-2751-4477-8F99-B1AA8F11F2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D0448-EE87-BE03-FD0E-2D28F8964A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9F414B3-6CBB-878E-7DA5-E6DAF80C9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7D39AC-4AD9-B4F2-07DC-EB6A9BF2D1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DF80A9-FE24-B178-312E-15990A6048DB}"/>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8" name="Footer Placeholder 7">
            <a:extLst>
              <a:ext uri="{FF2B5EF4-FFF2-40B4-BE49-F238E27FC236}">
                <a16:creationId xmlns:a16="http://schemas.microsoft.com/office/drawing/2014/main" id="{835DC37E-2E01-D2E6-22DF-97AB8DB7C1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222FBFC-F5C2-3367-96BD-5B3C6E798D7C}"/>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3543456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84A2-F98E-8AAE-1CD6-0EB87F6904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757B0C-CEA0-C1B3-371D-EEBB946616E8}"/>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4" name="Footer Placeholder 3">
            <a:extLst>
              <a:ext uri="{FF2B5EF4-FFF2-40B4-BE49-F238E27FC236}">
                <a16:creationId xmlns:a16="http://schemas.microsoft.com/office/drawing/2014/main" id="{FA0F6FF0-4B9C-9430-A93C-2D064F0FC7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2B5026B-0D8C-10AB-3D9E-7195028EB249}"/>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234035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C4B10B-E9C2-9204-4082-6DFC89B32C3B}"/>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3" name="Footer Placeholder 2">
            <a:extLst>
              <a:ext uri="{FF2B5EF4-FFF2-40B4-BE49-F238E27FC236}">
                <a16:creationId xmlns:a16="http://schemas.microsoft.com/office/drawing/2014/main" id="{F06AE79D-9D89-A3EB-EE2B-6C03CF9876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7BB22D5-CBA3-0012-9AD0-F54517B784D8}"/>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1667139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1CEE3-64E1-61D1-4CC6-A6CFDD8CCC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CB62F5-42DC-99FD-729D-3D0A5E6E05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9748D6-F252-AD02-1A5D-DEDD02BD9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226FB1-B9B4-F315-4440-7AB0228F3A10}"/>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6" name="Footer Placeholder 5">
            <a:extLst>
              <a:ext uri="{FF2B5EF4-FFF2-40B4-BE49-F238E27FC236}">
                <a16:creationId xmlns:a16="http://schemas.microsoft.com/office/drawing/2014/main" id="{DA630C60-1695-7869-D625-C4B2891719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D63838-A9A4-C77A-3202-0EB2E9EC90BA}"/>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2310645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ACCD-097A-7596-F539-B91A0CCDA6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6A3C1A-A667-F959-44BE-D3C85A0269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D182825-D7A2-3835-DF92-7D31C7B844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221944-0147-02EC-E85C-DAC54CFB0868}"/>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6" name="Footer Placeholder 5">
            <a:extLst>
              <a:ext uri="{FF2B5EF4-FFF2-40B4-BE49-F238E27FC236}">
                <a16:creationId xmlns:a16="http://schemas.microsoft.com/office/drawing/2014/main" id="{8469ACDC-B237-6BBC-0D36-92DCA4EA5F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F9F4AB-C90C-2561-94B7-AD1C55D59B6A}"/>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1388990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3BD6F-C61C-DE80-7F35-1831025F251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1570FD-195A-AB03-5EF4-A6D370A47A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DD459A-BBD5-FCD6-C5E5-B6F719CB77E1}"/>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5" name="Footer Placeholder 4">
            <a:extLst>
              <a:ext uri="{FF2B5EF4-FFF2-40B4-BE49-F238E27FC236}">
                <a16:creationId xmlns:a16="http://schemas.microsoft.com/office/drawing/2014/main" id="{752F8743-5E85-B70F-F604-13F7DAFB4B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2DAC75-B6F2-86AD-AA9F-7D992A1B5D1D}"/>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2838811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A2491C-5442-6BB3-2E33-19B4788E91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520F4D-4153-0A3C-576E-0C2696BD8D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7D9BE2-B6FA-5BE6-2D9D-3475CAFEF16E}"/>
              </a:ext>
            </a:extLst>
          </p:cNvPr>
          <p:cNvSpPr>
            <a:spLocks noGrp="1"/>
          </p:cNvSpPr>
          <p:nvPr>
            <p:ph type="dt" sz="half" idx="10"/>
          </p:nvPr>
        </p:nvSpPr>
        <p:spPr/>
        <p:txBody>
          <a:bodyPr/>
          <a:lstStyle/>
          <a:p>
            <a:fld id="{1CD2A040-39F6-4131-81A1-F553B2DCD1A8}" type="datetimeFigureOut">
              <a:rPr lang="en-IN" smtClean="0"/>
              <a:t>06-05-2025</a:t>
            </a:fld>
            <a:endParaRPr lang="en-IN"/>
          </a:p>
        </p:txBody>
      </p:sp>
      <p:sp>
        <p:nvSpPr>
          <p:cNvPr id="5" name="Footer Placeholder 4">
            <a:extLst>
              <a:ext uri="{FF2B5EF4-FFF2-40B4-BE49-F238E27FC236}">
                <a16:creationId xmlns:a16="http://schemas.microsoft.com/office/drawing/2014/main" id="{2D472F39-514E-81E2-42FC-D6C744F372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F983F1-50F0-D69D-F49C-71A50FC47662}"/>
              </a:ext>
            </a:extLst>
          </p:cNvPr>
          <p:cNvSpPr>
            <a:spLocks noGrp="1"/>
          </p:cNvSpPr>
          <p:nvPr>
            <p:ph type="sldNum" sz="quarter" idx="12"/>
          </p:nvPr>
        </p:nvSpPr>
        <p:spPr/>
        <p:txBody>
          <a:bodyPr/>
          <a:lstStyle/>
          <a:p>
            <a:fld id="{F15CD311-7BA3-4760-9751-4AC4C5468684}" type="slidenum">
              <a:rPr lang="en-IN" smtClean="0"/>
              <a:t>‹#›</a:t>
            </a:fld>
            <a:endParaRPr lang="en-IN"/>
          </a:p>
        </p:txBody>
      </p:sp>
    </p:spTree>
    <p:extLst>
      <p:ext uri="{BB962C8B-B14F-4D97-AF65-F5344CB8AC3E}">
        <p14:creationId xmlns:p14="http://schemas.microsoft.com/office/powerpoint/2010/main" val="3825583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C47159-F237-C479-4915-EFA60D2BF5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C8F0DF-5502-32ED-1FA8-2ACDC8224D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EBE6AC-8D97-4EAA-B8CB-BD098A9FB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D2A040-39F6-4131-81A1-F553B2DCD1A8}" type="datetimeFigureOut">
              <a:rPr lang="en-IN" smtClean="0"/>
              <a:t>06-05-2025</a:t>
            </a:fld>
            <a:endParaRPr lang="en-IN"/>
          </a:p>
        </p:txBody>
      </p:sp>
      <p:sp>
        <p:nvSpPr>
          <p:cNvPr id="5" name="Footer Placeholder 4">
            <a:extLst>
              <a:ext uri="{FF2B5EF4-FFF2-40B4-BE49-F238E27FC236}">
                <a16:creationId xmlns:a16="http://schemas.microsoft.com/office/drawing/2014/main" id="{EB7DF63B-06D3-B4FC-B506-AC0D6050F6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B85D48F-F2FB-F83D-F5A6-A78C7A9E41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5CD311-7BA3-4760-9751-4AC4C5468684}" type="slidenum">
              <a:rPr lang="en-IN" smtClean="0"/>
              <a:t>‹#›</a:t>
            </a:fld>
            <a:endParaRPr lang="en-IN"/>
          </a:p>
        </p:txBody>
      </p:sp>
    </p:spTree>
    <p:extLst>
      <p:ext uri="{BB962C8B-B14F-4D97-AF65-F5344CB8AC3E}">
        <p14:creationId xmlns:p14="http://schemas.microsoft.com/office/powerpoint/2010/main" val="1354764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localhost:3000/redirect?to=http://kimminich.de?pwned=https://github.com/juice-shop/juice-shop"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rowdin.com/project/owasp-juice-sho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localhost:3000/#/contact"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4B5D5-BD11-F3FF-74AD-C63B400FEDD1}"/>
              </a:ext>
            </a:extLst>
          </p:cNvPr>
          <p:cNvSpPr>
            <a:spLocks noGrp="1"/>
          </p:cNvSpPr>
          <p:nvPr>
            <p:ph idx="1"/>
          </p:nvPr>
        </p:nvSpPr>
        <p:spPr>
          <a:xfrm>
            <a:off x="838200" y="485192"/>
            <a:ext cx="10515600" cy="5691771"/>
          </a:xfrm>
        </p:spPr>
        <p:txBody>
          <a:bodyPr/>
          <a:lstStyle/>
          <a:p>
            <a:pPr marL="0" indent="0" algn="ctr">
              <a:buNone/>
            </a:pPr>
            <a:r>
              <a:rPr lang="en-IN" u="sng" dirty="0">
                <a:latin typeface="Calibri" panose="020F0502020204030204" pitchFamily="34" charset="0"/>
                <a:ea typeface="Calibri" panose="020F0502020204030204" pitchFamily="34" charset="0"/>
                <a:cs typeface="Calibri" panose="020F0502020204030204" pitchFamily="34" charset="0"/>
              </a:rPr>
              <a:t>Vulnerabilities</a:t>
            </a:r>
          </a:p>
          <a:p>
            <a:pPr>
              <a:buFont typeface="Wingdings" panose="05000000000000000000" pitchFamily="2" charset="2"/>
              <a:buChar char="Ø"/>
            </a:pPr>
            <a:r>
              <a:rPr lang="en-IN" sz="2400" dirty="0">
                <a:latin typeface="Calibri" panose="020F0502020204030204" pitchFamily="34" charset="0"/>
                <a:ea typeface="Calibri" panose="020F0502020204030204" pitchFamily="34" charset="0"/>
                <a:cs typeface="Calibri" panose="020F0502020204030204" pitchFamily="34" charset="0"/>
              </a:rPr>
              <a:t>Unvalidated redirects</a:t>
            </a:r>
          </a:p>
          <a:p>
            <a:r>
              <a:rPr lang="en-IN" sz="1400" dirty="0">
                <a:latin typeface="Calibri" panose="020F0502020204030204" pitchFamily="34" charset="0"/>
                <a:ea typeface="Calibri" panose="020F0502020204030204" pitchFamily="34" charset="0"/>
                <a:cs typeface="Calibri" panose="020F0502020204030204" pitchFamily="34" charset="0"/>
              </a:rPr>
              <a:t>Allowlist Bypass</a:t>
            </a:r>
          </a:p>
          <a:p>
            <a:r>
              <a:rPr lang="en-IN" sz="1400" dirty="0">
                <a:latin typeface="Calibri" panose="020F0502020204030204" pitchFamily="34" charset="0"/>
                <a:ea typeface="Calibri" panose="020F0502020204030204" pitchFamily="34" charset="0"/>
                <a:cs typeface="Calibri" panose="020F0502020204030204" pitchFamily="34" charset="0"/>
              </a:rPr>
              <a:t>Outdated Allowlist</a:t>
            </a:r>
          </a:p>
          <a:p>
            <a:pPr>
              <a:buFont typeface="Wingdings" panose="05000000000000000000" pitchFamily="2" charset="2"/>
              <a:buChar char="Ø"/>
            </a:pPr>
            <a:r>
              <a:rPr lang="en-IN" sz="2400" dirty="0">
                <a:latin typeface="Calibri" panose="020F0502020204030204" pitchFamily="34" charset="0"/>
                <a:ea typeface="Calibri" panose="020F0502020204030204" pitchFamily="34" charset="0"/>
                <a:cs typeface="Calibri" panose="020F0502020204030204" pitchFamily="34" charset="0"/>
              </a:rPr>
              <a:t>Broken Anti-Automation</a:t>
            </a:r>
          </a:p>
          <a:p>
            <a:r>
              <a:rPr lang="en-IN" sz="1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CAPTCHA Bypass</a:t>
            </a:r>
          </a:p>
          <a:p>
            <a:r>
              <a:rPr lang="en-IN" sz="1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Extra Language</a:t>
            </a:r>
            <a:endParaRPr lang="en-IN" sz="1400" dirty="0">
              <a:solidFill>
                <a:srgbClr val="333333"/>
              </a:solidFill>
              <a:latin typeface="Calibri" panose="020F0502020204030204" pitchFamily="34" charset="0"/>
              <a:ea typeface="Calibri" panose="020F0502020204030204" pitchFamily="34" charset="0"/>
              <a:cs typeface="Calibri" panose="020F0502020204030204" pitchFamily="34" charset="0"/>
            </a:endParaRPr>
          </a:p>
          <a:p>
            <a:r>
              <a:rPr lang="en-IN" sz="1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Multiple Likes</a:t>
            </a:r>
          </a:p>
          <a:p>
            <a:r>
              <a:rPr lang="en-IN" sz="1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Reset Morty's Password</a:t>
            </a:r>
            <a:endParaRPr lang="en-IN" sz="1400" dirty="0">
              <a:solidFill>
                <a:srgbClr val="333333"/>
              </a:solidFill>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r>
              <a:rPr lang="en-IN" sz="2400" dirty="0">
                <a:solidFill>
                  <a:srgbClr val="333333"/>
                </a:solidFill>
                <a:latin typeface="Calibri" panose="020F0502020204030204" pitchFamily="34" charset="0"/>
                <a:ea typeface="Calibri" panose="020F0502020204030204" pitchFamily="34" charset="0"/>
                <a:cs typeface="Calibri" panose="020F0502020204030204" pitchFamily="34" charset="0"/>
              </a:rPr>
              <a:t>Cryptographic issues</a:t>
            </a:r>
          </a:p>
          <a:p>
            <a:r>
              <a:rPr lang="en-IN" sz="1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Forged Coupon</a:t>
            </a:r>
          </a:p>
          <a:p>
            <a:r>
              <a:rPr lang="en-IN" sz="1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Imaginary Challenge</a:t>
            </a:r>
            <a:endParaRPr lang="en-IN" sz="1400" dirty="0">
              <a:solidFill>
                <a:srgbClr val="333333"/>
              </a:solidFill>
              <a:latin typeface="Calibri" panose="020F0502020204030204" pitchFamily="34" charset="0"/>
              <a:ea typeface="Calibri" panose="020F0502020204030204" pitchFamily="34" charset="0"/>
              <a:cs typeface="Calibri" panose="020F0502020204030204" pitchFamily="34" charset="0"/>
            </a:endParaRPr>
          </a:p>
          <a:p>
            <a:r>
              <a:rPr lang="en-IN" sz="1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Nested Easter Egg</a:t>
            </a:r>
          </a:p>
          <a:p>
            <a:r>
              <a:rPr lang="en-IN" sz="1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Premium Paywall</a:t>
            </a:r>
          </a:p>
          <a:p>
            <a:r>
              <a:rPr lang="en-IN" sz="1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Weird Crypto</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9321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E857-7C3D-CE76-5A7D-DBF414E6E2C6}"/>
              </a:ext>
            </a:extLst>
          </p:cNvPr>
          <p:cNvSpPr>
            <a:spLocks noGrp="1"/>
          </p:cNvSpPr>
          <p:nvPr>
            <p:ph type="ctrTitle"/>
          </p:nvPr>
        </p:nvSpPr>
        <p:spPr>
          <a:xfrm>
            <a:off x="1524000" y="1122363"/>
            <a:ext cx="8450580" cy="927417"/>
          </a:xfrm>
        </p:spPr>
        <p:txBody>
          <a:bodyPr/>
          <a:lstStyle/>
          <a:p>
            <a:r>
              <a:rPr lang="en-IN" dirty="0"/>
              <a:t>Unvalidated redirects</a:t>
            </a:r>
          </a:p>
        </p:txBody>
      </p:sp>
      <p:sp>
        <p:nvSpPr>
          <p:cNvPr id="8" name="Rectangle 3">
            <a:extLst>
              <a:ext uri="{FF2B5EF4-FFF2-40B4-BE49-F238E27FC236}">
                <a16:creationId xmlns:a16="http://schemas.microsoft.com/office/drawing/2014/main" id="{FC8C3D42-B45F-5F43-1736-3F66E1A3C859}"/>
              </a:ext>
            </a:extLst>
          </p:cNvPr>
          <p:cNvSpPr>
            <a:spLocks noGrp="1" noChangeArrowheads="1"/>
          </p:cNvSpPr>
          <p:nvPr>
            <p:ph type="subTitle" idx="1"/>
          </p:nvPr>
        </p:nvSpPr>
        <p:spPr bwMode="auto">
          <a:xfrm>
            <a:off x="1409700" y="4957174"/>
            <a:ext cx="65" cy="7825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3489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333333"/>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solidFill>
                <a:srgbClr val="333333"/>
              </a:solidFill>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333333"/>
              </a:solidFill>
              <a:effectLst/>
              <a:latin typeface="Helvetica Neue"/>
            </a:endParaRPr>
          </a:p>
        </p:txBody>
      </p:sp>
      <p:graphicFrame>
        <p:nvGraphicFramePr>
          <p:cNvPr id="9" name="Table 8">
            <a:extLst>
              <a:ext uri="{FF2B5EF4-FFF2-40B4-BE49-F238E27FC236}">
                <a16:creationId xmlns:a16="http://schemas.microsoft.com/office/drawing/2014/main" id="{2060DA4D-137F-2637-84B0-F5A996B7B308}"/>
              </a:ext>
            </a:extLst>
          </p:cNvPr>
          <p:cNvGraphicFramePr>
            <a:graphicFrameLocks noGrp="1"/>
          </p:cNvGraphicFramePr>
          <p:nvPr>
            <p:extLst>
              <p:ext uri="{D42A27DB-BD31-4B8C-83A1-F6EECF244321}">
                <p14:modId xmlns:p14="http://schemas.microsoft.com/office/powerpoint/2010/main" val="3581933063"/>
              </p:ext>
            </p:extLst>
          </p:nvPr>
        </p:nvGraphicFramePr>
        <p:xfrm>
          <a:off x="1409699" y="2049780"/>
          <a:ext cx="9202200" cy="2103120"/>
        </p:xfrm>
        <a:graphic>
          <a:graphicData uri="http://schemas.openxmlformats.org/drawingml/2006/table">
            <a:tbl>
              <a:tblPr/>
              <a:tblGrid>
                <a:gridCol w="3067400">
                  <a:extLst>
                    <a:ext uri="{9D8B030D-6E8A-4147-A177-3AD203B41FA5}">
                      <a16:colId xmlns:a16="http://schemas.microsoft.com/office/drawing/2014/main" val="306866302"/>
                    </a:ext>
                  </a:extLst>
                </a:gridCol>
                <a:gridCol w="3067400">
                  <a:extLst>
                    <a:ext uri="{9D8B030D-6E8A-4147-A177-3AD203B41FA5}">
                      <a16:colId xmlns:a16="http://schemas.microsoft.com/office/drawing/2014/main" val="3569656351"/>
                    </a:ext>
                  </a:extLst>
                </a:gridCol>
                <a:gridCol w="3067400">
                  <a:extLst>
                    <a:ext uri="{9D8B030D-6E8A-4147-A177-3AD203B41FA5}">
                      <a16:colId xmlns:a16="http://schemas.microsoft.com/office/drawing/2014/main" val="1348930573"/>
                    </a:ext>
                  </a:extLst>
                </a:gridCol>
              </a:tblGrid>
              <a:tr h="0">
                <a:tc>
                  <a:txBody>
                    <a:bodyPr/>
                    <a:lstStyle/>
                    <a:p>
                      <a:pPr algn="l"/>
                      <a:r>
                        <a:rPr lang="en-IN" dirty="0">
                          <a:effectLst/>
                        </a:rPr>
                        <a:t>Allowlist Bypass</a:t>
                      </a:r>
                    </a:p>
                  </a:txBody>
                  <a:tcPr marL="99060" marR="990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dirty="0">
                          <a:effectLst/>
                        </a:rPr>
                        <a:t>Enforce a redirect to a page you are not supposed to redirect to.</a:t>
                      </a:r>
                    </a:p>
                  </a:txBody>
                  <a:tcPr marL="99060" marR="990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IN">
                          <a:effectLst/>
                        </a:rPr>
                        <a:t>⭐⭐⭐⭐</a:t>
                      </a:r>
                    </a:p>
                  </a:txBody>
                  <a:tcPr marL="99060" marR="990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23021685"/>
                  </a:ext>
                </a:extLst>
              </a:tr>
              <a:tr h="0">
                <a:tc>
                  <a:txBody>
                    <a:bodyPr/>
                    <a:lstStyle/>
                    <a:p>
                      <a:pPr algn="l"/>
                      <a:r>
                        <a:rPr lang="en-IN">
                          <a:effectLst/>
                        </a:rPr>
                        <a:t>Outdated Allowlist</a:t>
                      </a:r>
                    </a:p>
                  </a:txBody>
                  <a:tcPr marL="99060" marR="990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8F8F8"/>
                    </a:solidFill>
                  </a:tcPr>
                </a:tc>
                <a:tc>
                  <a:txBody>
                    <a:bodyPr/>
                    <a:lstStyle/>
                    <a:p>
                      <a:pPr algn="l"/>
                      <a:r>
                        <a:rPr lang="en-US">
                          <a:effectLst/>
                        </a:rPr>
                        <a:t>Let us redirect you to one of our crypto currency addresses which are not promoted any longer.</a:t>
                      </a:r>
                    </a:p>
                  </a:txBody>
                  <a:tcPr marL="99060" marR="990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8F8F8"/>
                    </a:solidFill>
                  </a:tcPr>
                </a:tc>
                <a:tc>
                  <a:txBody>
                    <a:bodyPr/>
                    <a:lstStyle/>
                    <a:p>
                      <a:endParaRPr lang="en-IN" dirty="0"/>
                    </a:p>
                  </a:txBody>
                  <a:tcPr>
                    <a:lnL w="7620" cap="flat" cmpd="sng" algn="ctr">
                      <a:solidFill>
                        <a:srgbClr val="DDDDDD"/>
                      </a:solidFill>
                      <a:prstDash val="solid"/>
                      <a:round/>
                      <a:headEnd type="none" w="med" len="med"/>
                      <a:tailEnd type="none" w="med" len="med"/>
                    </a:lnL>
                    <a:lnT w="7620" cap="flat" cmpd="sng" algn="ctr">
                      <a:solidFill>
                        <a:srgbClr val="DDDDDD"/>
                      </a:solidFill>
                      <a:prstDash val="solid"/>
                      <a:round/>
                      <a:headEnd type="none" w="med" len="med"/>
                      <a:tailEnd type="none" w="med" len="med"/>
                    </a:lnT>
                  </a:tcPr>
                </a:tc>
                <a:extLst>
                  <a:ext uri="{0D108BD9-81ED-4DB2-BD59-A6C34878D82A}">
                    <a16:rowId xmlns:a16="http://schemas.microsoft.com/office/drawing/2014/main" val="2152548951"/>
                  </a:ext>
                </a:extLst>
              </a:tr>
            </a:tbl>
          </a:graphicData>
        </a:graphic>
      </p:graphicFrame>
      <p:sp>
        <p:nvSpPr>
          <p:cNvPr id="10" name="TextBox 9">
            <a:extLst>
              <a:ext uri="{FF2B5EF4-FFF2-40B4-BE49-F238E27FC236}">
                <a16:creationId xmlns:a16="http://schemas.microsoft.com/office/drawing/2014/main" id="{052DC9E2-C14F-722E-1605-C501F0866611}"/>
              </a:ext>
            </a:extLst>
          </p:cNvPr>
          <p:cNvSpPr txBox="1"/>
          <p:nvPr/>
        </p:nvSpPr>
        <p:spPr>
          <a:xfrm>
            <a:off x="1524000" y="4610100"/>
            <a:ext cx="8403711" cy="1446550"/>
          </a:xfrm>
          <a:prstGeom prst="rect">
            <a:avLst/>
          </a:prstGeom>
          <a:noFill/>
        </p:spPr>
        <p:txBody>
          <a:bodyPr wrap="none" rtlCol="0">
            <a:spAutoFit/>
          </a:bodyPr>
          <a:lstStyle/>
          <a:p>
            <a:pPr marL="285750" indent="-285750">
              <a:buFont typeface="Wingdings" panose="05000000000000000000" pitchFamily="2" charset="2"/>
              <a:buChar char="Ø"/>
            </a:pPr>
            <a:r>
              <a:rPr lang="en-US" dirty="0"/>
              <a:t>. </a:t>
            </a:r>
            <a:r>
              <a:rPr lang="en-US" b="1" dirty="0"/>
              <a:t>What Is the Allowlist Bypass Vulnerability?</a:t>
            </a:r>
          </a:p>
          <a:p>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The application tries to prevent users from being redirected to unauthorized URLs by only allowing redirects to a </a:t>
            </a:r>
          </a:p>
          <a:p>
            <a:r>
              <a:rPr lang="en-US" sz="1400" dirty="0">
                <a:latin typeface="Calibri" panose="020F0502020204030204" pitchFamily="34" charset="0"/>
                <a:ea typeface="Calibri" panose="020F0502020204030204" pitchFamily="34" charset="0"/>
                <a:cs typeface="Calibri" panose="020F0502020204030204" pitchFamily="34" charset="0"/>
              </a:rPr>
              <a:t>pre-approved list of "safe" URLs — this is called an </a:t>
            </a:r>
            <a:r>
              <a:rPr lang="en-US" sz="1400" i="1" dirty="0">
                <a:latin typeface="Calibri" panose="020F0502020204030204" pitchFamily="34" charset="0"/>
                <a:ea typeface="Calibri" panose="020F0502020204030204" pitchFamily="34" charset="0"/>
                <a:cs typeface="Calibri" panose="020F0502020204030204" pitchFamily="34" charset="0"/>
              </a:rPr>
              <a:t>allowlist</a:t>
            </a:r>
            <a:r>
              <a:rPr lang="en-US" sz="1400" dirty="0">
                <a:latin typeface="Calibri" panose="020F0502020204030204" pitchFamily="34" charset="0"/>
                <a:ea typeface="Calibri" panose="020F0502020204030204" pitchFamily="34" charset="0"/>
                <a:cs typeface="Calibri" panose="020F0502020204030204" pitchFamily="34" charset="0"/>
              </a:rPr>
              <a:t>.</a:t>
            </a:r>
          </a:p>
          <a:p>
            <a:r>
              <a:rPr lang="en-US" sz="1400" b="1" dirty="0">
                <a:latin typeface="Calibri" panose="020F0502020204030204" pitchFamily="34" charset="0"/>
                <a:ea typeface="Calibri" panose="020F0502020204030204" pitchFamily="34" charset="0"/>
                <a:cs typeface="Calibri" panose="020F0502020204030204" pitchFamily="34" charset="0"/>
              </a:rPr>
              <a:t>Vulnerability</a:t>
            </a:r>
            <a:r>
              <a:rPr lang="en-US" sz="1400" dirty="0">
                <a:latin typeface="Calibri" panose="020F0502020204030204" pitchFamily="34" charset="0"/>
                <a:ea typeface="Calibri" panose="020F0502020204030204" pitchFamily="34" charset="0"/>
                <a:cs typeface="Calibri" panose="020F0502020204030204" pitchFamily="34" charset="0"/>
              </a:rPr>
              <a:t>: You can </a:t>
            </a:r>
            <a:r>
              <a:rPr lang="en-US" sz="1400" i="1" dirty="0">
                <a:latin typeface="Calibri" panose="020F0502020204030204" pitchFamily="34" charset="0"/>
                <a:ea typeface="Calibri" panose="020F0502020204030204" pitchFamily="34" charset="0"/>
                <a:cs typeface="Calibri" panose="020F0502020204030204" pitchFamily="34" charset="0"/>
              </a:rPr>
              <a:t>bypass</a:t>
            </a:r>
            <a:r>
              <a:rPr lang="en-US" sz="1400" dirty="0">
                <a:latin typeface="Calibri" panose="020F0502020204030204" pitchFamily="34" charset="0"/>
                <a:ea typeface="Calibri" panose="020F0502020204030204" pitchFamily="34" charset="0"/>
                <a:cs typeface="Calibri" panose="020F0502020204030204" pitchFamily="34" charset="0"/>
              </a:rPr>
              <a:t> this protection and trick the application into redirecting users to URLs </a:t>
            </a:r>
          </a:p>
          <a:p>
            <a:r>
              <a:rPr lang="en-US" sz="1400" dirty="0">
                <a:latin typeface="Calibri" panose="020F0502020204030204" pitchFamily="34" charset="0"/>
                <a:ea typeface="Calibri" panose="020F0502020204030204" pitchFamily="34" charset="0"/>
                <a:cs typeface="Calibri" panose="020F0502020204030204" pitchFamily="34" charset="0"/>
              </a:rPr>
              <a:t>that are </a:t>
            </a:r>
            <a:r>
              <a:rPr lang="en-US" sz="1400" b="1" dirty="0">
                <a:latin typeface="Calibri" panose="020F0502020204030204" pitchFamily="34" charset="0"/>
                <a:ea typeface="Calibri" panose="020F0502020204030204" pitchFamily="34" charset="0"/>
                <a:cs typeface="Calibri" panose="020F0502020204030204" pitchFamily="34" charset="0"/>
              </a:rPr>
              <a:t>not on the list</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652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B455F146-5429-1441-080C-1036559AD46B}"/>
              </a:ext>
            </a:extLst>
          </p:cNvPr>
          <p:cNvSpPr>
            <a:spLocks noGrp="1" noChangeArrowheads="1"/>
          </p:cNvSpPr>
          <p:nvPr>
            <p:ph idx="1"/>
          </p:nvPr>
        </p:nvSpPr>
        <p:spPr bwMode="auto">
          <a:xfrm>
            <a:off x="1419964" y="1216252"/>
            <a:ext cx="697844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2. How Is the Redirect Supposed to 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app has a feature like:</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http://localhost:3000/redirect?to=https://github.com/juice-shop/juice-shop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checks the to parameter — the URL where the user should be sent.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only allows redirects to URLs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 the allowlist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such as GitHub or the Juice Shop homepage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9" name="Rectangle 5">
            <a:extLst>
              <a:ext uri="{FF2B5EF4-FFF2-40B4-BE49-F238E27FC236}">
                <a16:creationId xmlns:a16="http://schemas.microsoft.com/office/drawing/2014/main" id="{C655A97E-F5E6-61EC-D47D-38FFBD0E837A}"/>
              </a:ext>
            </a:extLst>
          </p:cNvPr>
          <p:cNvSpPr>
            <a:spLocks noChangeArrowheads="1"/>
          </p:cNvSpPr>
          <p:nvPr/>
        </p:nvSpPr>
        <p:spPr bwMode="auto">
          <a:xfrm>
            <a:off x="1605488" y="3346103"/>
            <a:ext cx="533011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3. What Happens When You Try an Unauthorized Redirect?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Example:</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http://localhost:3000/redirect?to</a:t>
            </a:r>
            <a:r>
              <a:rPr kumimoji="0" lang="en-US" altLang="en-US" sz="1400" b="0" i="0" u="none" strike="noStrike" cap="none" normalizeH="0" baseline="0" dirty="0">
                <a:ln>
                  <a:noFill/>
                </a:ln>
                <a:effectLst/>
                <a:highlight>
                  <a:srgbClr val="FF0000"/>
                </a:highlight>
                <a:latin typeface="Calibri" panose="020F0502020204030204" pitchFamily="34" charset="0"/>
                <a:ea typeface="Calibri" panose="020F0502020204030204" pitchFamily="34" charset="0"/>
                <a:cs typeface="Calibri" panose="020F0502020204030204" pitchFamily="34" charset="0"/>
              </a:rPr>
              <a:t>=http://evil.com</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You get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406 error</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“Unrecognized target URL for redirect.”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is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expected behavior</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the application is trying to protect users.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5275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9C97-4FD6-5C99-020E-BAEBD1A9FFF5}"/>
              </a:ext>
            </a:extLst>
          </p:cNvPr>
          <p:cNvSpPr>
            <a:spLocks noGrp="1"/>
          </p:cNvSpPr>
          <p:nvPr>
            <p:ph type="title"/>
          </p:nvPr>
        </p:nvSpPr>
        <p:spPr>
          <a:xfrm>
            <a:off x="295445" y="491381"/>
            <a:ext cx="10515600" cy="1325563"/>
          </a:xfrm>
        </p:spPr>
        <p:txBody>
          <a:bodyPr/>
          <a:lstStyle/>
          <a:p>
            <a:r>
              <a:rPr lang="en-US" dirty="0"/>
              <a:t>How to Bypass the Allowlist Check</a:t>
            </a:r>
            <a:endParaRPr lang="en-IN" dirty="0"/>
          </a:p>
        </p:txBody>
      </p:sp>
      <p:sp>
        <p:nvSpPr>
          <p:cNvPr id="4" name="Rectangle 1">
            <a:extLst>
              <a:ext uri="{FF2B5EF4-FFF2-40B4-BE49-F238E27FC236}">
                <a16:creationId xmlns:a16="http://schemas.microsoft.com/office/drawing/2014/main" id="{8D99E020-D978-365E-91BD-26E1B5F8070F}"/>
              </a:ext>
            </a:extLst>
          </p:cNvPr>
          <p:cNvSpPr>
            <a:spLocks noGrp="1" noChangeArrowheads="1"/>
          </p:cNvSpPr>
          <p:nvPr>
            <p:ph idx="1"/>
          </p:nvPr>
        </p:nvSpPr>
        <p:spPr bwMode="auto">
          <a:xfrm>
            <a:off x="514399" y="1656576"/>
            <a:ext cx="10296646" cy="9694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rgbClr val="333333"/>
                </a:solidFill>
                <a:effectLst/>
                <a:highlight>
                  <a:srgbClr val="FFFF00"/>
                </a:highlight>
                <a:latin typeface="Helvetica Neue"/>
                <a:hlinkClick r:id="rId2"/>
              </a:rPr>
              <a:t>http://localhost:3000/redirect?to</a:t>
            </a:r>
            <a:r>
              <a:rPr kumimoji="0" lang="en-US" altLang="en-US" sz="1050" b="1" i="0" u="none" strike="noStrike" cap="none" normalizeH="0" baseline="0" dirty="0">
                <a:ln>
                  <a:noFill/>
                </a:ln>
                <a:solidFill>
                  <a:srgbClr val="333333"/>
                </a:solidFill>
                <a:effectLst/>
                <a:highlight>
                  <a:srgbClr val="FF0000"/>
                </a:highlight>
                <a:latin typeface="Helvetica Neue"/>
                <a:hlinkClick r:id="rId2"/>
              </a:rPr>
              <a:t>=http://kimminich.de?pwned</a:t>
            </a:r>
            <a:r>
              <a:rPr kumimoji="0" lang="en-US" altLang="en-US" sz="1050" b="1" i="0" u="none" strike="noStrike" cap="none" normalizeH="0" baseline="0" dirty="0">
                <a:ln>
                  <a:noFill/>
                </a:ln>
                <a:solidFill>
                  <a:srgbClr val="333333"/>
                </a:solidFill>
                <a:effectLst/>
                <a:highlight>
                  <a:srgbClr val="FFFF00"/>
                </a:highlight>
                <a:latin typeface="Helvetica Neue"/>
                <a:hlinkClick r:id="rId2"/>
              </a:rPr>
              <a:t>=https://github.com/juice-shop/juice-shop</a:t>
            </a:r>
            <a:endParaRPr kumimoji="0" lang="en-US" altLang="en-US" sz="1050" b="1" i="0" u="none" strike="noStrike" cap="none" normalizeH="0" baseline="0" dirty="0">
              <a:ln>
                <a:noFill/>
              </a:ln>
              <a:solidFill>
                <a:srgbClr val="333333"/>
              </a:solidFill>
              <a:effectLst/>
              <a:highlight>
                <a:srgbClr val="FFFF00"/>
              </a:highlight>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b="1" dirty="0">
              <a:solidFill>
                <a:srgbClr val="333333"/>
              </a:solidFill>
              <a:highlight>
                <a:srgbClr val="FFFF00"/>
              </a:highlight>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1" i="0" u="none" strike="noStrike" cap="none" normalizeH="0" baseline="0" dirty="0">
              <a:ln>
                <a:noFill/>
              </a:ln>
              <a:solidFill>
                <a:srgbClr val="333333"/>
              </a:solidFill>
              <a:effectLst/>
              <a:highlight>
                <a:srgbClr val="FFFF00"/>
              </a:highlight>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b="1" dirty="0">
              <a:solidFill>
                <a:srgbClr val="333333"/>
              </a:solidFill>
              <a:highlight>
                <a:srgbClr val="FFFF00"/>
              </a:highlight>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1" i="0" u="none" strike="noStrike" cap="none" normalizeH="0" baseline="0" dirty="0">
              <a:ln>
                <a:noFill/>
              </a:ln>
              <a:solidFill>
                <a:srgbClr val="333333"/>
              </a:solidFill>
              <a:effectLst/>
              <a:highlight>
                <a:srgbClr val="FFFF00"/>
              </a:highlight>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24C69F9A-6CFA-0B74-C828-539E71E8355C}"/>
              </a:ext>
            </a:extLst>
          </p:cNvPr>
          <p:cNvSpPr>
            <a:spLocks noChangeArrowheads="1"/>
          </p:cNvSpPr>
          <p:nvPr/>
        </p:nvSpPr>
        <p:spPr bwMode="auto">
          <a:xfrm>
            <a:off x="358140" y="1982450"/>
            <a:ext cx="9717725"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Here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The </a:t>
            </a:r>
            <a:r>
              <a:rPr kumimoji="0" lang="en-US" altLang="en-US" sz="1100" b="1" i="0" u="none" strike="noStrike" cap="none" normalizeH="0" baseline="0" dirty="0">
                <a:ln>
                  <a:noFill/>
                </a:ln>
                <a:solidFill>
                  <a:schemeClr val="tx1"/>
                </a:solidFill>
                <a:effectLst/>
                <a:latin typeface="Arial" panose="020B0604020202020204" pitchFamily="34" charset="0"/>
              </a:rPr>
              <a:t>outer URL</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a:ln>
                  <a:noFill/>
                </a:ln>
                <a:solidFill>
                  <a:schemeClr val="tx1"/>
                </a:solidFill>
                <a:effectLst/>
                <a:latin typeface="Arial Unicode MS" panose="020B0604020202020204" pitchFamily="34" charset="-128"/>
              </a:rPr>
              <a:t>http://kimminich.de</a:t>
            </a:r>
            <a:r>
              <a:rPr kumimoji="0" lang="en-US" altLang="en-US" sz="1100" b="0" i="0" u="none" strike="noStrike" cap="none" normalizeH="0" baseline="0" dirty="0">
                <a:ln>
                  <a:noFill/>
                </a:ln>
                <a:solidFill>
                  <a:schemeClr val="tx1"/>
                </a:solidFill>
                <a:effectLst/>
              </a:rPr>
              <a:t>) is </a:t>
            </a:r>
            <a:r>
              <a:rPr kumimoji="0" lang="en-US" altLang="en-US" sz="1100" b="1" i="0" u="none" strike="noStrike" cap="none" normalizeH="0" baseline="0" dirty="0">
                <a:ln>
                  <a:noFill/>
                </a:ln>
                <a:solidFill>
                  <a:schemeClr val="tx1"/>
                </a:solidFill>
                <a:effectLst/>
                <a:latin typeface="Arial" panose="020B0604020202020204" pitchFamily="34" charset="0"/>
              </a:rPr>
              <a:t>not</a:t>
            </a:r>
            <a:r>
              <a:rPr kumimoji="0" lang="en-US" altLang="en-US" sz="1100" b="0" i="0" u="none" strike="noStrike" cap="none" normalizeH="0" baseline="0" dirty="0">
                <a:ln>
                  <a:noFill/>
                </a:ln>
                <a:solidFill>
                  <a:schemeClr val="tx1"/>
                </a:solidFill>
                <a:effectLst/>
                <a:latin typeface="Arial" panose="020B0604020202020204" pitchFamily="34" charset="0"/>
              </a:rPr>
              <a:t> on the allowlist.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But inside its </a:t>
            </a:r>
            <a:r>
              <a:rPr kumimoji="0" lang="en-US" altLang="en-US" sz="1100" b="1" i="0" u="none" strike="noStrike" cap="none" normalizeH="0" baseline="0" dirty="0">
                <a:ln>
                  <a:noFill/>
                </a:ln>
                <a:solidFill>
                  <a:schemeClr val="tx1"/>
                </a:solidFill>
                <a:effectLst/>
                <a:latin typeface="Arial" panose="020B0604020202020204" pitchFamily="34" charset="0"/>
              </a:rPr>
              <a:t>query parameter</a:t>
            </a:r>
            <a:r>
              <a:rPr kumimoji="0" lang="en-US" altLang="en-US" sz="1100" b="0" i="0" u="none" strike="noStrike" cap="none" normalizeH="0" baseline="0" dirty="0">
                <a:ln>
                  <a:noFill/>
                </a:ln>
                <a:solidFill>
                  <a:schemeClr val="tx1"/>
                </a:solidFill>
                <a:effectLst/>
                <a:latin typeface="Arial" panose="020B0604020202020204" pitchFamily="34" charset="0"/>
              </a:rPr>
              <a:t>, it contains a </a:t>
            </a:r>
            <a:r>
              <a:rPr kumimoji="0" lang="en-US" altLang="en-US" sz="1100" b="1" i="0" u="none" strike="noStrike" cap="none" normalizeH="0" baseline="0" dirty="0">
                <a:ln>
                  <a:noFill/>
                </a:ln>
                <a:solidFill>
                  <a:schemeClr val="tx1"/>
                </a:solidFill>
                <a:effectLst/>
                <a:latin typeface="Arial" panose="020B0604020202020204" pitchFamily="34" charset="0"/>
              </a:rPr>
              <a:t>valid allowlisted URL</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The app might mistakenly just check if any allowlisted URL </a:t>
            </a:r>
            <a:r>
              <a:rPr kumimoji="0" lang="en-US" altLang="en-US" sz="1100" b="1" i="0" u="none" strike="noStrike" cap="none" normalizeH="0" baseline="0" dirty="0">
                <a:ln>
                  <a:noFill/>
                </a:ln>
                <a:solidFill>
                  <a:schemeClr val="tx1"/>
                </a:solidFill>
                <a:effectLst/>
                <a:latin typeface="Arial" panose="020B0604020202020204" pitchFamily="34" charset="0"/>
              </a:rPr>
              <a:t>exists somewhere in the string</a:t>
            </a:r>
            <a:r>
              <a:rPr kumimoji="0" lang="en-US" altLang="en-US" sz="1100" b="0" i="0" u="none" strike="noStrike" cap="none" normalizeH="0" baseline="0" dirty="0">
                <a:ln>
                  <a:noFill/>
                </a:ln>
                <a:solidFill>
                  <a:schemeClr val="tx1"/>
                </a:solidFill>
                <a:effectLst/>
                <a:latin typeface="Arial" panose="020B0604020202020204" pitchFamily="34" charset="0"/>
              </a:rPr>
              <a:t>, instead of validating that the full </a:t>
            </a:r>
            <a:r>
              <a:rPr kumimoji="0" lang="en-US" altLang="en-US" sz="1100" b="0" i="0" u="none" strike="noStrike" cap="none" normalizeH="0" baseline="0" dirty="0">
                <a:ln>
                  <a:noFill/>
                </a:ln>
                <a:solidFill>
                  <a:schemeClr val="tx1"/>
                </a:solidFill>
                <a:effectLst/>
                <a:latin typeface="Arial Unicode MS" panose="020B0604020202020204" pitchFamily="34" charset="-128"/>
              </a:rPr>
              <a:t>to</a:t>
            </a:r>
            <a:r>
              <a:rPr kumimoji="0" lang="en-US" altLang="en-US" sz="1100" b="0" i="0" u="none" strike="noStrike" cap="none" normalizeH="0" baseline="0" dirty="0">
                <a:ln>
                  <a:noFill/>
                </a:ln>
                <a:solidFill>
                  <a:schemeClr val="tx1"/>
                </a:solidFill>
                <a:effectLst/>
              </a:rPr>
              <a:t> URL is allowlisted.</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Arial" panose="020B0604020202020204" pitchFamily="34" charset="0"/>
              </a:rPr>
              <a:t>Result: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panose="020B0604020202020204" pitchFamily="34" charset="0"/>
              </a:rPr>
              <a:t>The application </a:t>
            </a:r>
            <a:r>
              <a:rPr kumimoji="0" lang="en-US" altLang="en-US" sz="1100" b="1" i="0" u="none" strike="noStrike" cap="none" normalizeH="0" baseline="0" dirty="0">
                <a:ln>
                  <a:noFill/>
                </a:ln>
                <a:solidFill>
                  <a:schemeClr val="tx1"/>
                </a:solidFill>
                <a:effectLst/>
                <a:latin typeface="Arial" panose="020B0604020202020204" pitchFamily="34" charset="0"/>
              </a:rPr>
              <a:t>thinks</a:t>
            </a:r>
            <a:r>
              <a:rPr kumimoji="0" lang="en-US" altLang="en-US" sz="1100" b="0" i="0" u="none" strike="noStrike" cap="none" normalizeH="0" baseline="0" dirty="0">
                <a:ln>
                  <a:noFill/>
                </a:ln>
                <a:solidFill>
                  <a:schemeClr val="tx1"/>
                </a:solidFill>
                <a:effectLst/>
                <a:latin typeface="Arial" panose="020B0604020202020204" pitchFamily="34" charset="0"/>
              </a:rPr>
              <a:t> the redirect is safe — but actually, it sends the user to a potentially </a:t>
            </a:r>
            <a:r>
              <a:rPr kumimoji="0" lang="en-US" altLang="en-US" sz="1100" b="1" i="0" u="none" strike="noStrike" cap="none" normalizeH="0" baseline="0" dirty="0">
                <a:ln>
                  <a:noFill/>
                </a:ln>
                <a:solidFill>
                  <a:schemeClr val="tx1"/>
                </a:solidFill>
                <a:effectLst/>
                <a:latin typeface="Arial" panose="020B0604020202020204" pitchFamily="34" charset="0"/>
              </a:rPr>
              <a:t>malicious site</a:t>
            </a:r>
            <a:r>
              <a:rPr kumimoji="0" lang="en-US" altLang="en-US" sz="11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2B426508-CC75-B92C-13E7-4D58A9E55486}"/>
              </a:ext>
            </a:extLst>
          </p:cNvPr>
          <p:cNvSpPr txBox="1"/>
          <p:nvPr/>
        </p:nvSpPr>
        <p:spPr>
          <a:xfrm>
            <a:off x="419100" y="3594357"/>
            <a:ext cx="6096000" cy="1477328"/>
          </a:xfrm>
          <a:prstGeom prst="rect">
            <a:avLst/>
          </a:prstGeom>
          <a:noFill/>
        </p:spPr>
        <p:txBody>
          <a:bodyPr wrap="square">
            <a:spAutoFit/>
          </a:bodyPr>
          <a:lstStyle/>
          <a:p>
            <a:r>
              <a:rPr lang="en-US" b="1" dirty="0"/>
              <a:t>Why Does This Vulnerability Exist? (Under the Hood)</a:t>
            </a:r>
          </a:p>
          <a:p>
            <a:pPr>
              <a:buFont typeface="Arial" panose="020B0604020202020204" pitchFamily="34" charset="0"/>
              <a:buChar char="•"/>
            </a:pPr>
            <a:r>
              <a:rPr lang="en-US" dirty="0">
                <a:highlight>
                  <a:srgbClr val="FFFF00"/>
                </a:highlight>
              </a:rPr>
              <a:t>The application might be using simple logic like:</a:t>
            </a:r>
          </a:p>
          <a:p>
            <a:pPr>
              <a:buFont typeface="Arial" panose="020B0604020202020204" pitchFamily="34" charset="0"/>
              <a:buChar char="•"/>
            </a:pPr>
            <a:r>
              <a:rPr lang="en-US" dirty="0">
                <a:highlight>
                  <a:srgbClr val="FFFF00"/>
                </a:highlight>
              </a:rPr>
              <a:t>if (</a:t>
            </a:r>
            <a:r>
              <a:rPr lang="en-US" dirty="0" err="1">
                <a:highlight>
                  <a:srgbClr val="FFFF00"/>
                </a:highlight>
              </a:rPr>
              <a:t>to.indexOf</a:t>
            </a:r>
            <a:r>
              <a:rPr lang="en-US" dirty="0">
                <a:highlight>
                  <a:srgbClr val="FFFF00"/>
                </a:highlight>
              </a:rPr>
              <a:t>('github.com') &gt; -1) </a:t>
            </a:r>
            <a:r>
              <a:rPr lang="en-US" dirty="0" err="1">
                <a:highlight>
                  <a:srgbClr val="FFFF00"/>
                </a:highlight>
              </a:rPr>
              <a:t>allowRedirect</a:t>
            </a:r>
            <a:r>
              <a:rPr lang="en-US" dirty="0">
                <a:highlight>
                  <a:srgbClr val="FFFF00"/>
                </a:highlight>
              </a:rPr>
              <a:t>();</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9" name="Rectangle 4">
            <a:extLst>
              <a:ext uri="{FF2B5EF4-FFF2-40B4-BE49-F238E27FC236}">
                <a16:creationId xmlns:a16="http://schemas.microsoft.com/office/drawing/2014/main" id="{AE60AEBC-4C30-0C1B-45F4-420350240B34}"/>
              </a:ext>
            </a:extLst>
          </p:cNvPr>
          <p:cNvSpPr>
            <a:spLocks noChangeArrowheads="1"/>
          </p:cNvSpPr>
          <p:nvPr/>
        </p:nvSpPr>
        <p:spPr bwMode="auto">
          <a:xfrm>
            <a:off x="295445" y="48425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check says: “if the allowlisted string is </a:t>
            </a:r>
            <a:r>
              <a:rPr kumimoji="0" lang="en-US" altLang="en-US" sz="1800" b="1" i="0" u="none" strike="noStrike" cap="none" normalizeH="0" baseline="0" dirty="0">
                <a:ln>
                  <a:noFill/>
                </a:ln>
                <a:solidFill>
                  <a:schemeClr val="tx1"/>
                </a:solidFill>
                <a:effectLst/>
                <a:latin typeface="Arial" panose="020B0604020202020204" pitchFamily="34" charset="0"/>
              </a:rPr>
              <a:t>anywhere</a:t>
            </a:r>
            <a:r>
              <a:rPr kumimoji="0" lang="en-US" altLang="en-US" sz="1800" b="0" i="0" u="none" strike="noStrike" cap="none" normalizeH="0" baseline="0" dirty="0">
                <a:ln>
                  <a:noFill/>
                </a:ln>
                <a:solidFill>
                  <a:schemeClr val="tx1"/>
                </a:solidFill>
                <a:effectLst/>
                <a:latin typeface="Arial" panose="020B0604020202020204" pitchFamily="34" charset="0"/>
              </a:rPr>
              <a:t> in the URL, allow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Instead, it should check the </a:t>
            </a:r>
            <a:r>
              <a:rPr kumimoji="0" lang="en-US" altLang="en-US" sz="1800" b="1" i="0" u="none" strike="noStrike" cap="none" normalizeH="0" baseline="0" dirty="0">
                <a:ln>
                  <a:noFill/>
                </a:ln>
                <a:solidFill>
                  <a:schemeClr val="tx1"/>
                </a:solidFill>
                <a:effectLst/>
                <a:latin typeface="Arial" panose="020B0604020202020204" pitchFamily="34" charset="0"/>
              </a:rPr>
              <a:t>actual domain</a:t>
            </a:r>
            <a:r>
              <a:rPr kumimoji="0" lang="en-US" altLang="en-US" sz="1800" b="0" i="0" u="none" strike="noStrike" cap="none" normalizeH="0" baseline="0" dirty="0">
                <a:ln>
                  <a:noFill/>
                </a:ln>
                <a:solidFill>
                  <a:schemeClr val="tx1"/>
                </a:solidFill>
                <a:effectLst/>
                <a:latin typeface="Arial" panose="020B0604020202020204" pitchFamily="34" charset="0"/>
              </a:rPr>
              <a:t> of the target URL.</a:t>
            </a:r>
          </a:p>
        </p:txBody>
      </p:sp>
    </p:spTree>
    <p:extLst>
      <p:ext uri="{BB962C8B-B14F-4D97-AF65-F5344CB8AC3E}">
        <p14:creationId xmlns:p14="http://schemas.microsoft.com/office/powerpoint/2010/main" val="2704394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5A5E5D-3ED6-3342-47B4-70534495B357}"/>
              </a:ext>
            </a:extLst>
          </p:cNvPr>
          <p:cNvSpPr>
            <a:spLocks noGrp="1"/>
          </p:cNvSpPr>
          <p:nvPr>
            <p:ph idx="1"/>
          </p:nvPr>
        </p:nvSpPr>
        <p:spPr/>
        <p:txBody>
          <a:bodyPr/>
          <a:lstStyle/>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What Is an Outdated Allowlist?</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An </a:t>
            </a:r>
            <a:r>
              <a:rPr lang="en-US" sz="1400" b="1" dirty="0">
                <a:latin typeface="Calibri" panose="020F0502020204030204" pitchFamily="34" charset="0"/>
                <a:ea typeface="Calibri" panose="020F0502020204030204" pitchFamily="34" charset="0"/>
                <a:cs typeface="Calibri" panose="020F0502020204030204" pitchFamily="34" charset="0"/>
              </a:rPr>
              <a:t>allowlist</a:t>
            </a:r>
            <a:r>
              <a:rPr lang="en-US" sz="1400" dirty="0">
                <a:latin typeface="Calibri" panose="020F0502020204030204" pitchFamily="34" charset="0"/>
                <a:ea typeface="Calibri" panose="020F0502020204030204" pitchFamily="34" charset="0"/>
                <a:cs typeface="Calibri" panose="020F0502020204030204" pitchFamily="34" charset="0"/>
              </a:rPr>
              <a:t> is a list of URLs or domains that are considered </a:t>
            </a:r>
            <a:r>
              <a:rPr lang="en-US" sz="1400" b="1" dirty="0">
                <a:latin typeface="Calibri" panose="020F0502020204030204" pitchFamily="34" charset="0"/>
                <a:ea typeface="Calibri" panose="020F0502020204030204" pitchFamily="34" charset="0"/>
                <a:cs typeface="Calibri" panose="020F0502020204030204" pitchFamily="34" charset="0"/>
              </a:rPr>
              <a:t>safe</a:t>
            </a:r>
            <a:r>
              <a:rPr lang="en-US" sz="1400" dirty="0">
                <a:latin typeface="Calibri" panose="020F0502020204030204" pitchFamily="34" charset="0"/>
                <a:ea typeface="Calibri" panose="020F0502020204030204" pitchFamily="34" charset="0"/>
                <a:cs typeface="Calibri" panose="020F0502020204030204" pitchFamily="34" charset="0"/>
              </a:rPr>
              <a:t> and allowed by the application.</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Sometimes, URLs or features become </a:t>
            </a:r>
            <a:r>
              <a:rPr lang="en-US" sz="1400" b="1" dirty="0">
                <a:latin typeface="Calibri" panose="020F0502020204030204" pitchFamily="34" charset="0"/>
                <a:ea typeface="Calibri" panose="020F0502020204030204" pitchFamily="34" charset="0"/>
                <a:cs typeface="Calibri" panose="020F0502020204030204" pitchFamily="34" charset="0"/>
              </a:rPr>
              <a:t>obsolete</a:t>
            </a:r>
            <a:r>
              <a:rPr lang="en-US" sz="1400" dirty="0">
                <a:latin typeface="Calibri" panose="020F0502020204030204" pitchFamily="34" charset="0"/>
                <a:ea typeface="Calibri" panose="020F0502020204030204" pitchFamily="34" charset="0"/>
                <a:cs typeface="Calibri" panose="020F0502020204030204" pitchFamily="34" charset="0"/>
              </a:rPr>
              <a:t> but are </a:t>
            </a:r>
            <a:r>
              <a:rPr lang="en-US" sz="1400" b="1" dirty="0">
                <a:latin typeface="Calibri" panose="020F0502020204030204" pitchFamily="34" charset="0"/>
                <a:ea typeface="Calibri" panose="020F0502020204030204" pitchFamily="34" charset="0"/>
                <a:cs typeface="Calibri" panose="020F0502020204030204" pitchFamily="34" charset="0"/>
              </a:rPr>
              <a:t>not completely removed</a:t>
            </a:r>
            <a:r>
              <a:rPr lang="en-US" sz="1400" dirty="0">
                <a:latin typeface="Calibri" panose="020F0502020204030204" pitchFamily="34" charset="0"/>
                <a:ea typeface="Calibri" panose="020F0502020204030204" pitchFamily="34" charset="0"/>
                <a:cs typeface="Calibri" panose="020F0502020204030204" pitchFamily="34" charset="0"/>
              </a:rPr>
              <a:t> from the application.</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If the application is still checking against these outdated URLs, it may </a:t>
            </a:r>
            <a:r>
              <a:rPr lang="en-US" sz="1400" b="1" dirty="0">
                <a:latin typeface="Calibri" panose="020F0502020204030204" pitchFamily="34" charset="0"/>
                <a:ea typeface="Calibri" panose="020F0502020204030204" pitchFamily="34" charset="0"/>
                <a:cs typeface="Calibri" panose="020F0502020204030204" pitchFamily="34" charset="0"/>
              </a:rPr>
              <a:t>unknowingly allow redirects</a:t>
            </a:r>
            <a:r>
              <a:rPr lang="en-US" sz="1400" dirty="0">
                <a:latin typeface="Calibri" panose="020F0502020204030204" pitchFamily="34" charset="0"/>
                <a:ea typeface="Calibri" panose="020F0502020204030204" pitchFamily="34" charset="0"/>
                <a:cs typeface="Calibri" panose="020F0502020204030204" pitchFamily="34" charset="0"/>
              </a:rPr>
              <a:t> to pages that were once legitimate but are no longer monitored.</a:t>
            </a:r>
          </a:p>
          <a:p>
            <a:endParaRPr lang="en-IN" dirty="0"/>
          </a:p>
        </p:txBody>
      </p:sp>
    </p:spTree>
    <p:extLst>
      <p:ext uri="{BB962C8B-B14F-4D97-AF65-F5344CB8AC3E}">
        <p14:creationId xmlns:p14="http://schemas.microsoft.com/office/powerpoint/2010/main" val="2606550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87622-62C7-47AB-7535-C08BB8A866B0}"/>
              </a:ext>
            </a:extLst>
          </p:cNvPr>
          <p:cNvSpPr>
            <a:spLocks noGrp="1"/>
          </p:cNvSpPr>
          <p:nvPr>
            <p:ph type="ctrTitle"/>
          </p:nvPr>
        </p:nvSpPr>
        <p:spPr>
          <a:xfrm>
            <a:off x="521574" y="226088"/>
            <a:ext cx="9144000" cy="1158649"/>
          </a:xfrm>
        </p:spPr>
        <p:txBody>
          <a:bodyPr>
            <a:normAutofit fontScale="90000"/>
          </a:bodyPr>
          <a:lstStyle/>
          <a:p>
            <a:pPr marL="342900" indent="-342900" algn="l">
              <a:buFont typeface="Wingdings" panose="05000000000000000000" pitchFamily="2" charset="2"/>
              <a:buChar char="Ø"/>
            </a:pPr>
            <a:r>
              <a:rPr lang="en-US" sz="2400" b="1" dirty="0">
                <a:latin typeface="Calibri" panose="020F0502020204030204" pitchFamily="34" charset="0"/>
                <a:ea typeface="Calibri" panose="020F0502020204030204" pitchFamily="34" charset="0"/>
                <a:cs typeface="Calibri" panose="020F0502020204030204" pitchFamily="34" charset="0"/>
              </a:rPr>
              <a:t>What Happened in OWASP Juice Shop?</a:t>
            </a:r>
            <a:br>
              <a:rPr lang="en-US" sz="2400" b="1" dirty="0">
                <a:latin typeface="Calibri" panose="020F0502020204030204" pitchFamily="34" charset="0"/>
                <a:ea typeface="Calibri" panose="020F0502020204030204" pitchFamily="34" charset="0"/>
                <a:cs typeface="Calibri" panose="020F0502020204030204" pitchFamily="34" charset="0"/>
              </a:rPr>
            </a:br>
            <a:br>
              <a:rPr lang="en-US" sz="2400" b="1"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Juice Shop once accepted donations via </a:t>
            </a:r>
            <a:r>
              <a:rPr lang="en-US" sz="1400" b="1" dirty="0">
                <a:latin typeface="Calibri" panose="020F0502020204030204" pitchFamily="34" charset="0"/>
                <a:ea typeface="Calibri" panose="020F0502020204030204" pitchFamily="34" charset="0"/>
                <a:cs typeface="Calibri" panose="020F0502020204030204" pitchFamily="34" charset="0"/>
              </a:rPr>
              <a:t>Bitcoin, Dash, and Ether</a:t>
            </a:r>
            <a:r>
              <a:rPr lang="en-US" sz="1400" dirty="0">
                <a:latin typeface="Calibri" panose="020F0502020204030204" pitchFamily="34" charset="0"/>
                <a:ea typeface="Calibri" panose="020F0502020204030204" pitchFamily="34" charset="0"/>
                <a:cs typeface="Calibri" panose="020F0502020204030204" pitchFamily="34" charset="0"/>
              </a:rPr>
              <a:t>.</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Due to lack of donations, these were </a:t>
            </a:r>
            <a:r>
              <a:rPr lang="en-US" sz="1400" b="1" dirty="0">
                <a:latin typeface="Calibri" panose="020F0502020204030204" pitchFamily="34" charset="0"/>
                <a:ea typeface="Calibri" panose="020F0502020204030204" pitchFamily="34" charset="0"/>
                <a:cs typeface="Calibri" panose="020F0502020204030204" pitchFamily="34" charset="0"/>
              </a:rPr>
              <a:t>discontinued</a:t>
            </a:r>
            <a:r>
              <a:rPr lang="en-US" sz="1400" dirty="0">
                <a:latin typeface="Calibri" panose="020F0502020204030204" pitchFamily="34" charset="0"/>
                <a:ea typeface="Calibri" panose="020F0502020204030204" pitchFamily="34" charset="0"/>
                <a:cs typeface="Calibri" panose="020F0502020204030204" pitchFamily="34" charset="0"/>
              </a:rPr>
              <a:t>.</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However, the </a:t>
            </a:r>
            <a:r>
              <a:rPr lang="en-US" sz="1400" b="1" dirty="0">
                <a:latin typeface="Calibri" panose="020F0502020204030204" pitchFamily="34" charset="0"/>
                <a:ea typeface="Calibri" panose="020F0502020204030204" pitchFamily="34" charset="0"/>
                <a:cs typeface="Calibri" panose="020F0502020204030204" pitchFamily="34" charset="0"/>
              </a:rPr>
              <a:t>old redirect links</a:t>
            </a:r>
            <a:r>
              <a:rPr lang="en-US" sz="1400" dirty="0">
                <a:latin typeface="Calibri" panose="020F0502020204030204" pitchFamily="34" charset="0"/>
                <a:ea typeface="Calibri" panose="020F0502020204030204" pitchFamily="34" charset="0"/>
                <a:cs typeface="Calibri" panose="020F0502020204030204" pitchFamily="34" charset="0"/>
              </a:rPr>
              <a:t> for these cryptocurrency addresses were </a:t>
            </a:r>
            <a:r>
              <a:rPr lang="en-US" sz="1400" b="1" dirty="0">
                <a:latin typeface="Calibri" panose="020F0502020204030204" pitchFamily="34" charset="0"/>
                <a:ea typeface="Calibri" panose="020F0502020204030204" pitchFamily="34" charset="0"/>
                <a:cs typeface="Calibri" panose="020F0502020204030204" pitchFamily="34" charset="0"/>
              </a:rPr>
              <a:t>not properly removed</a:t>
            </a:r>
            <a:r>
              <a:rPr lang="en-US" sz="1400" dirty="0">
                <a:latin typeface="Calibri" panose="020F0502020204030204" pitchFamily="34" charset="0"/>
                <a:ea typeface="Calibri" panose="020F0502020204030204" pitchFamily="34" charset="0"/>
                <a:cs typeface="Calibri" panose="020F0502020204030204" pitchFamily="34" charset="0"/>
              </a:rPr>
              <a:t> from the code.</a:t>
            </a:r>
            <a:br>
              <a:rPr lang="en-US" sz="1400" dirty="0">
                <a:latin typeface="Calibri" panose="020F0502020204030204" pitchFamily="34" charset="0"/>
                <a:ea typeface="Calibri" panose="020F0502020204030204" pitchFamily="34" charset="0"/>
                <a:cs typeface="Calibri" panose="020F0502020204030204" pitchFamily="34" charset="0"/>
              </a:rPr>
            </a:b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8D8C4C97-8961-21FF-4767-9D0434499BCB}"/>
              </a:ext>
            </a:extLst>
          </p:cNvPr>
          <p:cNvSpPr>
            <a:spLocks noChangeArrowheads="1"/>
          </p:cNvSpPr>
          <p:nvPr/>
        </p:nvSpPr>
        <p:spPr bwMode="auto">
          <a:xfrm>
            <a:off x="613940" y="1205778"/>
            <a:ext cx="682067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How to Find and Exploit It</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Inspect the Code or Frontend:</a:t>
            </a: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Look for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references to cryptocurrency links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 the HTML or JavaScript.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Search for functions related to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redirects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Try Accessing Old URLs:</a:t>
            </a: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URLs that might still exist despite being outdated.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Example:</a:t>
            </a:r>
            <a:r>
              <a:rPr lang="en-US" altLang="en-US" sz="1400" dirty="0">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http://localhost:3000/redirect?to=https://bitcoin-address.com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Trigger the Redirect:</a:t>
            </a: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Sometimes,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Angular Compiler</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fails to completely remove these URLs.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You might be redirected even though the link is not explicitly visible.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B20A3F21-CB82-8FB0-AF32-26A48D1C0C6E}"/>
              </a:ext>
            </a:extLst>
          </p:cNvPr>
          <p:cNvSpPr>
            <a:spLocks noChangeArrowheads="1"/>
          </p:cNvSpPr>
          <p:nvPr/>
        </p:nvSpPr>
        <p:spPr bwMode="auto">
          <a:xfrm>
            <a:off x="429209" y="4503768"/>
            <a:ext cx="669920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How Does the Redirect Work?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application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did not update the allowlist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after discontinuing donations.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Old addresses are still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whitelisted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allowing users to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redirect to now-unmonitored sites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Root Cause:</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Developers were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sloppy</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while cleaning up the code.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They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left some legacy redirect logic</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intact.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7930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BEE-0F13-3482-5300-765C2AC1C610}"/>
              </a:ext>
            </a:extLst>
          </p:cNvPr>
          <p:cNvSpPr>
            <a:spLocks noGrp="1"/>
          </p:cNvSpPr>
          <p:nvPr>
            <p:ph type="title"/>
          </p:nvPr>
        </p:nvSpPr>
        <p:spPr>
          <a:xfrm>
            <a:off x="763555" y="-278687"/>
            <a:ext cx="10515600" cy="1325563"/>
          </a:xfrm>
        </p:spPr>
        <p:txBody>
          <a:bodyPr>
            <a:normAutofit fontScale="90000"/>
          </a:bodyPr>
          <a:lstStyle/>
          <a:p>
            <a:pPr algn="ctr"/>
            <a:br>
              <a:rPr lang="en-IN" b="1" i="0" dirty="0">
                <a:solidFill>
                  <a:srgbClr val="333333"/>
                </a:solidFill>
                <a:effectLst/>
                <a:latin typeface="Helvetica Neue"/>
              </a:rPr>
            </a:br>
            <a:br>
              <a:rPr lang="en-IN" b="1" i="0" dirty="0">
                <a:solidFill>
                  <a:srgbClr val="333333"/>
                </a:solidFill>
                <a:effectLst/>
                <a:latin typeface="Helvetica Neue"/>
              </a:rPr>
            </a:br>
            <a:r>
              <a:rPr lang="en-IN" sz="2700" b="1"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CAPTCHA Bypass problem</a:t>
            </a:r>
            <a:br>
              <a:rPr lang="en-IN" b="1" i="0" dirty="0">
                <a:solidFill>
                  <a:srgbClr val="333333"/>
                </a:solidFill>
                <a:effectLst/>
                <a:latin typeface="Helvetica Neue"/>
              </a:rPr>
            </a:br>
            <a:endParaRPr lang="en-IN" b="1" dirty="0"/>
          </a:p>
        </p:txBody>
      </p:sp>
      <p:sp>
        <p:nvSpPr>
          <p:cNvPr id="3" name="Content Placeholder 2">
            <a:extLst>
              <a:ext uri="{FF2B5EF4-FFF2-40B4-BE49-F238E27FC236}">
                <a16:creationId xmlns:a16="http://schemas.microsoft.com/office/drawing/2014/main" id="{03A90FD4-CF90-649C-7F8B-67C2E035255D}"/>
              </a:ext>
            </a:extLst>
          </p:cNvPr>
          <p:cNvSpPr>
            <a:spLocks noGrp="1"/>
          </p:cNvSpPr>
          <p:nvPr>
            <p:ph idx="1"/>
          </p:nvPr>
        </p:nvSpPr>
        <p:spPr/>
        <p:txBody>
          <a:bodyPr>
            <a:normAutofit/>
          </a:bodyPr>
          <a:lstStyle/>
          <a:p>
            <a:pP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CAPTCHA:</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a:highlight>
                  <a:srgbClr val="FFFF00"/>
                </a:highlight>
                <a:latin typeface="Calibri" panose="020F0502020204030204" pitchFamily="34" charset="0"/>
                <a:ea typeface="Calibri" panose="020F0502020204030204" pitchFamily="34" charset="0"/>
                <a:cs typeface="Calibri" panose="020F0502020204030204" pitchFamily="34" charset="0"/>
              </a:rPr>
              <a:t>"Completely Automated Public Turing Test to Tell Computers and Humans Apart."</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Used to </a:t>
            </a:r>
            <a:r>
              <a:rPr lang="en-US" sz="1400" b="1" dirty="0">
                <a:latin typeface="Calibri" panose="020F0502020204030204" pitchFamily="34" charset="0"/>
                <a:ea typeface="Calibri" panose="020F0502020204030204" pitchFamily="34" charset="0"/>
                <a:cs typeface="Calibri" panose="020F0502020204030204" pitchFamily="34" charset="0"/>
              </a:rPr>
              <a:t>distinguish between human and automated bot activities</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Usually involves solving a simple </a:t>
            </a:r>
            <a:r>
              <a:rPr lang="en-US" sz="1400" b="1" dirty="0">
                <a:latin typeface="Calibri" panose="020F0502020204030204" pitchFamily="34" charset="0"/>
                <a:ea typeface="Calibri" panose="020F0502020204030204" pitchFamily="34" charset="0"/>
                <a:cs typeface="Calibri" panose="020F0502020204030204" pitchFamily="34" charset="0"/>
              </a:rPr>
              <a:t>math problem, image recognition, or typing distorted text</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Wingdings" panose="05000000000000000000" pitchFamily="2" charset="2"/>
              <a:buChar char="v"/>
            </a:pPr>
            <a:r>
              <a:rPr lang="en-US" sz="1800" b="1" dirty="0">
                <a:latin typeface="Calibri" panose="020F0502020204030204" pitchFamily="34" charset="0"/>
                <a:ea typeface="Calibri" panose="020F0502020204030204" pitchFamily="34" charset="0"/>
                <a:cs typeface="Calibri" panose="020F0502020204030204" pitchFamily="34" charset="0"/>
              </a:rPr>
              <a:t>Purpose:</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Prevents </a:t>
            </a:r>
            <a:r>
              <a:rPr lang="en-US" sz="1400" b="1" dirty="0">
                <a:latin typeface="Calibri" panose="020F0502020204030204" pitchFamily="34" charset="0"/>
                <a:ea typeface="Calibri" panose="020F0502020204030204" pitchFamily="34" charset="0"/>
                <a:cs typeface="Calibri" panose="020F0502020204030204" pitchFamily="34" charset="0"/>
              </a:rPr>
              <a:t>automated abuse</a:t>
            </a:r>
            <a:r>
              <a:rPr lang="en-US" sz="1400" dirty="0">
                <a:latin typeface="Calibri" panose="020F0502020204030204" pitchFamily="34" charset="0"/>
                <a:ea typeface="Calibri" panose="020F0502020204030204" pitchFamily="34" charset="0"/>
                <a:cs typeface="Calibri" panose="020F0502020204030204" pitchFamily="34" charset="0"/>
              </a:rPr>
              <a:t> (like spam submissions or brute-force attacks).</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Ensures that the action is performed by a </a:t>
            </a:r>
            <a:r>
              <a:rPr lang="en-US" sz="1400" b="1" dirty="0">
                <a:latin typeface="Calibri" panose="020F0502020204030204" pitchFamily="34" charset="0"/>
                <a:ea typeface="Calibri" panose="020F0502020204030204" pitchFamily="34" charset="0"/>
                <a:cs typeface="Calibri" panose="020F0502020204030204" pitchFamily="34" charset="0"/>
              </a:rPr>
              <a:t>human</a:t>
            </a:r>
            <a:r>
              <a:rPr lang="en-US" sz="1400" dirty="0">
                <a:latin typeface="Calibri" panose="020F0502020204030204" pitchFamily="34" charset="0"/>
                <a:ea typeface="Calibri" panose="020F0502020204030204" pitchFamily="34" charset="0"/>
                <a:cs typeface="Calibri" panose="020F0502020204030204" pitchFamily="34" charset="0"/>
              </a:rPr>
              <a:t>, not a script.</a:t>
            </a: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6121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6C8FD-EA47-C022-7CD5-C0EEAADDB623}"/>
              </a:ext>
            </a:extLst>
          </p:cNvPr>
          <p:cNvSpPr>
            <a:spLocks noGrp="1"/>
          </p:cNvSpPr>
          <p:nvPr>
            <p:ph type="title"/>
          </p:nvPr>
        </p:nvSpPr>
        <p:spPr/>
        <p:txBody>
          <a:bodyPr>
            <a:norm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How Does CAPTCHA Work in OWASP Juice Shop?</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A2DEC81C-2B6E-39C4-589E-3DD35E52FCCC}"/>
              </a:ext>
            </a:extLst>
          </p:cNvPr>
          <p:cNvSpPr>
            <a:spLocks noGrp="1" noChangeArrowheads="1"/>
          </p:cNvSpPr>
          <p:nvPr>
            <p:ph idx="1"/>
          </p:nvPr>
        </p:nvSpPr>
        <p:spPr bwMode="auto">
          <a:xfrm>
            <a:off x="838200" y="2724020"/>
            <a:ext cx="897636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Finding the CAPTCHA: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Open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Developer Tools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(F12) in your browser.</a:t>
            </a:r>
          </a:p>
          <a:p>
            <a:pPr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Go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Contact Us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page:</a:t>
            </a:r>
            <a:r>
              <a:rPr lang="en-US" altLang="en-US" sz="1400" dirty="0">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http://localhost:3000/#/contact </a:t>
            </a:r>
          </a:p>
          <a:p>
            <a:pPr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Notice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GET request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a:t>
            </a:r>
            <a:r>
              <a:rPr lang="en-US" altLang="en-US" sz="1400" dirty="0">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http://localhost:3000/rest/captcha/ </a:t>
            </a:r>
          </a:p>
          <a:p>
            <a:pPr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response might look like this:</a:t>
            </a:r>
            <a:r>
              <a:rPr lang="en-US" altLang="en-US" sz="1400" dirty="0">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{"captchaId":18,"captcha":"5*8*8","answer":"320"}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tells us: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captchaId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An identifier for the specific CAPTCHA.</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captcha</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The math problem.</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answer</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The correct answer.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8570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2BDF-9813-9C12-C3C7-2323A82C7932}"/>
              </a:ext>
            </a:extLst>
          </p:cNvPr>
          <p:cNvSpPr>
            <a:spLocks noGrp="1"/>
          </p:cNvSpPr>
          <p:nvPr>
            <p:ph type="title"/>
          </p:nvPr>
        </p:nvSpPr>
        <p:spPr/>
        <p:txBody>
          <a:bodyPr>
            <a:normAutofit/>
          </a:bodyPr>
          <a:lstStyle/>
          <a:p>
            <a:pPr algn="ctr"/>
            <a:r>
              <a:rPr lang="en-IN" sz="2400" dirty="0">
                <a:latin typeface="Calibri" panose="020F0502020204030204" pitchFamily="34" charset="0"/>
                <a:ea typeface="Calibri" panose="020F0502020204030204" pitchFamily="34" charset="0"/>
                <a:cs typeface="Calibri" panose="020F0502020204030204" pitchFamily="34" charset="0"/>
              </a:rPr>
              <a:t>Vulnerability: CAPTCHA Bypass</a:t>
            </a:r>
          </a:p>
        </p:txBody>
      </p:sp>
      <p:sp>
        <p:nvSpPr>
          <p:cNvPr id="4" name="Rectangle 1">
            <a:extLst>
              <a:ext uri="{FF2B5EF4-FFF2-40B4-BE49-F238E27FC236}">
                <a16:creationId xmlns:a16="http://schemas.microsoft.com/office/drawing/2014/main" id="{72266ACA-52B3-53B9-76E1-BADEBD812B24}"/>
              </a:ext>
            </a:extLst>
          </p:cNvPr>
          <p:cNvSpPr>
            <a:spLocks noChangeArrowheads="1"/>
          </p:cNvSpPr>
          <p:nvPr/>
        </p:nvSpPr>
        <p:spPr bwMode="auto">
          <a:xfrm>
            <a:off x="975160" y="1833733"/>
            <a:ext cx="6614696"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After submitting a feedback form,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new CAPTCHA</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 generated.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But if you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reuse the old CAPTCHA ID and answer</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server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still accepts the response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means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CAPTCHA check is not properly updated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after each submission.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11378754-5327-04C8-1D47-7BABF06A0787}"/>
              </a:ext>
            </a:extLst>
          </p:cNvPr>
          <p:cNvSpPr>
            <a:spLocks noChangeArrowheads="1"/>
          </p:cNvSpPr>
          <p:nvPr/>
        </p:nvSpPr>
        <p:spPr bwMode="auto">
          <a:xfrm>
            <a:off x="975160" y="3692439"/>
            <a:ext cx="675165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Why Does This Happen?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CAPTCHA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ID and answer</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are stored server-side but not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invalidated after use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Instead of requiring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fresh CAPTCHA data</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every submission, it allows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reusing old data</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leads to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CAPTCHA-pinning issue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4861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F16A3-BC08-3FDB-8954-0DD1C34CE7B0}"/>
              </a:ext>
            </a:extLst>
          </p:cNvPr>
          <p:cNvSpPr>
            <a:spLocks noGrp="1"/>
          </p:cNvSpPr>
          <p:nvPr>
            <p:ph type="title"/>
          </p:nvPr>
        </p:nvSpPr>
        <p:spPr/>
        <p:txBody>
          <a:bodyPr>
            <a:norm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How to Exploit the CAPTCHA Bypass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6BE991BA-EEEB-1BE5-87C9-E4FD7BC241DD}"/>
              </a:ext>
            </a:extLst>
          </p:cNvPr>
          <p:cNvSpPr>
            <a:spLocks noGrp="1"/>
          </p:cNvSpPr>
          <p:nvPr>
            <p:ph idx="1"/>
          </p:nvPr>
        </p:nvSpPr>
        <p:spPr>
          <a:xfrm>
            <a:off x="838200" y="1825625"/>
            <a:ext cx="8884920" cy="3152775"/>
          </a:xfrm>
        </p:spPr>
        <p:txBody>
          <a:bodyPr/>
          <a:lstStyle/>
          <a:p>
            <a:pPr>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M</a:t>
            </a:r>
            <a:r>
              <a:rPr lang="en-US" sz="1800" b="1" dirty="0">
                <a:latin typeface="Calibri" panose="020F0502020204030204" pitchFamily="34" charset="0"/>
                <a:ea typeface="Calibri" panose="020F0502020204030204" pitchFamily="34" charset="0"/>
                <a:cs typeface="Calibri" panose="020F0502020204030204" pitchFamily="34" charset="0"/>
              </a:rPr>
              <a:t>anual Exploitation:</a:t>
            </a:r>
          </a:p>
          <a:p>
            <a:pPr>
              <a:buFont typeface="+mj-lt"/>
              <a:buAutoNum type="arabicPeriod"/>
            </a:pPr>
            <a:r>
              <a:rPr lang="en-US" sz="1400" b="1" dirty="0">
                <a:latin typeface="Calibri" panose="020F0502020204030204" pitchFamily="34" charset="0"/>
                <a:ea typeface="Calibri" panose="020F0502020204030204" pitchFamily="34" charset="0"/>
                <a:cs typeface="Calibri" panose="020F0502020204030204" pitchFamily="34" charset="0"/>
              </a:rPr>
              <a:t>Open multiple browser tabs (at least 10).</a:t>
            </a: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400" dirty="0">
                <a:latin typeface="Calibri" panose="020F0502020204030204" pitchFamily="34" charset="0"/>
                <a:ea typeface="Calibri" panose="020F0502020204030204" pitchFamily="34" charset="0"/>
                <a:cs typeface="Calibri" panose="020F0502020204030204" pitchFamily="34" charset="0"/>
              </a:rPr>
              <a:t>Solve each CAPTCHA in the tabs.</a:t>
            </a:r>
          </a:p>
          <a:p>
            <a:pPr>
              <a:buFont typeface="+mj-lt"/>
              <a:buAutoNum type="arabicPeriod"/>
            </a:pPr>
            <a:r>
              <a:rPr lang="en-US" sz="1400" b="1" dirty="0">
                <a:latin typeface="Calibri" panose="020F0502020204030204" pitchFamily="34" charset="0"/>
                <a:ea typeface="Calibri" panose="020F0502020204030204" pitchFamily="34" charset="0"/>
                <a:cs typeface="Calibri" panose="020F0502020204030204" pitchFamily="34" charset="0"/>
              </a:rPr>
              <a:t>Quickly submit all feedbacks (within 20 seconds).</a:t>
            </a: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400" dirty="0">
                <a:latin typeface="Calibri" panose="020F0502020204030204" pitchFamily="34" charset="0"/>
                <a:ea typeface="Calibri" panose="020F0502020204030204" pitchFamily="34" charset="0"/>
                <a:cs typeface="Calibri" panose="020F0502020204030204" pitchFamily="34" charset="0"/>
              </a:rPr>
              <a:t>This method is </a:t>
            </a:r>
            <a:r>
              <a:rPr lang="en-US" sz="1400" b="1" dirty="0">
                <a:latin typeface="Calibri" panose="020F0502020204030204" pitchFamily="34" charset="0"/>
                <a:ea typeface="Calibri" panose="020F0502020204030204" pitchFamily="34" charset="0"/>
                <a:cs typeface="Calibri" panose="020F0502020204030204" pitchFamily="34" charset="0"/>
              </a:rPr>
              <a:t>impractical</a:t>
            </a:r>
            <a:r>
              <a:rPr lang="en-US" sz="1400" dirty="0">
                <a:latin typeface="Calibri" panose="020F0502020204030204" pitchFamily="34" charset="0"/>
                <a:ea typeface="Calibri" panose="020F0502020204030204" pitchFamily="34" charset="0"/>
                <a:cs typeface="Calibri" panose="020F0502020204030204" pitchFamily="34" charset="0"/>
              </a:rPr>
              <a:t> for high numbers but shows the vulnerability.</a:t>
            </a:r>
          </a:p>
          <a:p>
            <a:endParaRPr lang="en-IN" dirty="0"/>
          </a:p>
        </p:txBody>
      </p:sp>
      <p:sp>
        <p:nvSpPr>
          <p:cNvPr id="4" name="Rectangle 1">
            <a:extLst>
              <a:ext uri="{FF2B5EF4-FFF2-40B4-BE49-F238E27FC236}">
                <a16:creationId xmlns:a16="http://schemas.microsoft.com/office/drawing/2014/main" id="{4B6498C2-553B-42DB-672B-9863F8E6F8C6}"/>
              </a:ext>
            </a:extLst>
          </p:cNvPr>
          <p:cNvSpPr>
            <a:spLocks noChangeArrowheads="1"/>
          </p:cNvSpPr>
          <p:nvPr/>
        </p:nvSpPr>
        <p:spPr bwMode="auto">
          <a:xfrm>
            <a:off x="838200" y="3553254"/>
            <a:ext cx="10301357"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Automated Exploitation:</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Write a script that: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Fetches a CAPTCHA from the endpoint: </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http://localhost:3000/rest/captcha/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Uses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same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captchaId</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answer</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repeatedly.</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Automate the feedback submission:</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a loop to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send 10 feedback requests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within 20 seconds.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5017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F3AB2-F71A-DB89-E94C-022FD16D6329}"/>
              </a:ext>
            </a:extLst>
          </p:cNvPr>
          <p:cNvSpPr>
            <a:spLocks noGrp="1"/>
          </p:cNvSpPr>
          <p:nvPr>
            <p:ph type="title"/>
          </p:nvPr>
        </p:nvSpPr>
        <p:spPr/>
        <p:txBody>
          <a:bodyPr>
            <a:norm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How to Fix the Vulnerability</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B4D8BCA8-43DB-90E2-FECE-D8F4DEF90E08}"/>
              </a:ext>
            </a:extLst>
          </p:cNvPr>
          <p:cNvSpPr>
            <a:spLocks noGrp="1" noChangeArrowheads="1"/>
          </p:cNvSpPr>
          <p:nvPr>
            <p:ph idx="1"/>
          </p:nvPr>
        </p:nvSpPr>
        <p:spPr bwMode="auto">
          <a:xfrm>
            <a:off x="838200" y="2447024"/>
            <a:ext cx="575991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Invalidate CAPTCHA After Use:</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Once a CAPTCHA is solved,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generate a new one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the next request.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Time-Limited Captchas:</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Set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time limit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each CAPTCHA’s validity.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IP Rate Limiting:</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Restrict the number of submissions from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same IP</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within a short period.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Dynamic CAPTCHAs:</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randomized math problems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that change frequently.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65826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12823-DCBD-3922-7014-7C80EF8B6038}"/>
              </a:ext>
            </a:extLst>
          </p:cNvPr>
          <p:cNvSpPr>
            <a:spLocks noGrp="1"/>
          </p:cNvSpPr>
          <p:nvPr>
            <p:ph type="title"/>
          </p:nvPr>
        </p:nvSpPr>
        <p:spPr/>
        <p:txBody>
          <a:bodyPr>
            <a:normAutofit/>
          </a:bodyPr>
          <a:lstStyle/>
          <a:p>
            <a:pPr algn="ctr"/>
            <a:r>
              <a:rPr lang="en-IN" sz="2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Extra Language problem</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D30D2D3-E4A2-A2C7-59B7-B32FD37F71EB}"/>
              </a:ext>
            </a:extLst>
          </p:cNvPr>
          <p:cNvSpPr>
            <a:spLocks noGrp="1"/>
          </p:cNvSpPr>
          <p:nvPr>
            <p:ph idx="1"/>
          </p:nvPr>
        </p:nvSpPr>
        <p:spPr>
          <a:xfrm>
            <a:off x="838200" y="1825624"/>
            <a:ext cx="10515600" cy="4575175"/>
          </a:xfrm>
        </p:spPr>
        <p:txBody>
          <a:bodyPr>
            <a:normAutofit fontScale="92500" lnSpcReduction="20000"/>
          </a:bodyPr>
          <a:lstStyle/>
          <a:p>
            <a:pPr>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There’s a </a:t>
            </a:r>
            <a:r>
              <a:rPr lang="en-US" sz="1500" b="1" dirty="0">
                <a:latin typeface="Calibri" panose="020F0502020204030204" pitchFamily="34" charset="0"/>
                <a:ea typeface="Calibri" panose="020F0502020204030204" pitchFamily="34" charset="0"/>
                <a:cs typeface="Calibri" panose="020F0502020204030204" pitchFamily="34" charset="0"/>
              </a:rPr>
              <a:t>hidden language</a:t>
            </a:r>
            <a:r>
              <a:rPr lang="en-US" sz="1500" dirty="0">
                <a:latin typeface="Calibri" panose="020F0502020204030204" pitchFamily="34" charset="0"/>
                <a:ea typeface="Calibri" panose="020F0502020204030204" pitchFamily="34" charset="0"/>
                <a:cs typeface="Calibri" panose="020F0502020204030204" pitchFamily="34" charset="0"/>
              </a:rPr>
              <a:t> file in Juice Shop that </a:t>
            </a:r>
            <a:r>
              <a:rPr lang="en-US" sz="1500" b="1" dirty="0">
                <a:latin typeface="Calibri" panose="020F0502020204030204" pitchFamily="34" charset="0"/>
                <a:ea typeface="Calibri" panose="020F0502020204030204" pitchFamily="34" charset="0"/>
                <a:cs typeface="Calibri" panose="020F0502020204030204" pitchFamily="34" charset="0"/>
              </a:rPr>
              <a:t>never made it to the language selection menu</a:t>
            </a:r>
            <a:r>
              <a:rPr lang="en-US" sz="15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This means there’s a </a:t>
            </a:r>
            <a:r>
              <a:rPr lang="en-US" sz="1500" b="1" dirty="0">
                <a:latin typeface="Calibri" panose="020F0502020204030204" pitchFamily="34" charset="0"/>
                <a:ea typeface="Calibri" panose="020F0502020204030204" pitchFamily="34" charset="0"/>
                <a:cs typeface="Calibri" panose="020F0502020204030204" pitchFamily="34" charset="0"/>
              </a:rPr>
              <a:t>translation file on the server</a:t>
            </a:r>
            <a:r>
              <a:rPr lang="en-US" sz="1500" dirty="0">
                <a:latin typeface="Calibri" panose="020F0502020204030204" pitchFamily="34" charset="0"/>
                <a:ea typeface="Calibri" panose="020F0502020204030204" pitchFamily="34" charset="0"/>
                <a:cs typeface="Calibri" panose="020F0502020204030204" pitchFamily="34" charset="0"/>
              </a:rPr>
              <a:t> that users </a:t>
            </a:r>
            <a:r>
              <a:rPr lang="en-US" sz="1500" b="1" dirty="0">
                <a:latin typeface="Calibri" panose="020F0502020204030204" pitchFamily="34" charset="0"/>
                <a:ea typeface="Calibri" panose="020F0502020204030204" pitchFamily="34" charset="0"/>
                <a:cs typeface="Calibri" panose="020F0502020204030204" pitchFamily="34" charset="0"/>
              </a:rPr>
              <a:t>can’t normally choose</a:t>
            </a:r>
            <a:r>
              <a:rPr lang="en-US" sz="15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The hidden language is </a:t>
            </a:r>
            <a:r>
              <a:rPr lang="en-US" sz="1500" b="1" dirty="0">
                <a:latin typeface="Calibri" panose="020F0502020204030204" pitchFamily="34" charset="0"/>
                <a:ea typeface="Calibri" panose="020F0502020204030204" pitchFamily="34" charset="0"/>
                <a:cs typeface="Calibri" panose="020F0502020204030204" pitchFamily="34" charset="0"/>
              </a:rPr>
              <a:t>Klingon (</a:t>
            </a:r>
            <a:r>
              <a:rPr lang="en-US" sz="1500" b="1" dirty="0" err="1">
                <a:latin typeface="Calibri" panose="020F0502020204030204" pitchFamily="34" charset="0"/>
                <a:ea typeface="Calibri" panose="020F0502020204030204" pitchFamily="34" charset="0"/>
                <a:cs typeface="Calibri" panose="020F0502020204030204" pitchFamily="34" charset="0"/>
              </a:rPr>
              <a:t>tlh_AA</a:t>
            </a:r>
            <a:r>
              <a:rPr lang="en-US" sz="1500" b="1" dirty="0">
                <a:latin typeface="Calibri" panose="020F0502020204030204" pitchFamily="34" charset="0"/>
                <a:ea typeface="Calibri" panose="020F0502020204030204" pitchFamily="34" charset="0"/>
                <a:cs typeface="Calibri" panose="020F0502020204030204" pitchFamily="34" charset="0"/>
              </a:rPr>
              <a:t>)</a:t>
            </a:r>
            <a:r>
              <a:rPr lang="en-US" sz="1500" dirty="0">
                <a:latin typeface="Calibri" panose="020F0502020204030204" pitchFamily="34" charset="0"/>
                <a:ea typeface="Calibri" panose="020F0502020204030204" pitchFamily="34" charset="0"/>
                <a:cs typeface="Calibri" panose="020F0502020204030204" pitchFamily="34" charset="0"/>
              </a:rPr>
              <a:t>, a fictional language from </a:t>
            </a:r>
            <a:r>
              <a:rPr lang="en-US" sz="1500" b="1" dirty="0">
                <a:latin typeface="Calibri" panose="020F0502020204030204" pitchFamily="34" charset="0"/>
                <a:ea typeface="Calibri" panose="020F0502020204030204" pitchFamily="34" charset="0"/>
                <a:cs typeface="Calibri" panose="020F0502020204030204" pitchFamily="34" charset="0"/>
              </a:rPr>
              <a:t>Star Trek</a:t>
            </a:r>
            <a:r>
              <a:rPr lang="en-US" sz="15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How to Find the Extra Language:</a:t>
            </a:r>
          </a:p>
          <a:p>
            <a:endParaRPr lang="en-US" sz="1500" dirty="0">
              <a:latin typeface="Calibri" panose="020F0502020204030204" pitchFamily="34" charset="0"/>
              <a:ea typeface="Calibri" panose="020F0502020204030204" pitchFamily="34" charset="0"/>
              <a:cs typeface="Calibri" panose="020F0502020204030204" pitchFamily="34" charset="0"/>
            </a:endParaRPr>
          </a:p>
          <a:p>
            <a:r>
              <a:rPr lang="en-US" sz="1500" dirty="0">
                <a:latin typeface="Calibri" panose="020F0502020204030204" pitchFamily="34" charset="0"/>
                <a:ea typeface="Calibri" panose="020F0502020204030204" pitchFamily="34" charset="0"/>
                <a:cs typeface="Calibri" panose="020F0502020204030204" pitchFamily="34" charset="0"/>
              </a:rPr>
              <a:t>1) </a:t>
            </a:r>
            <a:r>
              <a:rPr lang="en-IN" sz="1500" dirty="0">
                <a:latin typeface="Calibri" panose="020F0502020204030204" pitchFamily="34" charset="0"/>
                <a:ea typeface="Calibri" panose="020F0502020204030204" pitchFamily="34" charset="0"/>
                <a:cs typeface="Calibri" panose="020F0502020204030204" pitchFamily="34" charset="0"/>
              </a:rPr>
              <a:t>Understand the Pattern:</a:t>
            </a:r>
            <a:endParaRPr lang="en-US" sz="1500" dirty="0">
              <a:latin typeface="Calibri" panose="020F0502020204030204" pitchFamily="34" charset="0"/>
              <a:ea typeface="Calibri" panose="020F0502020204030204" pitchFamily="34" charset="0"/>
              <a:cs typeface="Calibri" panose="020F0502020204030204" pitchFamily="34" charset="0"/>
            </a:endParaRPr>
          </a:p>
          <a:p>
            <a:r>
              <a:rPr lang="en-US" sz="1500" dirty="0">
                <a:latin typeface="Calibri" panose="020F0502020204030204" pitchFamily="34" charset="0"/>
                <a:ea typeface="Calibri" panose="020F0502020204030204" pitchFamily="34" charset="0"/>
                <a:cs typeface="Calibri" panose="020F0502020204030204" pitchFamily="34" charset="0"/>
              </a:rPr>
              <a:t>Juice Shop stores language files like this:</a:t>
            </a:r>
          </a:p>
          <a:p>
            <a:r>
              <a:rPr lang="en-US" sz="1500" dirty="0">
                <a:highlight>
                  <a:srgbClr val="FFFF00"/>
                </a:highlight>
                <a:latin typeface="Calibri" panose="020F0502020204030204" pitchFamily="34" charset="0"/>
                <a:ea typeface="Calibri" panose="020F0502020204030204" pitchFamily="34" charset="0"/>
                <a:cs typeface="Calibri" panose="020F0502020204030204" pitchFamily="34" charset="0"/>
              </a:rPr>
              <a:t>http://localhost:3000/i18n/en.json      (English)</a:t>
            </a:r>
          </a:p>
          <a:p>
            <a:r>
              <a:rPr lang="en-US" sz="1500" dirty="0">
                <a:highlight>
                  <a:srgbClr val="FFFF00"/>
                </a:highlight>
                <a:latin typeface="Calibri" panose="020F0502020204030204" pitchFamily="34" charset="0"/>
                <a:ea typeface="Calibri" panose="020F0502020204030204" pitchFamily="34" charset="0"/>
                <a:cs typeface="Calibri" panose="020F0502020204030204" pitchFamily="34" charset="0"/>
              </a:rPr>
              <a:t>http://localhost:3000/i18n/de_DE.json   (German)</a:t>
            </a:r>
          </a:p>
          <a:p>
            <a:r>
              <a:rPr lang="en-US" sz="1500" dirty="0">
                <a:highlight>
                  <a:srgbClr val="FFFF00"/>
                </a:highlight>
                <a:latin typeface="Calibri" panose="020F0502020204030204" pitchFamily="34" charset="0"/>
                <a:ea typeface="Calibri" panose="020F0502020204030204" pitchFamily="34" charset="0"/>
                <a:cs typeface="Calibri" panose="020F0502020204030204" pitchFamily="34" charset="0"/>
              </a:rPr>
              <a:t>http://localhost:3000/i18n/nl_NL.json   (Dutch)</a:t>
            </a:r>
          </a:p>
          <a:p>
            <a:r>
              <a:rPr lang="en-IN" sz="1500" dirty="0">
                <a:latin typeface="Calibri" panose="020F0502020204030204" pitchFamily="34" charset="0"/>
                <a:ea typeface="Calibri" panose="020F0502020204030204" pitchFamily="34" charset="0"/>
                <a:cs typeface="Calibri" panose="020F0502020204030204" pitchFamily="34" charset="0"/>
              </a:rPr>
              <a:t>The format is: </a:t>
            </a:r>
            <a:r>
              <a:rPr lang="en-IN" sz="1500" dirty="0">
                <a:highlight>
                  <a:srgbClr val="FFFF00"/>
                </a:highlight>
                <a:latin typeface="Calibri" panose="020F0502020204030204" pitchFamily="34" charset="0"/>
                <a:ea typeface="Calibri" panose="020F0502020204030204" pitchFamily="34" charset="0"/>
                <a:cs typeface="Calibri" panose="020F0502020204030204" pitchFamily="34" charset="0"/>
              </a:rPr>
              <a:t>/i18n/&lt;</a:t>
            </a:r>
            <a:r>
              <a:rPr lang="en-IN" sz="1500" dirty="0" err="1">
                <a:highlight>
                  <a:srgbClr val="FFFF00"/>
                </a:highlight>
                <a:latin typeface="Calibri" panose="020F0502020204030204" pitchFamily="34" charset="0"/>
                <a:ea typeface="Calibri" panose="020F0502020204030204" pitchFamily="34" charset="0"/>
                <a:cs typeface="Calibri" panose="020F0502020204030204" pitchFamily="34" charset="0"/>
              </a:rPr>
              <a:t>languageCode</a:t>
            </a:r>
            <a:r>
              <a:rPr lang="en-IN" sz="1500" dirty="0">
                <a:highlight>
                  <a:srgbClr val="FFFF00"/>
                </a:highlight>
                <a:latin typeface="Calibri" panose="020F0502020204030204" pitchFamily="34" charset="0"/>
                <a:ea typeface="Calibri" panose="020F0502020204030204" pitchFamily="34" charset="0"/>
                <a:cs typeface="Calibri" panose="020F0502020204030204" pitchFamily="34" charset="0"/>
              </a:rPr>
              <a:t>&gt;_&lt;</a:t>
            </a:r>
            <a:r>
              <a:rPr lang="en-IN" sz="1500" dirty="0" err="1">
                <a:highlight>
                  <a:srgbClr val="FFFF00"/>
                </a:highlight>
                <a:latin typeface="Calibri" panose="020F0502020204030204" pitchFamily="34" charset="0"/>
                <a:ea typeface="Calibri" panose="020F0502020204030204" pitchFamily="34" charset="0"/>
                <a:cs typeface="Calibri" panose="020F0502020204030204" pitchFamily="34" charset="0"/>
              </a:rPr>
              <a:t>countryCode</a:t>
            </a:r>
            <a:r>
              <a:rPr lang="en-IN" sz="1500" dirty="0">
                <a:highlight>
                  <a:srgbClr val="FFFF00"/>
                </a:highlight>
                <a:latin typeface="Calibri" panose="020F0502020204030204" pitchFamily="34" charset="0"/>
                <a:ea typeface="Calibri" panose="020F0502020204030204" pitchFamily="34" charset="0"/>
                <a:cs typeface="Calibri" panose="020F0502020204030204" pitchFamily="34" charset="0"/>
              </a:rPr>
              <a:t>&gt;.</a:t>
            </a:r>
            <a:r>
              <a:rPr lang="en-IN" sz="1500" dirty="0" err="1">
                <a:highlight>
                  <a:srgbClr val="FFFF00"/>
                </a:highlight>
                <a:latin typeface="Calibri" panose="020F0502020204030204" pitchFamily="34" charset="0"/>
                <a:ea typeface="Calibri" panose="020F0502020204030204" pitchFamily="34" charset="0"/>
                <a:cs typeface="Calibri" panose="020F0502020204030204" pitchFamily="34" charset="0"/>
              </a:rPr>
              <a:t>json</a:t>
            </a:r>
            <a:endParaRPr lang="en-IN" sz="1500" dirty="0">
              <a:highlight>
                <a:srgbClr val="FFFF00"/>
              </a:highlight>
              <a:latin typeface="Calibri" panose="020F0502020204030204" pitchFamily="34" charset="0"/>
              <a:ea typeface="Calibri" panose="020F0502020204030204" pitchFamily="34" charset="0"/>
              <a:cs typeface="Calibri" panose="020F0502020204030204" pitchFamily="34" charset="0"/>
            </a:endParaRPr>
          </a:p>
          <a:p>
            <a:endParaRPr lang="en-IN" sz="1500" dirty="0">
              <a:latin typeface="Calibri" panose="020F0502020204030204" pitchFamily="34" charset="0"/>
              <a:ea typeface="Calibri" panose="020F0502020204030204" pitchFamily="34" charset="0"/>
              <a:cs typeface="Calibri" panose="020F0502020204030204" pitchFamily="34" charset="0"/>
            </a:endParaRPr>
          </a:p>
          <a:p>
            <a:r>
              <a:rPr lang="en-IN" sz="1500" dirty="0">
                <a:latin typeface="Calibri" panose="020F0502020204030204" pitchFamily="34" charset="0"/>
                <a:ea typeface="Calibri" panose="020F0502020204030204" pitchFamily="34" charset="0"/>
                <a:cs typeface="Calibri" panose="020F0502020204030204" pitchFamily="34" charset="0"/>
              </a:rPr>
              <a:t>2) Check HTTP Requests:</a:t>
            </a:r>
          </a:p>
          <a:p>
            <a:r>
              <a:rPr lang="en-US" sz="1500" dirty="0">
                <a:latin typeface="Calibri" panose="020F0502020204030204" pitchFamily="34" charset="0"/>
                <a:ea typeface="Calibri" panose="020F0502020204030204" pitchFamily="34" charset="0"/>
                <a:cs typeface="Calibri" panose="020F0502020204030204" pitchFamily="34" charset="0"/>
              </a:rPr>
              <a:t>When switching languages, open the </a:t>
            </a:r>
            <a:r>
              <a:rPr lang="en-US" sz="1500" b="1" dirty="0">
                <a:latin typeface="Calibri" panose="020F0502020204030204" pitchFamily="34" charset="0"/>
                <a:ea typeface="Calibri" panose="020F0502020204030204" pitchFamily="34" charset="0"/>
                <a:cs typeface="Calibri" panose="020F0502020204030204" pitchFamily="34" charset="0"/>
              </a:rPr>
              <a:t>Developer Tools (F12)</a:t>
            </a:r>
            <a:r>
              <a:rPr lang="en-US" sz="1500" dirty="0">
                <a:latin typeface="Calibri" panose="020F0502020204030204" pitchFamily="34" charset="0"/>
                <a:ea typeface="Calibri" panose="020F0502020204030204" pitchFamily="34" charset="0"/>
                <a:cs typeface="Calibri" panose="020F0502020204030204" pitchFamily="34" charset="0"/>
              </a:rPr>
              <a:t> and check the </a:t>
            </a:r>
            <a:r>
              <a:rPr lang="en-US" sz="1500" b="1" dirty="0">
                <a:latin typeface="Calibri" panose="020F0502020204030204" pitchFamily="34" charset="0"/>
                <a:ea typeface="Calibri" panose="020F0502020204030204" pitchFamily="34" charset="0"/>
                <a:cs typeface="Calibri" panose="020F0502020204030204" pitchFamily="34" charset="0"/>
              </a:rPr>
              <a:t>Network tab</a:t>
            </a:r>
            <a:r>
              <a:rPr lang="en-US" sz="1500" dirty="0">
                <a:latin typeface="Calibri" panose="020F0502020204030204" pitchFamily="34" charset="0"/>
                <a:ea typeface="Calibri" panose="020F0502020204030204" pitchFamily="34" charset="0"/>
                <a:cs typeface="Calibri" panose="020F0502020204030204" pitchFamily="34" charset="0"/>
              </a:rPr>
              <a:t>.</a:t>
            </a:r>
          </a:p>
          <a:p>
            <a:r>
              <a:rPr lang="en-US" sz="1500" dirty="0">
                <a:latin typeface="Calibri" panose="020F0502020204030204" pitchFamily="34" charset="0"/>
                <a:ea typeface="Calibri" panose="020F0502020204030204" pitchFamily="34" charset="0"/>
                <a:cs typeface="Calibri" panose="020F0502020204030204" pitchFamily="34" charset="0"/>
              </a:rPr>
              <a:t>Notice how the </a:t>
            </a:r>
            <a:r>
              <a:rPr lang="en-US" sz="1500" b="1" dirty="0">
                <a:latin typeface="Calibri" panose="020F0502020204030204" pitchFamily="34" charset="0"/>
                <a:ea typeface="Calibri" panose="020F0502020204030204" pitchFamily="34" charset="0"/>
                <a:cs typeface="Calibri" panose="020F0502020204030204" pitchFamily="34" charset="0"/>
              </a:rPr>
              <a:t>URL changes</a:t>
            </a:r>
            <a:r>
              <a:rPr lang="en-US" sz="1500" dirty="0">
                <a:latin typeface="Calibri" panose="020F0502020204030204" pitchFamily="34" charset="0"/>
                <a:ea typeface="Calibri" panose="020F0502020204030204" pitchFamily="34" charset="0"/>
                <a:cs typeface="Calibri" panose="020F0502020204030204" pitchFamily="34" charset="0"/>
              </a:rPr>
              <a:t> when you switch languages.</a:t>
            </a:r>
            <a:endParaRPr lang="en-IN" sz="15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3705192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C0947-9D8E-FB72-B96E-F3C38FB27E1C}"/>
              </a:ext>
            </a:extLst>
          </p:cNvPr>
          <p:cNvSpPr>
            <a:spLocks noGrp="1"/>
          </p:cNvSpPr>
          <p:nvPr>
            <p:ph type="title"/>
          </p:nvPr>
        </p:nvSpPr>
        <p:spPr/>
        <p:txBody>
          <a:bodyPr>
            <a:normAutofit/>
          </a:bodyPr>
          <a:lstStyle/>
          <a:p>
            <a:pPr algn="ctr"/>
            <a:r>
              <a:rPr lang="en-IN" sz="2400" dirty="0">
                <a:latin typeface="Calibri" panose="020F0502020204030204" pitchFamily="34" charset="0"/>
                <a:ea typeface="Calibri" panose="020F0502020204030204" pitchFamily="34" charset="0"/>
                <a:cs typeface="Calibri" panose="020F0502020204030204" pitchFamily="34" charset="0"/>
              </a:rPr>
              <a:t>Exploiting the Vulnerability</a:t>
            </a:r>
          </a:p>
        </p:txBody>
      </p:sp>
      <p:sp>
        <p:nvSpPr>
          <p:cNvPr id="4" name="Rectangle 1">
            <a:extLst>
              <a:ext uri="{FF2B5EF4-FFF2-40B4-BE49-F238E27FC236}">
                <a16:creationId xmlns:a16="http://schemas.microsoft.com/office/drawing/2014/main" id="{412454F2-F319-EEA6-AC63-1B4070B84C6A}"/>
              </a:ext>
            </a:extLst>
          </p:cNvPr>
          <p:cNvSpPr>
            <a:spLocks noGrp="1" noChangeArrowheads="1"/>
          </p:cNvSpPr>
          <p:nvPr>
            <p:ph idx="1"/>
          </p:nvPr>
        </p:nvSpPr>
        <p:spPr bwMode="auto">
          <a:xfrm>
            <a:off x="1216986" y="1559571"/>
            <a:ext cx="8074070"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Step 1: </a:t>
            </a:r>
          </a:p>
          <a:p>
            <a:pPr eaLnBrk="0" fontAlgn="base" hangingPunct="0">
              <a:lnSpc>
                <a:spcPct val="100000"/>
              </a:lnSpc>
              <a:spcBef>
                <a:spcPct val="0"/>
              </a:spcBef>
              <a:spcAft>
                <a:spcPct val="0"/>
              </a:spcAf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Juice Shop uses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Crowdin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language management.</a:t>
            </a:r>
          </a:p>
          <a:p>
            <a:pPr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Visit: </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hlinkClick r:id="rId2"/>
              </a:rPr>
              <a:t>https://crowdin.com/project/owasp-juice-shop</a:t>
            </a:r>
            <a:endPar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lang="en-US" sz="1400" b="1" dirty="0" err="1">
                <a:latin typeface="Calibri" panose="020F0502020204030204" pitchFamily="34" charset="0"/>
                <a:ea typeface="Calibri" panose="020F0502020204030204" pitchFamily="34" charset="0"/>
                <a:cs typeface="Calibri" panose="020F0502020204030204" pitchFamily="34" charset="0"/>
              </a:rPr>
              <a:t>Crowdin</a:t>
            </a:r>
            <a:r>
              <a:rPr lang="en-US" sz="1400" dirty="0">
                <a:latin typeface="Calibri" panose="020F0502020204030204" pitchFamily="34" charset="0"/>
                <a:ea typeface="Calibri" panose="020F0502020204030204" pitchFamily="34" charset="0"/>
                <a:cs typeface="Calibri" panose="020F0502020204030204" pitchFamily="34" charset="0"/>
              </a:rPr>
              <a:t> is a </a:t>
            </a:r>
            <a:r>
              <a:rPr lang="en-US" sz="1400" b="1" dirty="0">
                <a:latin typeface="Calibri" panose="020F0502020204030204" pitchFamily="34" charset="0"/>
                <a:ea typeface="Calibri" panose="020F0502020204030204" pitchFamily="34" charset="0"/>
                <a:cs typeface="Calibri" panose="020F0502020204030204" pitchFamily="34" charset="0"/>
              </a:rPr>
              <a:t>cloud-based localization management platform</a:t>
            </a:r>
            <a:r>
              <a:rPr lang="en-US" sz="1400" dirty="0">
                <a:latin typeface="Calibri" panose="020F0502020204030204" pitchFamily="34" charset="0"/>
                <a:ea typeface="Calibri" panose="020F0502020204030204" pitchFamily="34" charset="0"/>
                <a:cs typeface="Calibri" panose="020F0502020204030204" pitchFamily="34" charset="0"/>
              </a:rPr>
              <a:t> that helps developers and content creators </a:t>
            </a:r>
          </a:p>
          <a:p>
            <a:pPr marL="0" indent="0" eaLnBrk="0" fontAlgn="base" hangingPunct="0">
              <a:lnSpc>
                <a:spcPct val="100000"/>
              </a:lnSpc>
              <a:spcBef>
                <a:spcPct val="0"/>
              </a:spcBef>
              <a:spcAft>
                <a:spcPct val="0"/>
              </a:spcAft>
              <a:buNone/>
            </a:pPr>
            <a:r>
              <a:rPr lang="en-US" sz="1400" dirty="0">
                <a:latin typeface="Calibri" panose="020F0502020204030204" pitchFamily="34" charset="0"/>
                <a:ea typeface="Calibri" panose="020F0502020204030204" pitchFamily="34" charset="0"/>
                <a:cs typeface="Calibri" panose="020F0502020204030204" pitchFamily="34" charset="0"/>
              </a:rPr>
              <a:t>      translate their software, apps, websites, games, and other content into multiple languages.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48BA6284-5AA6-CA15-52DD-6FF31D5A037C}"/>
              </a:ext>
            </a:extLst>
          </p:cNvPr>
          <p:cNvSpPr>
            <a:spLocks noChangeArrowheads="1"/>
          </p:cNvSpPr>
          <p:nvPr/>
        </p:nvSpPr>
        <p:spPr bwMode="auto">
          <a:xfrm>
            <a:off x="1216986" y="2885134"/>
            <a:ext cx="629589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Here you’ll find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Klingon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tlh_AA</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listed as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supported language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Step 2:</a:t>
            </a:r>
          </a:p>
          <a:p>
            <a:pPr marL="285750" indent="-285750" eaLnBrk="0" fontAlgn="base" hangingPunct="0">
              <a:spcBef>
                <a:spcPct val="0"/>
              </a:spcBef>
              <a:spcAft>
                <a:spcPct val="0"/>
              </a:spcAft>
              <a:buFont typeface="Arial" panose="020B0604020202020204" pitchFamily="34" charset="0"/>
              <a:buChar char="•"/>
            </a:pPr>
            <a:endParaRPr lang="en-IN" sz="1400" b="1" dirty="0">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Font typeface="Arial" panose="020B0604020202020204" pitchFamily="34" charset="0"/>
              <a:buChar char="•"/>
            </a:pPr>
            <a:r>
              <a:rPr lang="en-IN" sz="1400" b="1" dirty="0">
                <a:latin typeface="Calibri" panose="020F0502020204030204" pitchFamily="34" charset="0"/>
                <a:ea typeface="Calibri" panose="020F0502020204030204" pitchFamily="34" charset="0"/>
                <a:cs typeface="Calibri" panose="020F0502020204030204" pitchFamily="34" charset="0"/>
              </a:rPr>
              <a:t>Access the Hidden Language:</a:t>
            </a:r>
          </a:p>
          <a:p>
            <a:pPr marL="285750" indent="-285750" eaLnBrk="0" fontAlgn="base" hangingPunct="0">
              <a:spcBef>
                <a:spcPct val="0"/>
              </a:spcBef>
              <a:spcAft>
                <a:spcPct val="0"/>
              </a:spcAft>
              <a:buFont typeface="Arial" panose="020B0604020202020204" pitchFamily="34" charset="0"/>
              <a:buChar char="•"/>
            </a:pPr>
            <a:r>
              <a:rPr lang="en-IN" sz="1400" b="1" dirty="0">
                <a:latin typeface="Calibri" panose="020F0502020204030204" pitchFamily="34" charset="0"/>
                <a:ea typeface="Calibri" panose="020F0502020204030204" pitchFamily="34" charset="0"/>
                <a:cs typeface="Calibri" panose="020F0502020204030204" pitchFamily="34" charset="0"/>
              </a:rPr>
              <a:t>Directly visit : </a:t>
            </a:r>
            <a:r>
              <a:rPr lang="en-IN" sz="1400" b="1" dirty="0">
                <a:highlight>
                  <a:srgbClr val="FFFF00"/>
                </a:highlight>
                <a:latin typeface="Calibri" panose="020F0502020204030204" pitchFamily="34" charset="0"/>
                <a:ea typeface="Calibri" panose="020F0502020204030204" pitchFamily="34" charset="0"/>
                <a:cs typeface="Calibri" panose="020F0502020204030204" pitchFamily="34" charset="0"/>
              </a:rPr>
              <a:t>http://localhost:3000/i18n/tlh_AA.json</a:t>
            </a:r>
          </a:p>
          <a:p>
            <a:pPr marL="285750" indent="-285750" eaLnBrk="0" fontAlgn="base" hangingPunct="0">
              <a:spcBef>
                <a:spcPct val="0"/>
              </a:spcBef>
              <a:spcAft>
                <a:spcPct val="0"/>
              </a:spcAft>
              <a:buFont typeface="Arial" panose="020B0604020202020204" pitchFamily="34" charset="0"/>
              <a:buChar char="•"/>
            </a:pPr>
            <a:r>
              <a:rPr lang="en-IN" sz="1400" b="1" dirty="0">
                <a:latin typeface="Calibri" panose="020F0502020204030204" pitchFamily="34" charset="0"/>
                <a:ea typeface="Calibri" panose="020F0502020204030204" pitchFamily="34" charset="0"/>
                <a:cs typeface="Calibri" panose="020F0502020204030204" pitchFamily="34" charset="0"/>
              </a:rPr>
              <a:t>Here </a:t>
            </a:r>
            <a:r>
              <a:rPr lang="en-US" sz="1400" dirty="0">
                <a:latin typeface="Calibri" panose="020F0502020204030204" pitchFamily="34" charset="0"/>
                <a:ea typeface="Calibri" panose="020F0502020204030204" pitchFamily="34" charset="0"/>
                <a:cs typeface="Calibri" panose="020F0502020204030204" pitchFamily="34" charset="0"/>
              </a:rPr>
              <a:t>You’ll see the </a:t>
            </a:r>
            <a:r>
              <a:rPr lang="en-US" sz="1400" b="1" dirty="0">
                <a:latin typeface="Calibri" panose="020F0502020204030204" pitchFamily="34" charset="0"/>
                <a:ea typeface="Calibri" panose="020F0502020204030204" pitchFamily="34" charset="0"/>
                <a:cs typeface="Calibri" panose="020F0502020204030204" pitchFamily="34" charset="0"/>
              </a:rPr>
              <a:t>Klingon translation file</a:t>
            </a:r>
            <a:r>
              <a:rPr lang="en-US" sz="1400" dirty="0">
                <a:latin typeface="Calibri" panose="020F0502020204030204" pitchFamily="34" charset="0"/>
                <a:ea typeface="Calibri" panose="020F0502020204030204" pitchFamily="34" charset="0"/>
                <a:cs typeface="Calibri" panose="020F0502020204030204" pitchFamily="34" charset="0"/>
              </a:rPr>
              <a:t>, revealing the hidden language</a:t>
            </a:r>
          </a:p>
          <a:p>
            <a:pPr marL="285750" indent="-285750" eaLnBrk="0" fontAlgn="base" hangingPunct="0">
              <a:spcBef>
                <a:spcPct val="0"/>
              </a:spcBef>
              <a:spcAft>
                <a:spcPct val="0"/>
              </a:spcAft>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Font typeface="Wingdings" panose="05000000000000000000" pitchFamily="2" charset="2"/>
              <a:buChar char="v"/>
            </a:pPr>
            <a:r>
              <a:rPr lang="en-IN" dirty="0">
                <a:latin typeface="Calibri" panose="020F0502020204030204" pitchFamily="34" charset="0"/>
                <a:ea typeface="Calibri" panose="020F0502020204030204" pitchFamily="34" charset="0"/>
                <a:cs typeface="Calibri" panose="020F0502020204030204" pitchFamily="34" charset="0"/>
              </a:rPr>
              <a:t>Why This Works: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Klingon file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was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uploaded to the server</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but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never linked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the user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server does not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restrict access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these files even though they are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not listed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is a case of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incomplete cleanup or improper configuration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285750" indent="-285750" eaLnBrk="0" fontAlgn="base" hangingPunct="0">
              <a:spcBef>
                <a:spcPct val="0"/>
              </a:spcBef>
              <a:spcAft>
                <a:spcPct val="0"/>
              </a:spcAft>
              <a:buFont typeface="Wingdings" panose="05000000000000000000" pitchFamily="2" charset="2"/>
              <a:buChar char="v"/>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Font typeface="Wingdings" panose="05000000000000000000" pitchFamily="2" charset="2"/>
              <a:buChar char="v"/>
            </a:pPr>
            <a:endParaRPr lang="en-IN"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3226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52359-333F-4B12-CBD3-462AF959858E}"/>
              </a:ext>
            </a:extLst>
          </p:cNvPr>
          <p:cNvSpPr>
            <a:spLocks noGrp="1"/>
          </p:cNvSpPr>
          <p:nvPr>
            <p:ph type="title"/>
          </p:nvPr>
        </p:nvSpPr>
        <p:spPr>
          <a:xfrm>
            <a:off x="452120" y="546258"/>
            <a:ext cx="10515600" cy="1325563"/>
          </a:xfrm>
        </p:spPr>
        <p:txBody>
          <a:bodyPr>
            <a:norm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How to Fix the Vulnerability</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EDDE543-CC22-232C-AF8B-ED1E5634B1AC}"/>
              </a:ext>
            </a:extLst>
          </p:cNvPr>
          <p:cNvSpPr>
            <a:spLocks noGrp="1"/>
          </p:cNvSpPr>
          <p:nvPr>
            <p:ph idx="1"/>
          </p:nvPr>
        </p:nvSpPr>
        <p:spPr/>
        <p:txBody>
          <a:bodyPr>
            <a:normAutofit/>
          </a:bodyPr>
          <a:lstStyle/>
          <a:p>
            <a:r>
              <a:rPr lang="en-IN" sz="1800" dirty="0">
                <a:latin typeface="Calibri" panose="020F0502020204030204" pitchFamily="34" charset="0"/>
                <a:ea typeface="Calibri" panose="020F0502020204030204" pitchFamily="34" charset="0"/>
                <a:cs typeface="Calibri" panose="020F0502020204030204" pitchFamily="34" charset="0"/>
              </a:rPr>
              <a:t>Step 1: </a:t>
            </a:r>
            <a:r>
              <a:rPr lang="en-US" sz="1800" b="1" dirty="0">
                <a:latin typeface="Calibri" panose="020F0502020204030204" pitchFamily="34" charset="0"/>
                <a:ea typeface="Calibri" panose="020F0502020204030204" pitchFamily="34" charset="0"/>
                <a:cs typeface="Calibri" panose="020F0502020204030204" pitchFamily="34" charset="0"/>
              </a:rPr>
              <a:t>Proper Cleanup:</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400" dirty="0">
                <a:latin typeface="Calibri" panose="020F0502020204030204" pitchFamily="34" charset="0"/>
                <a:ea typeface="Calibri" panose="020F0502020204030204" pitchFamily="34" charset="0"/>
                <a:cs typeface="Calibri" panose="020F0502020204030204" pitchFamily="34" charset="0"/>
              </a:rPr>
              <a:t>	Make sure that </a:t>
            </a:r>
            <a:r>
              <a:rPr lang="en-US" sz="1400" b="1" dirty="0">
                <a:latin typeface="Calibri" panose="020F0502020204030204" pitchFamily="34" charset="0"/>
                <a:ea typeface="Calibri" panose="020F0502020204030204" pitchFamily="34" charset="0"/>
                <a:cs typeface="Calibri" panose="020F0502020204030204" pitchFamily="34" charset="0"/>
              </a:rPr>
              <a:t>old or unused files</a:t>
            </a:r>
            <a:r>
              <a:rPr lang="en-US" sz="1400" dirty="0">
                <a:latin typeface="Calibri" panose="020F0502020204030204" pitchFamily="34" charset="0"/>
                <a:ea typeface="Calibri" panose="020F0502020204030204" pitchFamily="34" charset="0"/>
                <a:cs typeface="Calibri" panose="020F0502020204030204" pitchFamily="34" charset="0"/>
              </a:rPr>
              <a:t> are </a:t>
            </a:r>
            <a:r>
              <a:rPr lang="en-US" sz="1400" b="1" dirty="0">
                <a:latin typeface="Calibri" panose="020F0502020204030204" pitchFamily="34" charset="0"/>
                <a:ea typeface="Calibri" panose="020F0502020204030204" pitchFamily="34" charset="0"/>
                <a:cs typeface="Calibri" panose="020F0502020204030204" pitchFamily="34" charset="0"/>
              </a:rPr>
              <a:t>completely removed</a:t>
            </a:r>
            <a:r>
              <a:rPr lang="en-US" sz="1400" dirty="0">
                <a:latin typeface="Calibri" panose="020F0502020204030204" pitchFamily="34" charset="0"/>
                <a:ea typeface="Calibri" panose="020F0502020204030204" pitchFamily="34" charset="0"/>
                <a:cs typeface="Calibri" panose="020F0502020204030204" pitchFamily="34" charset="0"/>
              </a:rPr>
              <a:t> from 	the server.</a:t>
            </a:r>
          </a:p>
          <a:p>
            <a:r>
              <a:rPr lang="en-IN" sz="1800" dirty="0">
                <a:latin typeface="Calibri" panose="020F0502020204030204" pitchFamily="34" charset="0"/>
                <a:ea typeface="Calibri" panose="020F0502020204030204" pitchFamily="34" charset="0"/>
                <a:cs typeface="Calibri" panose="020F0502020204030204" pitchFamily="34" charset="0"/>
              </a:rPr>
              <a:t>Step 2: </a:t>
            </a:r>
            <a:r>
              <a:rPr lang="en-US" sz="1800" b="1" dirty="0">
                <a:latin typeface="Calibri" panose="020F0502020204030204" pitchFamily="34" charset="0"/>
                <a:ea typeface="Calibri" panose="020F0502020204030204" pitchFamily="34" charset="0"/>
                <a:cs typeface="Calibri" panose="020F0502020204030204" pitchFamily="34" charset="0"/>
              </a:rPr>
              <a:t>Restrict Access:</a:t>
            </a:r>
          </a:p>
          <a:p>
            <a:pPr marL="0" indent="0">
              <a:buNone/>
            </a:pPr>
            <a:r>
              <a:rPr lang="en-US" sz="1400" dirty="0">
                <a:latin typeface="Calibri" panose="020F0502020204030204" pitchFamily="34" charset="0"/>
                <a:ea typeface="Calibri" panose="020F0502020204030204" pitchFamily="34" charset="0"/>
                <a:cs typeface="Calibri" panose="020F0502020204030204" pitchFamily="34" charset="0"/>
              </a:rPr>
              <a:t>	Configure the server to </a:t>
            </a:r>
            <a:r>
              <a:rPr lang="en-US" sz="1400" b="1" dirty="0">
                <a:latin typeface="Calibri" panose="020F0502020204030204" pitchFamily="34" charset="0"/>
                <a:ea typeface="Calibri" panose="020F0502020204030204" pitchFamily="34" charset="0"/>
                <a:cs typeface="Calibri" panose="020F0502020204030204" pitchFamily="34" charset="0"/>
              </a:rPr>
              <a:t>block access</a:t>
            </a:r>
            <a:r>
              <a:rPr lang="en-US" sz="1400" dirty="0">
                <a:latin typeface="Calibri" panose="020F0502020204030204" pitchFamily="34" charset="0"/>
                <a:ea typeface="Calibri" panose="020F0502020204030204" pitchFamily="34" charset="0"/>
                <a:cs typeface="Calibri" panose="020F0502020204030204" pitchFamily="34" charset="0"/>
              </a:rPr>
              <a:t> to unlisted or </a:t>
            </a:r>
            <a:r>
              <a:rPr lang="en-US" sz="1400" b="1" dirty="0">
                <a:latin typeface="Calibri" panose="020F0502020204030204" pitchFamily="34" charset="0"/>
                <a:ea typeface="Calibri" panose="020F0502020204030204" pitchFamily="34" charset="0"/>
                <a:cs typeface="Calibri" panose="020F0502020204030204" pitchFamily="34" charset="0"/>
              </a:rPr>
              <a:t>hidden 	language files</a:t>
            </a:r>
            <a:r>
              <a:rPr lang="en-US" sz="1400" dirty="0">
                <a:latin typeface="Calibri" panose="020F0502020204030204" pitchFamily="34" charset="0"/>
                <a:ea typeface="Calibri" panose="020F0502020204030204" pitchFamily="34" charset="0"/>
                <a:cs typeface="Calibri" panose="020F0502020204030204" pitchFamily="34" charset="0"/>
              </a:rPr>
              <a:t>.</a:t>
            </a:r>
          </a:p>
          <a:p>
            <a:r>
              <a:rPr lang="en-US" sz="1800" dirty="0">
                <a:latin typeface="Calibri" panose="020F0502020204030204" pitchFamily="34" charset="0"/>
                <a:ea typeface="Calibri" panose="020F0502020204030204" pitchFamily="34" charset="0"/>
                <a:cs typeface="Calibri" panose="020F0502020204030204" pitchFamily="34" charset="0"/>
              </a:rPr>
              <a:t>Step 3: </a:t>
            </a:r>
            <a:r>
              <a:rPr lang="en-IN" sz="1800" b="1" dirty="0">
                <a:latin typeface="Calibri" panose="020F0502020204030204" pitchFamily="34" charset="0"/>
                <a:ea typeface="Calibri" panose="020F0502020204030204" pitchFamily="34" charset="0"/>
                <a:cs typeface="Calibri" panose="020F0502020204030204" pitchFamily="34" charset="0"/>
              </a:rPr>
              <a:t>Dynamic Language Loading</a:t>
            </a:r>
          </a:p>
          <a:p>
            <a:pPr marL="457200" lvl="1" indent="0" eaLnBrk="0" fontAlgn="base" hangingPunct="0">
              <a:lnSpc>
                <a:spcPct val="100000"/>
              </a:lnSpc>
              <a:spcBef>
                <a:spcPct val="0"/>
              </a:spcBef>
              <a:spcAft>
                <a:spcPct val="0"/>
              </a:spcAft>
              <a:buNone/>
            </a:pP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457200" lvl="1" indent="0" eaLnBrk="0" fontAlgn="base" hangingPunct="0">
              <a:lnSpc>
                <a:spcPct val="100000"/>
              </a:lnSpc>
              <a:spcBef>
                <a:spcPct val="0"/>
              </a:spcBef>
              <a:spcAft>
                <a:spcPct val="0"/>
              </a:spcAft>
              <a:buNone/>
            </a:pPr>
            <a:r>
              <a:rPr lang="en-US" altLang="en-US" sz="1000" dirty="0">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Only load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languages that are available in the menu</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457200" lvl="1" indent="0" eaLnBrk="0" fontAlgn="base" hangingPunct="0">
              <a:lnSpc>
                <a:spcPct val="100000"/>
              </a:lnSpc>
              <a:spcBef>
                <a:spcPct val="0"/>
              </a:spcBef>
              <a:spcAft>
                <a:spcPct val="0"/>
              </a:spcAft>
              <a:buNone/>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Ensure that any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extra files are inaccessible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or removed</a:t>
            </a:r>
            <a:endParaRPr lang="en-IN" sz="1400" dirty="0">
              <a:latin typeface="Calibri" panose="020F0502020204030204" pitchFamily="34" charset="0"/>
              <a:ea typeface="Calibri" panose="020F0502020204030204" pitchFamily="34" charset="0"/>
              <a:cs typeface="Calibri" panose="020F0502020204030204" pitchFamily="34" charset="0"/>
            </a:endParaRPr>
          </a:p>
          <a:p>
            <a:endParaRPr lang="en-US" sz="1400" dirty="0">
              <a:latin typeface="Calibri" panose="020F0502020204030204" pitchFamily="34" charset="0"/>
              <a:ea typeface="Calibri" panose="020F0502020204030204" pitchFamily="34" charset="0"/>
              <a:cs typeface="Calibri" panose="020F0502020204030204" pitchFamily="34" charset="0"/>
            </a:endParaRPr>
          </a:p>
          <a:p>
            <a:endParaRPr lang="en-US" sz="1400" dirty="0">
              <a:latin typeface="Calibri" panose="020F0502020204030204" pitchFamily="34" charset="0"/>
              <a:ea typeface="Calibri" panose="020F0502020204030204" pitchFamily="34" charset="0"/>
              <a:cs typeface="Calibri" panose="020F0502020204030204" pitchFamily="34" charset="0"/>
            </a:endParaRPr>
          </a:p>
          <a:p>
            <a:pPr marL="914400" lvl="2" indent="0">
              <a:buNone/>
            </a:pPr>
            <a:endParaRPr lang="en-US" sz="1400"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1973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6EE6A-F66D-70AF-1748-D490C74D19DF}"/>
              </a:ext>
            </a:extLst>
          </p:cNvPr>
          <p:cNvSpPr>
            <a:spLocks noGrp="1"/>
          </p:cNvSpPr>
          <p:nvPr>
            <p:ph type="title"/>
          </p:nvPr>
        </p:nvSpPr>
        <p:spPr/>
        <p:txBody>
          <a:bodyPr>
            <a:normAutofit/>
          </a:bodyPr>
          <a:lstStyle/>
          <a:p>
            <a:pPr algn="ctr"/>
            <a:r>
              <a:rPr lang="en-US" sz="2400" b="1" dirty="0">
                <a:latin typeface="Calibri" panose="020F0502020204030204" pitchFamily="34" charset="0"/>
                <a:ea typeface="Calibri" panose="020F0502020204030204" pitchFamily="34" charset="0"/>
                <a:cs typeface="Calibri" panose="020F0502020204030204" pitchFamily="34" charset="0"/>
              </a:rPr>
              <a:t>What Is the "Multiple Likes" Vulnerability</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16EBEE3E-B816-38BE-C95D-1368F8A89E84}"/>
              </a:ext>
            </a:extLst>
          </p:cNvPr>
          <p:cNvSpPr>
            <a:spLocks noGrp="1" noChangeArrowheads="1"/>
          </p:cNvSpPr>
          <p:nvPr>
            <p:ph idx="1"/>
          </p:nvPr>
        </p:nvSpPr>
        <p:spPr bwMode="auto">
          <a:xfrm>
            <a:off x="1205826" y="1386090"/>
            <a:ext cx="8635313" cy="638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Users can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like a review</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 the Juice Shop. Normally, they can only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like it once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However, there is a flaw that allows a user to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like the same review multiple times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IN" sz="1800" dirty="0">
                <a:latin typeface="Calibri" panose="020F0502020204030204" pitchFamily="34" charset="0"/>
                <a:ea typeface="Calibri" panose="020F0502020204030204" pitchFamily="34" charset="0"/>
                <a:cs typeface="Calibri" panose="020F0502020204030204" pitchFamily="34" charset="0"/>
              </a:rPr>
              <a:t>How the Vulnerability Works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IN" sz="18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r>
              <a:rPr lang="en-US" sz="1800" b="1" dirty="0">
                <a:latin typeface="Calibri" panose="020F0502020204030204" pitchFamily="34" charset="0"/>
                <a:ea typeface="Calibri" panose="020F0502020204030204" pitchFamily="34" charset="0"/>
                <a:cs typeface="Calibri" panose="020F0502020204030204" pitchFamily="34" charset="0"/>
              </a:rPr>
              <a:t>Step 1: Normal Like Process:</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The user clicks </a:t>
            </a:r>
            <a:r>
              <a:rPr lang="en-US" sz="1400" b="1" dirty="0">
                <a:latin typeface="Calibri" panose="020F0502020204030204" pitchFamily="34" charset="0"/>
                <a:ea typeface="Calibri" panose="020F0502020204030204" pitchFamily="34" charset="0"/>
                <a:cs typeface="Calibri" panose="020F0502020204030204" pitchFamily="34" charset="0"/>
              </a:rPr>
              <a:t>"Like"</a:t>
            </a:r>
            <a:r>
              <a:rPr lang="en-US" sz="1400" dirty="0">
                <a:latin typeface="Calibri" panose="020F0502020204030204" pitchFamily="34" charset="0"/>
                <a:ea typeface="Calibri" panose="020F0502020204030204" pitchFamily="34" charset="0"/>
                <a:cs typeface="Calibri" panose="020F0502020204030204" pitchFamily="34" charset="0"/>
              </a:rPr>
              <a:t> on a review.</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The browser sends a </a:t>
            </a:r>
            <a:r>
              <a:rPr lang="en-US" sz="1400" b="1" dirty="0">
                <a:latin typeface="Calibri" panose="020F0502020204030204" pitchFamily="34" charset="0"/>
                <a:ea typeface="Calibri" panose="020F0502020204030204" pitchFamily="34" charset="0"/>
                <a:cs typeface="Calibri" panose="020F0502020204030204" pitchFamily="34" charset="0"/>
              </a:rPr>
              <a:t>request</a:t>
            </a:r>
            <a:r>
              <a:rPr lang="en-US" sz="1400" dirty="0">
                <a:latin typeface="Calibri" panose="020F0502020204030204" pitchFamily="34" charset="0"/>
                <a:ea typeface="Calibri" panose="020F0502020204030204" pitchFamily="34" charset="0"/>
                <a:cs typeface="Calibri" panose="020F0502020204030204" pitchFamily="34" charset="0"/>
              </a:rPr>
              <a:t> to: </a:t>
            </a:r>
            <a:r>
              <a:rPr lang="en-US" sz="1400" dirty="0">
                <a:highlight>
                  <a:srgbClr val="FFFF00"/>
                </a:highlight>
                <a:latin typeface="Calibri" panose="020F0502020204030204" pitchFamily="34" charset="0"/>
                <a:ea typeface="Calibri" panose="020F0502020204030204" pitchFamily="34" charset="0"/>
                <a:cs typeface="Calibri" panose="020F0502020204030204" pitchFamily="34" charset="0"/>
              </a:rPr>
              <a:t>POST http://localhost:3000/rest/products/reviews</a:t>
            </a:r>
          </a:p>
          <a:p>
            <a:r>
              <a:rPr lang="en-US" sz="1400" dirty="0">
                <a:latin typeface="Calibri" panose="020F0502020204030204" pitchFamily="34" charset="0"/>
                <a:ea typeface="Calibri" panose="020F0502020204030204" pitchFamily="34" charset="0"/>
                <a:cs typeface="Calibri" panose="020F0502020204030204" pitchFamily="34" charset="0"/>
              </a:rPr>
              <a:t>Body: { "id": "Review123" }</a:t>
            </a:r>
          </a:p>
          <a:p>
            <a:pPr>
              <a:buFont typeface="Wingdings" panose="05000000000000000000" pitchFamily="2" charset="2"/>
              <a:buChar char="v"/>
            </a:pPr>
            <a:r>
              <a:rPr lang="en-US" sz="1800" b="1" dirty="0">
                <a:latin typeface="Calibri" panose="020F0502020204030204" pitchFamily="34" charset="0"/>
                <a:ea typeface="Calibri" panose="020F0502020204030204" pitchFamily="34" charset="0"/>
                <a:cs typeface="Calibri" panose="020F0502020204030204" pitchFamily="34" charset="0"/>
              </a:rPr>
              <a:t>Step 2: Exploiting the Vulnerability: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server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associates the like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with the user's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email</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If replayed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server responds with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403 Forbidden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Instead of sending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one request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we send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three simultaneous requests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using a 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If the server processes these requests at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same time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fails to detect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that the same user liked it multiple times.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result is that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review gets three likes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from the same user!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endParaRPr lang="en-US" sz="1800" b="1"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endParaRPr lang="en-US" sz="1800" b="1" dirty="0">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IN" sz="1800" dirty="0">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13193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4F5DA-CA6B-21B0-38BF-83244522DDB2}"/>
              </a:ext>
            </a:extLst>
          </p:cNvPr>
          <p:cNvSpPr>
            <a:spLocks noGrp="1"/>
          </p:cNvSpPr>
          <p:nvPr>
            <p:ph type="title"/>
          </p:nvPr>
        </p:nvSpPr>
        <p:spPr/>
        <p:txBody>
          <a:bodyPr>
            <a:normAutofit/>
          </a:bodyPr>
          <a:lstStyle/>
          <a:p>
            <a:pPr algn="ctr"/>
            <a:r>
              <a:rPr lang="en-IN" sz="2400" dirty="0">
                <a:latin typeface="Calibri" panose="020F0502020204030204" pitchFamily="34" charset="0"/>
                <a:ea typeface="Calibri" panose="020F0502020204030204" pitchFamily="34" charset="0"/>
                <a:cs typeface="Calibri" panose="020F0502020204030204" pitchFamily="34" charset="0"/>
              </a:rPr>
              <a:t>Exploitation Method:</a:t>
            </a:r>
          </a:p>
        </p:txBody>
      </p:sp>
      <p:sp>
        <p:nvSpPr>
          <p:cNvPr id="3" name="Content Placeholder 2">
            <a:extLst>
              <a:ext uri="{FF2B5EF4-FFF2-40B4-BE49-F238E27FC236}">
                <a16:creationId xmlns:a16="http://schemas.microsoft.com/office/drawing/2014/main" id="{8DAC30A9-5B04-6582-D85F-8C4FF09B43BC}"/>
              </a:ext>
            </a:extLst>
          </p:cNvPr>
          <p:cNvSpPr>
            <a:spLocks noGrp="1"/>
          </p:cNvSpPr>
          <p:nvPr>
            <p:ph idx="1"/>
          </p:nvPr>
        </p:nvSpPr>
        <p:spPr/>
        <p:txBody>
          <a:bodyPr/>
          <a:lstStyle/>
          <a:p>
            <a:pP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Script or Tool:</a:t>
            </a:r>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Use </a:t>
            </a:r>
            <a:r>
              <a:rPr lang="en-US" sz="1400" b="1" dirty="0" err="1">
                <a:latin typeface="Calibri" panose="020F0502020204030204" pitchFamily="34" charset="0"/>
                <a:ea typeface="Calibri" panose="020F0502020204030204" pitchFamily="34" charset="0"/>
                <a:cs typeface="Calibri" panose="020F0502020204030204" pitchFamily="34" charset="0"/>
              </a:rPr>
              <a:t>RaceTheWeb</a:t>
            </a:r>
            <a:r>
              <a:rPr lang="en-US" sz="1400" dirty="0">
                <a:latin typeface="Calibri" panose="020F0502020204030204" pitchFamily="34" charset="0"/>
                <a:ea typeface="Calibri" panose="020F0502020204030204" pitchFamily="34" charset="0"/>
                <a:cs typeface="Calibri" panose="020F0502020204030204" pitchFamily="34" charset="0"/>
              </a:rPr>
              <a:t> or a custom script to </a:t>
            </a:r>
            <a:r>
              <a:rPr lang="en-US" sz="1400" b="1" dirty="0">
                <a:latin typeface="Calibri" panose="020F0502020204030204" pitchFamily="34" charset="0"/>
                <a:ea typeface="Calibri" panose="020F0502020204030204" pitchFamily="34" charset="0"/>
                <a:cs typeface="Calibri" panose="020F0502020204030204" pitchFamily="34" charset="0"/>
              </a:rPr>
              <a:t>send multiple requests simultaneously</a:t>
            </a:r>
            <a:r>
              <a:rPr lang="en-US" sz="1400"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sz="1400" b="1" dirty="0">
                <a:latin typeface="Calibri" panose="020F0502020204030204" pitchFamily="34" charset="0"/>
                <a:ea typeface="Calibri" panose="020F0502020204030204" pitchFamily="34" charset="0"/>
                <a:cs typeface="Calibri" panose="020F0502020204030204" pitchFamily="34" charset="0"/>
              </a:rPr>
              <a:t> 	</a:t>
            </a:r>
            <a:r>
              <a:rPr lang="en-US" sz="1400" b="1" dirty="0" err="1">
                <a:latin typeface="Calibri" panose="020F0502020204030204" pitchFamily="34" charset="0"/>
                <a:ea typeface="Calibri" panose="020F0502020204030204" pitchFamily="34" charset="0"/>
                <a:cs typeface="Calibri" panose="020F0502020204030204" pitchFamily="34" charset="0"/>
              </a:rPr>
              <a:t>RaceTheWeb</a:t>
            </a:r>
            <a:r>
              <a:rPr lang="en-US" sz="1400" dirty="0">
                <a:latin typeface="Calibri" panose="020F0502020204030204" pitchFamily="34" charset="0"/>
                <a:ea typeface="Calibri" panose="020F0502020204030204" pitchFamily="34" charset="0"/>
                <a:cs typeface="Calibri" panose="020F0502020204030204" pitchFamily="34" charset="0"/>
              </a:rPr>
              <a:t> is an </a:t>
            </a:r>
            <a:r>
              <a:rPr lang="en-US" sz="1400" b="1" dirty="0">
                <a:latin typeface="Calibri" panose="020F0502020204030204" pitchFamily="34" charset="0"/>
                <a:ea typeface="Calibri" panose="020F0502020204030204" pitchFamily="34" charset="0"/>
                <a:cs typeface="Calibri" panose="020F0502020204030204" pitchFamily="34" charset="0"/>
              </a:rPr>
              <a:t>open-source tool</a:t>
            </a:r>
            <a:r>
              <a:rPr lang="en-US" sz="1400" dirty="0">
                <a:latin typeface="Calibri" panose="020F0502020204030204" pitchFamily="34" charset="0"/>
                <a:ea typeface="Calibri" panose="020F0502020204030204" pitchFamily="34" charset="0"/>
                <a:cs typeface="Calibri" panose="020F0502020204030204" pitchFamily="34" charset="0"/>
              </a:rPr>
              <a:t> designed for </a:t>
            </a:r>
            <a:r>
              <a:rPr lang="en-US" sz="1400" b="1" dirty="0">
                <a:latin typeface="Calibri" panose="020F0502020204030204" pitchFamily="34" charset="0"/>
                <a:ea typeface="Calibri" panose="020F0502020204030204" pitchFamily="34" charset="0"/>
                <a:cs typeface="Calibri" panose="020F0502020204030204" pitchFamily="34" charset="0"/>
              </a:rPr>
              <a:t>testing race 	condition vulnerabilities</a:t>
            </a:r>
            <a:r>
              <a:rPr lang="en-US" sz="1400" dirty="0">
                <a:latin typeface="Calibri" panose="020F0502020204030204" pitchFamily="34" charset="0"/>
                <a:ea typeface="Calibri" panose="020F0502020204030204" pitchFamily="34" charset="0"/>
                <a:cs typeface="Calibri" panose="020F0502020204030204" pitchFamily="34" charset="0"/>
              </a:rPr>
              <a:t> in web applications.</a:t>
            </a:r>
          </a:p>
          <a:p>
            <a:pP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Validating Success:</a:t>
            </a:r>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Check the </a:t>
            </a:r>
            <a:r>
              <a:rPr lang="en-US" sz="1400" b="1" dirty="0">
                <a:latin typeface="Calibri" panose="020F0502020204030204" pitchFamily="34" charset="0"/>
                <a:ea typeface="Calibri" panose="020F0502020204030204" pitchFamily="34" charset="0"/>
                <a:cs typeface="Calibri" panose="020F0502020204030204" pitchFamily="34" charset="0"/>
              </a:rPr>
              <a:t>like count</a:t>
            </a:r>
            <a:r>
              <a:rPr lang="en-US" sz="1400" dirty="0">
                <a:latin typeface="Calibri" panose="020F0502020204030204" pitchFamily="34" charset="0"/>
                <a:ea typeface="Calibri" panose="020F0502020204030204" pitchFamily="34" charset="0"/>
                <a:cs typeface="Calibri" panose="020F0502020204030204" pitchFamily="34" charset="0"/>
              </a:rPr>
              <a:t> after the script finishes.</a:t>
            </a:r>
          </a:p>
          <a:p>
            <a:r>
              <a:rPr lang="en-US" sz="1400" dirty="0">
                <a:latin typeface="Calibri" panose="020F0502020204030204" pitchFamily="34" charset="0"/>
                <a:ea typeface="Calibri" panose="020F0502020204030204" pitchFamily="34" charset="0"/>
                <a:cs typeface="Calibri" panose="020F0502020204030204" pitchFamily="34" charset="0"/>
              </a:rPr>
              <a:t>If the count increased by </a:t>
            </a:r>
            <a:r>
              <a:rPr lang="en-US" sz="1400" b="1" dirty="0">
                <a:latin typeface="Calibri" panose="020F0502020204030204" pitchFamily="34" charset="0"/>
                <a:ea typeface="Calibri" panose="020F0502020204030204" pitchFamily="34" charset="0"/>
                <a:cs typeface="Calibri" panose="020F0502020204030204" pitchFamily="34" charset="0"/>
              </a:rPr>
              <a:t>3 instead of 1</a:t>
            </a:r>
            <a:r>
              <a:rPr lang="en-US" sz="1400" dirty="0">
                <a:latin typeface="Calibri" panose="020F0502020204030204" pitchFamily="34" charset="0"/>
                <a:ea typeface="Calibri" panose="020F0502020204030204" pitchFamily="34" charset="0"/>
                <a:cs typeface="Calibri" panose="020F0502020204030204" pitchFamily="34" charset="0"/>
              </a:rPr>
              <a:t>, the attack was successful.</a:t>
            </a:r>
          </a:p>
          <a:p>
            <a:pPr marL="0" indent="0">
              <a:buNone/>
            </a:pPr>
            <a:endParaRPr lang="en-US" sz="1200" dirty="0"/>
          </a:p>
          <a:p>
            <a:pPr marL="0" indent="0">
              <a:buNone/>
            </a:pPr>
            <a:endParaRPr lang="en-IN" dirty="0"/>
          </a:p>
        </p:txBody>
      </p:sp>
    </p:spTree>
    <p:extLst>
      <p:ext uri="{BB962C8B-B14F-4D97-AF65-F5344CB8AC3E}">
        <p14:creationId xmlns:p14="http://schemas.microsoft.com/office/powerpoint/2010/main" val="1655132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E29F2-AD96-6DA8-3C7E-3670430C8E4A}"/>
              </a:ext>
            </a:extLst>
          </p:cNvPr>
          <p:cNvSpPr>
            <a:spLocks noGrp="1"/>
          </p:cNvSpPr>
          <p:nvPr>
            <p:ph type="title"/>
          </p:nvPr>
        </p:nvSpPr>
        <p:spPr>
          <a:xfrm>
            <a:off x="716280" y="221456"/>
            <a:ext cx="10515600" cy="1325563"/>
          </a:xfrm>
        </p:spPr>
        <p:txBody>
          <a:bodyPr>
            <a:norm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How to Fix the "Multiple Likes" Vulnerability:</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1B77C17B-D8CE-3767-6F99-A7129BA94F65}"/>
              </a:ext>
            </a:extLst>
          </p:cNvPr>
          <p:cNvSpPr>
            <a:spLocks noGrp="1"/>
          </p:cNvSpPr>
          <p:nvPr>
            <p:ph idx="1"/>
          </p:nvPr>
        </p:nvSpPr>
        <p:spPr/>
        <p:txBody>
          <a:bodyPr/>
          <a:lstStyle/>
          <a:p>
            <a:pPr>
              <a:buFont typeface="Wingdings" panose="05000000000000000000" pitchFamily="2" charset="2"/>
              <a:buChar char="Ø"/>
            </a:pPr>
            <a:r>
              <a:rPr lang="en-IN" sz="1800" dirty="0">
                <a:latin typeface="Calibri" panose="020F0502020204030204" pitchFamily="34" charset="0"/>
                <a:ea typeface="Calibri" panose="020F0502020204030204" pitchFamily="34" charset="0"/>
                <a:cs typeface="Calibri" panose="020F0502020204030204" pitchFamily="34" charset="0"/>
              </a:rPr>
              <a:t>Implement Atomic Operations</a:t>
            </a:r>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Use </a:t>
            </a:r>
            <a:r>
              <a:rPr lang="en-US" sz="1400" b="1" dirty="0">
                <a:latin typeface="Calibri" panose="020F0502020204030204" pitchFamily="34" charset="0"/>
                <a:ea typeface="Calibri" panose="020F0502020204030204" pitchFamily="34" charset="0"/>
                <a:cs typeface="Calibri" panose="020F0502020204030204" pitchFamily="34" charset="0"/>
              </a:rPr>
              <a:t>database transactions</a:t>
            </a:r>
            <a:r>
              <a:rPr lang="en-US" sz="1400" dirty="0">
                <a:latin typeface="Calibri" panose="020F0502020204030204" pitchFamily="34" charset="0"/>
                <a:ea typeface="Calibri" panose="020F0502020204030204" pitchFamily="34" charset="0"/>
                <a:cs typeface="Calibri" panose="020F0502020204030204" pitchFamily="34" charset="0"/>
              </a:rPr>
              <a:t> to </a:t>
            </a:r>
            <a:r>
              <a:rPr lang="en-US" sz="1400" b="1" dirty="0">
                <a:latin typeface="Calibri" panose="020F0502020204030204" pitchFamily="34" charset="0"/>
                <a:ea typeface="Calibri" panose="020F0502020204030204" pitchFamily="34" charset="0"/>
                <a:cs typeface="Calibri" panose="020F0502020204030204" pitchFamily="34" charset="0"/>
              </a:rPr>
              <a:t>lock the record</a:t>
            </a:r>
            <a:r>
              <a:rPr lang="en-US" sz="1400" dirty="0">
                <a:latin typeface="Calibri" panose="020F0502020204030204" pitchFamily="34" charset="0"/>
                <a:ea typeface="Calibri" panose="020F0502020204030204" pitchFamily="34" charset="0"/>
                <a:cs typeface="Calibri" panose="020F0502020204030204" pitchFamily="34" charset="0"/>
              </a:rPr>
              <a:t> while updating the like count.</a:t>
            </a:r>
          </a:p>
          <a:p>
            <a:r>
              <a:rPr lang="en-US" sz="1400" dirty="0">
                <a:latin typeface="Calibri" panose="020F0502020204030204" pitchFamily="34" charset="0"/>
                <a:ea typeface="Calibri" panose="020F0502020204030204" pitchFamily="34" charset="0"/>
                <a:cs typeface="Calibri" panose="020F0502020204030204" pitchFamily="34" charset="0"/>
              </a:rPr>
              <a:t>This ensures that </a:t>
            </a:r>
            <a:r>
              <a:rPr lang="en-US" sz="1400" b="1" dirty="0">
                <a:latin typeface="Calibri" panose="020F0502020204030204" pitchFamily="34" charset="0"/>
                <a:ea typeface="Calibri" panose="020F0502020204030204" pitchFamily="34" charset="0"/>
                <a:cs typeface="Calibri" panose="020F0502020204030204" pitchFamily="34" charset="0"/>
              </a:rPr>
              <a:t>only one like</a:t>
            </a:r>
            <a:r>
              <a:rPr lang="en-US" sz="1400" dirty="0">
                <a:latin typeface="Calibri" panose="020F0502020204030204" pitchFamily="34" charset="0"/>
                <a:ea typeface="Calibri" panose="020F0502020204030204" pitchFamily="34" charset="0"/>
                <a:cs typeface="Calibri" panose="020F0502020204030204" pitchFamily="34" charset="0"/>
              </a:rPr>
              <a:t> is recorded, even if multiple requests are sent simultaneously.</a:t>
            </a:r>
          </a:p>
          <a:p>
            <a:pPr>
              <a:buFont typeface="Wingdings" panose="05000000000000000000" pitchFamily="2" charset="2"/>
              <a:buChar char="Ø"/>
            </a:pPr>
            <a:r>
              <a:rPr lang="en-IN" sz="1800" dirty="0">
                <a:latin typeface="Calibri" panose="020F0502020204030204" pitchFamily="34" charset="0"/>
                <a:ea typeface="Calibri" panose="020F0502020204030204" pitchFamily="34" charset="0"/>
                <a:cs typeface="Calibri" panose="020F0502020204030204" pitchFamily="34" charset="0"/>
              </a:rPr>
              <a:t>Use Locking Mechanisms:</a:t>
            </a:r>
          </a:p>
          <a:p>
            <a:pPr lvl="1"/>
            <a:endParaRPr lang="en-US" dirty="0"/>
          </a:p>
        </p:txBody>
      </p:sp>
      <p:sp>
        <p:nvSpPr>
          <p:cNvPr id="4" name="Rectangle 1">
            <a:extLst>
              <a:ext uri="{FF2B5EF4-FFF2-40B4-BE49-F238E27FC236}">
                <a16:creationId xmlns:a16="http://schemas.microsoft.com/office/drawing/2014/main" id="{ADAE5781-777F-40D2-311E-3C7FF62EE2DC}"/>
              </a:ext>
            </a:extLst>
          </p:cNvPr>
          <p:cNvSpPr>
            <a:spLocks noChangeArrowheads="1"/>
          </p:cNvSpPr>
          <p:nvPr/>
        </p:nvSpPr>
        <p:spPr bwMode="auto">
          <a:xfrm>
            <a:off x="839501" y="3360807"/>
            <a:ext cx="1100596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Apply </a:t>
            </a:r>
            <a:r>
              <a:rPr kumimoji="0" lang="en-US" altLang="en-US" sz="1400" b="1" i="0" u="none" strike="noStrike" cap="none" normalizeH="0" baseline="0" dirty="0">
                <a:ln>
                  <a:noFill/>
                </a:ln>
                <a:solidFill>
                  <a:schemeClr val="tx1"/>
                </a:solidFill>
                <a:effectLst/>
                <a:latin typeface="Arial" panose="020B0604020202020204" pitchFamily="34" charset="0"/>
              </a:rPr>
              <a:t>mutex locks</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semaphores</a:t>
            </a:r>
            <a:r>
              <a:rPr kumimoji="0" lang="en-US" altLang="en-US" sz="1400" b="0" i="0" u="none" strike="noStrike" cap="none" normalizeH="0" baseline="0" dirty="0">
                <a:ln>
                  <a:noFill/>
                </a:ln>
                <a:solidFill>
                  <a:schemeClr val="tx1"/>
                </a:solidFill>
                <a:effectLst/>
                <a:latin typeface="Arial" panose="020B0604020202020204" pitchFamily="34" charset="0"/>
              </a:rPr>
              <a:t> in your application to </a:t>
            </a:r>
            <a:r>
              <a:rPr kumimoji="0" lang="en-US" altLang="en-US" sz="1400" b="1" i="0" u="none" strike="noStrike" cap="none" normalizeH="0" baseline="0" dirty="0">
                <a:ln>
                  <a:noFill/>
                </a:ln>
                <a:solidFill>
                  <a:schemeClr val="tx1"/>
                </a:solidFill>
                <a:effectLst/>
                <a:latin typeface="Arial" panose="020B0604020202020204" pitchFamily="34" charset="0"/>
              </a:rPr>
              <a:t>serialize access</a:t>
            </a:r>
            <a:r>
              <a:rPr kumimoji="0" lang="en-US" altLang="en-US" sz="1400" b="0" i="0" u="none" strike="noStrike" cap="none" normalizeH="0" baseline="0" dirty="0">
                <a:ln>
                  <a:noFill/>
                </a:ln>
                <a:solidFill>
                  <a:schemeClr val="tx1"/>
                </a:solidFill>
                <a:effectLst/>
                <a:latin typeface="Arial" panose="020B0604020202020204" pitchFamily="34" charset="0"/>
              </a:rPr>
              <a:t> to shared resources (like the like count).</a:t>
            </a:r>
          </a:p>
          <a:p>
            <a:pPr marL="0" marR="0" lvl="0" indent="0" defTabSz="914400" rtl="0" eaLnBrk="0" fontAlgn="base" latinLnBrk="0" hangingPunct="0">
              <a:lnSpc>
                <a:spcPct val="100000"/>
              </a:lnSpc>
              <a:spcBef>
                <a:spcPct val="0"/>
              </a:spcBef>
              <a:spcAft>
                <a:spcPct val="0"/>
              </a:spcAft>
              <a:buClrTx/>
              <a:buSzTx/>
              <a:tabLst/>
            </a:pPr>
            <a:endParaRPr lang="en-US" altLang="en-US" sz="1400" dirty="0">
              <a:latin typeface="Arial" panose="020B0604020202020204" pitchFamily="34" charset="0"/>
            </a:endParaRPr>
          </a:p>
          <a:p>
            <a:pPr marL="742950" lvl="1" indent="-285750">
              <a:buFont typeface="Wingdings" panose="05000000000000000000" pitchFamily="2" charset="2"/>
              <a:buChar char="§"/>
            </a:pPr>
            <a:r>
              <a:rPr lang="en-US" sz="1400" dirty="0">
                <a:latin typeface="Calibri" panose="020F0502020204030204" pitchFamily="34" charset="0"/>
                <a:ea typeface="Calibri" panose="020F0502020204030204" pitchFamily="34" charset="0"/>
                <a:cs typeface="Calibri" panose="020F0502020204030204" pitchFamily="34" charset="0"/>
              </a:rPr>
              <a:t>When you </a:t>
            </a:r>
            <a:r>
              <a:rPr lang="en-US" sz="1400" b="1" dirty="0">
                <a:latin typeface="Calibri" panose="020F0502020204030204" pitchFamily="34" charset="0"/>
                <a:ea typeface="Calibri" panose="020F0502020204030204" pitchFamily="34" charset="0"/>
                <a:cs typeface="Calibri" panose="020F0502020204030204" pitchFamily="34" charset="0"/>
              </a:rPr>
              <a:t>apply mutex locks or semaphores in your application</a:t>
            </a:r>
            <a:r>
              <a:rPr lang="en-US" sz="1400" dirty="0">
                <a:latin typeface="Calibri" panose="020F0502020204030204" pitchFamily="34" charset="0"/>
                <a:ea typeface="Calibri" panose="020F0502020204030204" pitchFamily="34" charset="0"/>
                <a:cs typeface="Calibri" panose="020F0502020204030204" pitchFamily="34" charset="0"/>
              </a:rPr>
              <a:t>, you are telling the program:</a:t>
            </a:r>
          </a:p>
          <a:p>
            <a:pPr marL="742950" lvl="1" indent="-285750">
              <a:buFont typeface="Wingdings" panose="05000000000000000000" pitchFamily="2" charset="2"/>
              <a:buChar char="§"/>
            </a:pPr>
            <a:r>
              <a:rPr lang="en-US" sz="1400" b="1" dirty="0">
                <a:latin typeface="Calibri" panose="020F0502020204030204" pitchFamily="34" charset="0"/>
                <a:ea typeface="Calibri" panose="020F0502020204030204" pitchFamily="34" charset="0"/>
                <a:cs typeface="Calibri" panose="020F0502020204030204" pitchFamily="34" charset="0"/>
              </a:rPr>
              <a:t>"Hey, only one process can update the like count at a time."</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
            </a:pPr>
            <a:r>
              <a:rPr lang="en-US" sz="1400" dirty="0">
                <a:latin typeface="Calibri" panose="020F0502020204030204" pitchFamily="34" charset="0"/>
                <a:ea typeface="Calibri" panose="020F0502020204030204" pitchFamily="34" charset="0"/>
                <a:cs typeface="Calibri" panose="020F0502020204030204" pitchFamily="34" charset="0"/>
              </a:rPr>
              <a:t>If another process wants to update the like count while it’s already being changed, it must </a:t>
            </a:r>
            <a:r>
              <a:rPr lang="en-US" sz="1400" b="1" dirty="0">
                <a:latin typeface="Calibri" panose="020F0502020204030204" pitchFamily="34" charset="0"/>
                <a:ea typeface="Calibri" panose="020F0502020204030204" pitchFamily="34" charset="0"/>
                <a:cs typeface="Calibri" panose="020F0502020204030204" pitchFamily="34" charset="0"/>
              </a:rPr>
              <a:t>wait</a:t>
            </a:r>
            <a:r>
              <a:rPr lang="en-US" sz="14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Wingdings" panose="05000000000000000000" pitchFamily="2" charset="2"/>
              <a:buChar char="§"/>
            </a:pPr>
            <a:r>
              <a:rPr lang="en-US" sz="1400" dirty="0">
                <a:latin typeface="Calibri" panose="020F0502020204030204" pitchFamily="34" charset="0"/>
                <a:ea typeface="Calibri" panose="020F0502020204030204" pitchFamily="34" charset="0"/>
                <a:cs typeface="Calibri" panose="020F0502020204030204" pitchFamily="34" charset="0"/>
              </a:rPr>
              <a:t>Once the first process is </a:t>
            </a:r>
            <a:r>
              <a:rPr lang="en-US" sz="1400" b="1" dirty="0">
                <a:latin typeface="Calibri" panose="020F0502020204030204" pitchFamily="34" charset="0"/>
                <a:ea typeface="Calibri" panose="020F0502020204030204" pitchFamily="34" charset="0"/>
                <a:cs typeface="Calibri" panose="020F0502020204030204" pitchFamily="34" charset="0"/>
              </a:rPr>
              <a:t>done</a:t>
            </a:r>
            <a:r>
              <a:rPr lang="en-US" sz="1400" dirty="0">
                <a:latin typeface="Calibri" panose="020F0502020204030204" pitchFamily="34" charset="0"/>
                <a:ea typeface="Calibri" panose="020F0502020204030204" pitchFamily="34" charset="0"/>
                <a:cs typeface="Calibri" panose="020F0502020204030204" pitchFamily="34" charset="0"/>
              </a:rPr>
              <a:t>, the </a:t>
            </a:r>
            <a:r>
              <a:rPr lang="en-US" sz="1400" b="1" dirty="0">
                <a:latin typeface="Calibri" panose="020F0502020204030204" pitchFamily="34" charset="0"/>
                <a:ea typeface="Calibri" panose="020F0502020204030204" pitchFamily="34" charset="0"/>
                <a:cs typeface="Calibri" panose="020F0502020204030204" pitchFamily="34" charset="0"/>
              </a:rPr>
              <a:t>next one gets a chance</a:t>
            </a:r>
            <a:r>
              <a:rPr lang="en-US" sz="14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Wingdings" panose="05000000000000000000" pitchFamily="2" charset="2"/>
              <a:buChar char="§"/>
            </a:pPr>
            <a:r>
              <a:rPr lang="en-US" sz="1400" dirty="0">
                <a:latin typeface="Calibri" panose="020F0502020204030204" pitchFamily="34" charset="0"/>
                <a:ea typeface="Calibri" panose="020F0502020204030204" pitchFamily="34" charset="0"/>
                <a:cs typeface="Calibri" panose="020F0502020204030204" pitchFamily="34" charset="0"/>
              </a:rPr>
              <a:t>This way, you </a:t>
            </a:r>
            <a:r>
              <a:rPr lang="en-US" sz="1400" b="1" dirty="0">
                <a:latin typeface="Calibri" panose="020F0502020204030204" pitchFamily="34" charset="0"/>
                <a:ea typeface="Calibri" panose="020F0502020204030204" pitchFamily="34" charset="0"/>
                <a:cs typeface="Calibri" panose="020F0502020204030204" pitchFamily="34" charset="0"/>
              </a:rPr>
              <a:t>prevent the chaos</a:t>
            </a:r>
            <a:r>
              <a:rPr lang="en-US" sz="1400" dirty="0">
                <a:latin typeface="Calibri" panose="020F0502020204030204" pitchFamily="34" charset="0"/>
                <a:ea typeface="Calibri" panose="020F0502020204030204" pitchFamily="34" charset="0"/>
                <a:cs typeface="Calibri" panose="020F0502020204030204" pitchFamily="34" charset="0"/>
              </a:rPr>
              <a:t> (race condition) that would happen if </a:t>
            </a:r>
            <a:r>
              <a:rPr lang="en-US" sz="1400" b="1" dirty="0">
                <a:latin typeface="Calibri" panose="020F0502020204030204" pitchFamily="34" charset="0"/>
                <a:ea typeface="Calibri" panose="020F0502020204030204" pitchFamily="34" charset="0"/>
                <a:cs typeface="Calibri" panose="020F0502020204030204" pitchFamily="34" charset="0"/>
              </a:rPr>
              <a:t>multiple processes</a:t>
            </a:r>
            <a:r>
              <a:rPr lang="en-US" sz="1400" dirty="0">
                <a:latin typeface="Calibri" panose="020F0502020204030204" pitchFamily="34" charset="0"/>
                <a:ea typeface="Calibri" panose="020F0502020204030204" pitchFamily="34" charset="0"/>
                <a:cs typeface="Calibri" panose="020F0502020204030204" pitchFamily="34" charset="0"/>
              </a:rPr>
              <a:t> tried to </a:t>
            </a:r>
            <a:r>
              <a:rPr lang="en-US" sz="1400" b="1" dirty="0">
                <a:latin typeface="Calibri" panose="020F0502020204030204" pitchFamily="34" charset="0"/>
                <a:ea typeface="Calibri" panose="020F0502020204030204" pitchFamily="34" charset="0"/>
                <a:cs typeface="Calibri" panose="020F0502020204030204" pitchFamily="34" charset="0"/>
              </a:rPr>
              <a:t>update the like count at the same time</a:t>
            </a:r>
            <a:r>
              <a:rPr lang="en-US" sz="14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Wingdings" panose="05000000000000000000" pitchFamily="2" charset="2"/>
              <a:buChar char="§"/>
            </a:pPr>
            <a:r>
              <a:rPr lang="en-US" sz="1400" dirty="0"/>
              <a:t>In the </a:t>
            </a:r>
            <a:r>
              <a:rPr lang="en-US" sz="1400" b="1" dirty="0"/>
              <a:t>OWASP Juice Shop</a:t>
            </a:r>
            <a:r>
              <a:rPr lang="en-US" sz="1400" dirty="0"/>
              <a:t>, a </a:t>
            </a:r>
            <a:r>
              <a:rPr lang="en-US" sz="1400" b="1" dirty="0"/>
              <a:t>shared resource</a:t>
            </a:r>
            <a:r>
              <a:rPr lang="en-US" sz="1400" dirty="0"/>
              <a:t> is any part of the application that </a:t>
            </a:r>
            <a:r>
              <a:rPr lang="en-US" sz="1400" b="1" dirty="0"/>
              <a:t>multiple users or processes</a:t>
            </a:r>
            <a:r>
              <a:rPr lang="en-US" sz="1400" dirty="0"/>
              <a:t> might try to </a:t>
            </a:r>
            <a:r>
              <a:rPr lang="en-US" sz="1400" b="1" dirty="0"/>
              <a:t>access or update </a:t>
            </a:r>
          </a:p>
          <a:p>
            <a:r>
              <a:rPr lang="en-US" sz="1400" b="1" dirty="0"/>
              <a:t>                   at the same time</a:t>
            </a:r>
            <a:r>
              <a:rPr lang="en-US" sz="1400" dirty="0"/>
              <a:t>.</a:t>
            </a:r>
          </a:p>
          <a:p>
            <a:pPr marL="0" marR="0" lvl="0" indent="0"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	</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400" dirty="0"/>
              <a:t>This makes sure that </a:t>
            </a:r>
            <a:r>
              <a:rPr lang="en-US" sz="1400" b="1" dirty="0"/>
              <a:t>only one request at a time</a:t>
            </a:r>
            <a:r>
              <a:rPr lang="en-US" sz="1400" dirty="0"/>
              <a:t> can </a:t>
            </a:r>
            <a:r>
              <a:rPr lang="en-US" sz="1400" b="1" dirty="0"/>
              <a:t>update the like count</a:t>
            </a:r>
            <a:r>
              <a:rPr lang="en-US" sz="1400" dirty="0"/>
              <a: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97129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A42A5-E503-BA5D-A763-4692C933AF49}"/>
              </a:ext>
            </a:extLst>
          </p:cNvPr>
          <p:cNvSpPr>
            <a:spLocks noGrp="1"/>
          </p:cNvSpPr>
          <p:nvPr>
            <p:ph type="title"/>
          </p:nvPr>
        </p:nvSpPr>
        <p:spPr/>
        <p:txBody>
          <a:bodyPr>
            <a:normAutofit/>
          </a:bodyPr>
          <a:lstStyle/>
          <a:p>
            <a:pPr algn="ctr"/>
            <a:r>
              <a:rPr lang="en-IN" sz="2400" dirty="0">
                <a:latin typeface="Calibri" panose="020F0502020204030204" pitchFamily="34" charset="0"/>
                <a:ea typeface="Calibri" panose="020F0502020204030204" pitchFamily="34" charset="0"/>
                <a:cs typeface="Calibri" panose="020F0502020204030204" pitchFamily="34" charset="0"/>
              </a:rPr>
              <a:t>What is Reset Morty's Password problem</a:t>
            </a:r>
          </a:p>
        </p:txBody>
      </p:sp>
      <p:sp>
        <p:nvSpPr>
          <p:cNvPr id="4" name="Rectangle 1">
            <a:extLst>
              <a:ext uri="{FF2B5EF4-FFF2-40B4-BE49-F238E27FC236}">
                <a16:creationId xmlns:a16="http://schemas.microsoft.com/office/drawing/2014/main" id="{0C6A1610-84B0-ECD8-B924-151D06499B76}"/>
              </a:ext>
            </a:extLst>
          </p:cNvPr>
          <p:cNvSpPr>
            <a:spLocks noGrp="1" noChangeArrowheads="1"/>
          </p:cNvSpPr>
          <p:nvPr>
            <p:ph idx="1"/>
          </p:nvPr>
        </p:nvSpPr>
        <p:spPr bwMode="auto">
          <a:xfrm>
            <a:off x="1043473" y="1815881"/>
            <a:ext cx="8090676" cy="5317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Vulnerability Type: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Broken Authentication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(specifically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Forgot Password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feature)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Goal:</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Reset the password of the user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"Morty"</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without knowing the actual answer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security question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IN" sz="1800" dirty="0"/>
              <a:t>How Does This Happen?</a:t>
            </a:r>
          </a:p>
          <a:p>
            <a:r>
              <a:rPr lang="en-IN" sz="1400" dirty="0">
                <a:latin typeface="Calibri" panose="020F0502020204030204" pitchFamily="34" charset="0"/>
                <a:ea typeface="Calibri" panose="020F0502020204030204" pitchFamily="34" charset="0"/>
                <a:cs typeface="Calibri" panose="020F0502020204030204" pitchFamily="34" charset="0"/>
              </a:rPr>
              <a:t>What’s the Security Question?</a:t>
            </a:r>
            <a:br>
              <a:rPr lang="en-IN" sz="1400" dirty="0">
                <a:latin typeface="Calibri" panose="020F0502020204030204" pitchFamily="34" charset="0"/>
                <a:ea typeface="Calibri" panose="020F0502020204030204" pitchFamily="34" charset="0"/>
                <a:cs typeface="Calibri" panose="020F0502020204030204" pitchFamily="34" charset="0"/>
              </a:rPr>
            </a:br>
            <a:r>
              <a:rPr lang="en-US" sz="1400" b="1" dirty="0">
                <a:latin typeface="Calibri" panose="020F0502020204030204" pitchFamily="34" charset="0"/>
                <a:ea typeface="Calibri" panose="020F0502020204030204" pitchFamily="34" charset="0"/>
                <a:cs typeface="Calibri" panose="020F0502020204030204" pitchFamily="34" charset="0"/>
              </a:rPr>
              <a:t>"What was your first pet's name?"</a:t>
            </a:r>
            <a:endParaRPr lang="en-US" sz="14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lang="en-IN" sz="1400" dirty="0">
                <a:latin typeface="Calibri" panose="020F0502020204030204" pitchFamily="34" charset="0"/>
                <a:ea typeface="Calibri" panose="020F0502020204030204" pitchFamily="34" charset="0"/>
                <a:cs typeface="Calibri" panose="020F0502020204030204" pitchFamily="34" charset="0"/>
              </a:rPr>
              <a:t>What’s the Security Answer?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Morty had a dog named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Snuffles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(also known as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Snowball</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Trick:</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answer is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obfuscated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(changed slightly to make it look complicated).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Clues:</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Less than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10 characters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special characters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Might include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leet</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-speak</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(e.g., replacing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with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5</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with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0</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Example Answers:</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snuffles, 5nuffl35, snowball, 5n0wb4ll,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Problem with Brute Force: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Normally, you could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try all possible answers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BUT Juice Shop has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rate-limiting mechanism</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(only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100 tries per 5 minutes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Why it’s hard: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You’ll get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blocked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if you exceed the limit.</a:t>
            </a:r>
          </a:p>
          <a:p>
            <a:pPr eaLnBrk="0" fontAlgn="base" hangingPunct="0">
              <a:lnSpc>
                <a:spcPct val="100000"/>
              </a:lnSpc>
              <a:spcBef>
                <a:spcPct val="0"/>
              </a:spcBef>
              <a:spcAft>
                <a:spcPct val="0"/>
              </a:spcAft>
            </a:pPr>
            <a:endParaRPr lang="en-IN" sz="14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IN" sz="1800" dirty="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0338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B4076-70E5-CB2D-EFA2-19C29279E5BD}"/>
              </a:ext>
            </a:extLst>
          </p:cNvPr>
          <p:cNvSpPr>
            <a:spLocks noGrp="1"/>
          </p:cNvSpPr>
          <p:nvPr>
            <p:ph type="title"/>
          </p:nvPr>
        </p:nvSpPr>
        <p:spPr/>
        <p:txBody>
          <a:bodyPr>
            <a:norm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How to Bypass the Protection:</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CB1D62FB-9276-767A-854A-43121B985717}"/>
              </a:ext>
            </a:extLst>
          </p:cNvPr>
          <p:cNvSpPr>
            <a:spLocks noGrp="1"/>
          </p:cNvSpPr>
          <p:nvPr>
            <p:ph idx="1"/>
          </p:nvPr>
        </p:nvSpPr>
        <p:spPr>
          <a:xfrm>
            <a:off x="763555" y="1538223"/>
            <a:ext cx="10515600" cy="4351338"/>
          </a:xfrm>
        </p:spPr>
        <p:txBody>
          <a:bodyPr>
            <a:normAutofit/>
          </a:bodyPr>
          <a:lstStyle/>
          <a:p>
            <a:pP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Use X-Forwarded-For Header</a:t>
            </a:r>
          </a:p>
          <a:p>
            <a:pPr lvl="1"/>
            <a:r>
              <a:rPr lang="en-US" sz="1400" dirty="0">
                <a:latin typeface="Calibri" panose="020F0502020204030204" pitchFamily="34" charset="0"/>
                <a:ea typeface="Calibri" panose="020F0502020204030204" pitchFamily="34" charset="0"/>
                <a:cs typeface="Calibri" panose="020F0502020204030204" pitchFamily="34" charset="0"/>
              </a:rPr>
              <a:t>The </a:t>
            </a:r>
            <a:r>
              <a:rPr lang="en-US" sz="1400" b="1" dirty="0">
                <a:latin typeface="Calibri" panose="020F0502020204030204" pitchFamily="34" charset="0"/>
                <a:ea typeface="Calibri" panose="020F0502020204030204" pitchFamily="34" charset="0"/>
                <a:cs typeface="Calibri" panose="020F0502020204030204" pitchFamily="34" charset="0"/>
              </a:rPr>
              <a:t>X-Forwarded-For (XFF) header</a:t>
            </a:r>
            <a:r>
              <a:rPr lang="en-US" sz="1400" dirty="0">
                <a:latin typeface="Calibri" panose="020F0502020204030204" pitchFamily="34" charset="0"/>
                <a:ea typeface="Calibri" panose="020F0502020204030204" pitchFamily="34" charset="0"/>
                <a:cs typeface="Calibri" panose="020F0502020204030204" pitchFamily="34" charset="0"/>
              </a:rPr>
              <a:t> is an </a:t>
            </a:r>
            <a:r>
              <a:rPr lang="en-US" sz="1400" b="1" dirty="0">
                <a:latin typeface="Calibri" panose="020F0502020204030204" pitchFamily="34" charset="0"/>
                <a:ea typeface="Calibri" panose="020F0502020204030204" pitchFamily="34" charset="0"/>
                <a:cs typeface="Calibri" panose="020F0502020204030204" pitchFamily="34" charset="0"/>
              </a:rPr>
              <a:t>HTTP header</a:t>
            </a:r>
            <a:r>
              <a:rPr lang="en-US" sz="1400" dirty="0">
                <a:latin typeface="Calibri" panose="020F0502020204030204" pitchFamily="34" charset="0"/>
                <a:ea typeface="Calibri" panose="020F0502020204030204" pitchFamily="34" charset="0"/>
                <a:cs typeface="Calibri" panose="020F0502020204030204" pitchFamily="34" charset="0"/>
              </a:rPr>
              <a:t> used to identify the </a:t>
            </a:r>
            <a:r>
              <a:rPr lang="en-US" sz="1400" b="1" dirty="0">
                <a:latin typeface="Calibri" panose="020F0502020204030204" pitchFamily="34" charset="0"/>
                <a:ea typeface="Calibri" panose="020F0502020204030204" pitchFamily="34" charset="0"/>
                <a:cs typeface="Calibri" panose="020F0502020204030204" pitchFamily="34" charset="0"/>
              </a:rPr>
              <a:t>original IP address</a:t>
            </a:r>
            <a:r>
              <a:rPr lang="en-US" sz="1400" dirty="0">
                <a:latin typeface="Calibri" panose="020F0502020204030204" pitchFamily="34" charset="0"/>
                <a:ea typeface="Calibri" panose="020F0502020204030204" pitchFamily="34" charset="0"/>
                <a:cs typeface="Calibri" panose="020F0502020204030204" pitchFamily="34" charset="0"/>
              </a:rPr>
              <a:t> of a client (like a user's computer) that is connecting to a web server through a </a:t>
            </a:r>
            <a:r>
              <a:rPr lang="en-US" sz="1400" b="1" dirty="0">
                <a:latin typeface="Calibri" panose="020F0502020204030204" pitchFamily="34" charset="0"/>
                <a:ea typeface="Calibri" panose="020F0502020204030204" pitchFamily="34" charset="0"/>
                <a:cs typeface="Calibri" panose="020F0502020204030204" pitchFamily="34" charset="0"/>
              </a:rPr>
              <a:t>proxy or load balancer</a:t>
            </a:r>
            <a:r>
              <a:rPr lang="en-US" sz="1400" dirty="0">
                <a:latin typeface="Calibri" panose="020F0502020204030204" pitchFamily="34" charset="0"/>
                <a:ea typeface="Calibri" panose="020F0502020204030204" pitchFamily="34" charset="0"/>
                <a:cs typeface="Calibri" panose="020F0502020204030204" pitchFamily="34" charset="0"/>
              </a:rPr>
              <a:t>.</a:t>
            </a:r>
            <a:endParaRPr lang="en-US" sz="1400" b="1" dirty="0">
              <a:latin typeface="Calibri" panose="020F0502020204030204" pitchFamily="34" charset="0"/>
              <a:ea typeface="Calibri" panose="020F0502020204030204" pitchFamily="34" charset="0"/>
              <a:cs typeface="Calibri" panose="020F0502020204030204" pitchFamily="34" charset="0"/>
            </a:endParaRPr>
          </a:p>
          <a:p>
            <a:pPr lvl="1"/>
            <a:r>
              <a:rPr lang="en-IN" sz="1400" dirty="0">
                <a:latin typeface="Calibri" panose="020F0502020204030204" pitchFamily="34" charset="0"/>
                <a:ea typeface="Calibri" panose="020F0502020204030204" pitchFamily="34" charset="0"/>
                <a:cs typeface="Calibri" panose="020F0502020204030204" pitchFamily="34" charset="0"/>
              </a:rPr>
              <a:t>Why Use X-Forwarded-For?</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dirty="0">
                <a:latin typeface="Calibri" panose="020F0502020204030204" pitchFamily="34" charset="0"/>
                <a:ea typeface="Calibri" panose="020F0502020204030204" pitchFamily="34" charset="0"/>
                <a:cs typeface="Calibri" panose="020F0502020204030204" pitchFamily="34" charset="0"/>
              </a:rPr>
              <a:t>When a client connects to a server directly, the server can easily read the client’s IP address.</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However, when the client connects through a </a:t>
            </a:r>
            <a:r>
              <a:rPr lang="en-US" sz="1400" b="1" dirty="0">
                <a:latin typeface="Calibri" panose="020F0502020204030204" pitchFamily="34" charset="0"/>
                <a:ea typeface="Calibri" panose="020F0502020204030204" pitchFamily="34" charset="0"/>
                <a:cs typeface="Calibri" panose="020F0502020204030204" pitchFamily="34" charset="0"/>
              </a:rPr>
              <a:t>proxy</a:t>
            </a:r>
            <a:r>
              <a:rPr lang="en-US" sz="1400" dirty="0">
                <a:latin typeface="Calibri" panose="020F0502020204030204" pitchFamily="34" charset="0"/>
                <a:ea typeface="Calibri" panose="020F0502020204030204" pitchFamily="34" charset="0"/>
                <a:cs typeface="Calibri" panose="020F0502020204030204" pitchFamily="34" charset="0"/>
              </a:rPr>
              <a:t> (like a VPN, a load balancer, or a reverse proxy), the server only sees the </a:t>
            </a:r>
            <a:r>
              <a:rPr lang="en-US" sz="1400" b="1" dirty="0">
                <a:latin typeface="Calibri" panose="020F0502020204030204" pitchFamily="34" charset="0"/>
                <a:ea typeface="Calibri" panose="020F0502020204030204" pitchFamily="34" charset="0"/>
                <a:cs typeface="Calibri" panose="020F0502020204030204" pitchFamily="34" charset="0"/>
              </a:rPr>
              <a:t>proxy’s IP address</a:t>
            </a:r>
            <a:r>
              <a:rPr lang="en-US" sz="1400" dirty="0">
                <a:latin typeface="Calibri" panose="020F0502020204030204" pitchFamily="34" charset="0"/>
                <a:ea typeface="Calibri" panose="020F0502020204030204" pitchFamily="34" charset="0"/>
                <a:cs typeface="Calibri" panose="020F0502020204030204" pitchFamily="34" charset="0"/>
              </a:rPr>
              <a:t>.</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The XFF header solves this problem by passing the </a:t>
            </a:r>
            <a:r>
              <a:rPr lang="en-US" sz="1400" b="1" dirty="0">
                <a:latin typeface="Calibri" panose="020F0502020204030204" pitchFamily="34" charset="0"/>
                <a:ea typeface="Calibri" panose="020F0502020204030204" pitchFamily="34" charset="0"/>
                <a:cs typeface="Calibri" panose="020F0502020204030204" pitchFamily="34" charset="0"/>
              </a:rPr>
              <a:t>client’s real IP address</a:t>
            </a:r>
            <a:r>
              <a:rPr lang="en-US" sz="1400" dirty="0">
                <a:latin typeface="Calibri" panose="020F0502020204030204" pitchFamily="34" charset="0"/>
                <a:ea typeface="Calibri" panose="020F0502020204030204" pitchFamily="34" charset="0"/>
                <a:cs typeface="Calibri" panose="020F0502020204030204" pitchFamily="34" charset="0"/>
              </a:rPr>
              <a:t> to the server.</a:t>
            </a:r>
            <a:endParaRPr lang="en-US" sz="1400" b="1" dirty="0">
              <a:latin typeface="Calibri" panose="020F0502020204030204" pitchFamily="34" charset="0"/>
              <a:ea typeface="Calibri" panose="020F0502020204030204" pitchFamily="34" charset="0"/>
              <a:cs typeface="Calibri" panose="020F0502020204030204" pitchFamily="34" charset="0"/>
            </a:endParaRPr>
          </a:p>
          <a:p>
            <a:pPr lvl="1"/>
            <a:r>
              <a:rPr lang="en-US" sz="1400" dirty="0">
                <a:latin typeface="Calibri" panose="020F0502020204030204" pitchFamily="34" charset="0"/>
                <a:ea typeface="Calibri" panose="020F0502020204030204" pitchFamily="34" charset="0"/>
                <a:cs typeface="Calibri" panose="020F0502020204030204" pitchFamily="34" charset="0"/>
              </a:rPr>
              <a:t>The server uses your </a:t>
            </a:r>
            <a:r>
              <a:rPr lang="en-US" sz="1400" b="1" dirty="0">
                <a:latin typeface="Calibri" panose="020F0502020204030204" pitchFamily="34" charset="0"/>
                <a:ea typeface="Calibri" panose="020F0502020204030204" pitchFamily="34" charset="0"/>
                <a:cs typeface="Calibri" panose="020F0502020204030204" pitchFamily="34" charset="0"/>
              </a:rPr>
              <a:t>IP address</a:t>
            </a:r>
            <a:r>
              <a:rPr lang="en-US" sz="1400" dirty="0">
                <a:latin typeface="Calibri" panose="020F0502020204030204" pitchFamily="34" charset="0"/>
                <a:ea typeface="Calibri" panose="020F0502020204030204" pitchFamily="34" charset="0"/>
                <a:cs typeface="Calibri" panose="020F0502020204030204" pitchFamily="34" charset="0"/>
              </a:rPr>
              <a:t> to block excessive attempts.</a:t>
            </a:r>
          </a:p>
          <a:p>
            <a:pP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Bypass:</a:t>
            </a:r>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Change the </a:t>
            </a:r>
            <a:r>
              <a:rPr lang="en-US" sz="1400" b="1" dirty="0">
                <a:latin typeface="Calibri" panose="020F0502020204030204" pitchFamily="34" charset="0"/>
                <a:ea typeface="Calibri" panose="020F0502020204030204" pitchFamily="34" charset="0"/>
                <a:cs typeface="Calibri" panose="020F0502020204030204" pitchFamily="34" charset="0"/>
              </a:rPr>
              <a:t>X-Forwarded-For header</a:t>
            </a:r>
            <a:r>
              <a:rPr lang="en-US" sz="1400" dirty="0">
                <a:latin typeface="Calibri" panose="020F0502020204030204" pitchFamily="34" charset="0"/>
                <a:ea typeface="Calibri" panose="020F0502020204030204" pitchFamily="34" charset="0"/>
                <a:cs typeface="Calibri" panose="020F0502020204030204" pitchFamily="34" charset="0"/>
              </a:rPr>
              <a:t> (fake the IP address) in each request.</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This makes the server think </a:t>
            </a:r>
            <a:r>
              <a:rPr lang="en-US" sz="1400" b="1" dirty="0">
                <a:latin typeface="Calibri" panose="020F0502020204030204" pitchFamily="34" charset="0"/>
                <a:ea typeface="Calibri" panose="020F0502020204030204" pitchFamily="34" charset="0"/>
                <a:cs typeface="Calibri" panose="020F0502020204030204" pitchFamily="34" charset="0"/>
              </a:rPr>
              <a:t>every attempt is from a different IP</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endParaRPr lang="en-US" sz="1400" dirty="0"/>
          </a:p>
          <a:p>
            <a:endParaRPr lang="en-IN" sz="1400" dirty="0"/>
          </a:p>
        </p:txBody>
      </p:sp>
      <p:sp>
        <p:nvSpPr>
          <p:cNvPr id="4" name="Rectangle 1">
            <a:extLst>
              <a:ext uri="{FF2B5EF4-FFF2-40B4-BE49-F238E27FC236}">
                <a16:creationId xmlns:a16="http://schemas.microsoft.com/office/drawing/2014/main" id="{D34691EB-40EA-8F7C-5C07-BEEAC51B5732}"/>
              </a:ext>
            </a:extLst>
          </p:cNvPr>
          <p:cNvSpPr>
            <a:spLocks noChangeArrowheads="1"/>
          </p:cNvSpPr>
          <p:nvPr/>
        </p:nvSpPr>
        <p:spPr bwMode="auto">
          <a:xfrm>
            <a:off x="996821" y="4892396"/>
            <a:ext cx="4994188"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Script Overview: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Generate a list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of possible answers like snowball, 5n0wb41L,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Write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script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Tries each answer.</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Uses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different IP</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each attempt.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Stops when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correct answer</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 found (5N0wb41L).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7504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6476A-F146-D546-3407-713F5B303E8D}"/>
              </a:ext>
            </a:extLst>
          </p:cNvPr>
          <p:cNvSpPr>
            <a:spLocks noGrp="1"/>
          </p:cNvSpPr>
          <p:nvPr>
            <p:ph type="title"/>
          </p:nvPr>
        </p:nvSpPr>
        <p:spPr/>
        <p:txBody>
          <a:bodyPr>
            <a:normAutofit/>
          </a:bodyPr>
          <a:lstStyle/>
          <a:p>
            <a:pPr marL="285750" indent="-285750">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Why This Works:</a:t>
            </a:r>
            <a:br>
              <a:rPr lang="en-US" sz="2400" b="1" dirty="0">
                <a:latin typeface="Calibri" panose="020F0502020204030204" pitchFamily="34" charset="0"/>
                <a:ea typeface="Calibri" panose="020F0502020204030204" pitchFamily="34" charset="0"/>
                <a:cs typeface="Calibri" panose="020F0502020204030204" pitchFamily="34" charset="0"/>
              </a:rPr>
            </a:b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43606FD-D394-B50F-75A7-3A0EC76D50A1}"/>
              </a:ext>
            </a:extLst>
          </p:cNvPr>
          <p:cNvSpPr>
            <a:spLocks noGrp="1"/>
          </p:cNvSpPr>
          <p:nvPr>
            <p:ph idx="1"/>
          </p:nvPr>
        </p:nvSpPr>
        <p:spPr>
          <a:xfrm>
            <a:off x="838200" y="590857"/>
            <a:ext cx="10515600" cy="4351338"/>
          </a:xfrm>
        </p:spPr>
        <p:txBody>
          <a:bodyPr/>
          <a:lstStyle/>
          <a:p>
            <a:pPr marL="0" indent="0">
              <a:buNone/>
            </a:pPr>
            <a:endParaRPr lang="en-US" b="1" dirty="0"/>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The server doesn’t </a:t>
            </a:r>
            <a:r>
              <a:rPr lang="en-US" sz="1400" b="1" dirty="0">
                <a:latin typeface="Calibri" panose="020F0502020204030204" pitchFamily="34" charset="0"/>
                <a:ea typeface="Calibri" panose="020F0502020204030204" pitchFamily="34" charset="0"/>
                <a:cs typeface="Calibri" panose="020F0502020204030204" pitchFamily="34" charset="0"/>
              </a:rPr>
              <a:t>verify the actual IP</a:t>
            </a:r>
            <a:r>
              <a:rPr lang="en-US" sz="1400" dirty="0">
                <a:latin typeface="Calibri" panose="020F0502020204030204" pitchFamily="34" charset="0"/>
                <a:ea typeface="Calibri" panose="020F0502020204030204" pitchFamily="34" charset="0"/>
                <a:cs typeface="Calibri" panose="020F0502020204030204" pitchFamily="34" charset="0"/>
              </a:rPr>
              <a:t>; it only checks the </a:t>
            </a:r>
            <a:r>
              <a:rPr lang="en-US" sz="1400" b="1" dirty="0">
                <a:latin typeface="Calibri" panose="020F0502020204030204" pitchFamily="34" charset="0"/>
                <a:ea typeface="Calibri" panose="020F0502020204030204" pitchFamily="34" charset="0"/>
                <a:cs typeface="Calibri" panose="020F0502020204030204" pitchFamily="34" charset="0"/>
              </a:rPr>
              <a:t>X-Forwarded-For header</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Since each request seems to come from a </a:t>
            </a:r>
            <a:r>
              <a:rPr lang="en-US" sz="1400" b="1" dirty="0">
                <a:latin typeface="Calibri" panose="020F0502020204030204" pitchFamily="34" charset="0"/>
                <a:ea typeface="Calibri" panose="020F0502020204030204" pitchFamily="34" charset="0"/>
                <a:cs typeface="Calibri" panose="020F0502020204030204" pitchFamily="34" charset="0"/>
              </a:rPr>
              <a:t>different IP</a:t>
            </a:r>
            <a:r>
              <a:rPr lang="en-US" sz="1400" dirty="0">
                <a:latin typeface="Calibri" panose="020F0502020204030204" pitchFamily="34" charset="0"/>
                <a:ea typeface="Calibri" panose="020F0502020204030204" pitchFamily="34" charset="0"/>
                <a:cs typeface="Calibri" panose="020F0502020204030204" pitchFamily="34" charset="0"/>
              </a:rPr>
              <a:t>, the rate-limiting doesn’t trigger.</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Eventually, the script finds the </a:t>
            </a:r>
            <a:r>
              <a:rPr lang="en-US" sz="1400" b="1" dirty="0">
                <a:latin typeface="Calibri" panose="020F0502020204030204" pitchFamily="34" charset="0"/>
                <a:ea typeface="Calibri" panose="020F0502020204030204" pitchFamily="34" charset="0"/>
                <a:cs typeface="Calibri" panose="020F0502020204030204" pitchFamily="34" charset="0"/>
              </a:rPr>
              <a:t>correct answer</a:t>
            </a:r>
            <a:r>
              <a:rPr lang="en-US" sz="1400" dirty="0">
                <a:latin typeface="Calibri" panose="020F0502020204030204" pitchFamily="34" charset="0"/>
                <a:ea typeface="Calibri" panose="020F0502020204030204" pitchFamily="34" charset="0"/>
                <a:cs typeface="Calibri" panose="020F0502020204030204" pitchFamily="34" charset="0"/>
              </a:rPr>
              <a:t>, and you can </a:t>
            </a:r>
            <a:r>
              <a:rPr lang="en-US" sz="1400" b="1" dirty="0">
                <a:latin typeface="Calibri" panose="020F0502020204030204" pitchFamily="34" charset="0"/>
                <a:ea typeface="Calibri" panose="020F0502020204030204" pitchFamily="34" charset="0"/>
                <a:cs typeface="Calibri" panose="020F0502020204030204" pitchFamily="34" charset="0"/>
              </a:rPr>
              <a:t>reset Morty’s password</a:t>
            </a:r>
            <a:r>
              <a:rPr lang="en-US" sz="1400" dirty="0">
                <a:latin typeface="Calibri" panose="020F0502020204030204" pitchFamily="34" charset="0"/>
                <a:ea typeface="Calibri" panose="020F0502020204030204" pitchFamily="34" charset="0"/>
                <a:cs typeface="Calibri" panose="020F0502020204030204" pitchFamily="34" charset="0"/>
              </a:rPr>
              <a:t>.</a:t>
            </a:r>
          </a:p>
          <a:p>
            <a:pPr marL="0" indent="0">
              <a:buNone/>
            </a:pP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r>
              <a:rPr lang="en-IN" sz="1800" b="1" dirty="0">
                <a:latin typeface="Calibri" panose="020F0502020204030204" pitchFamily="34" charset="0"/>
                <a:ea typeface="Calibri" panose="020F0502020204030204" pitchFamily="34" charset="0"/>
                <a:cs typeface="Calibri" panose="020F0502020204030204" pitchFamily="34" charset="0"/>
              </a:rPr>
              <a:t>How to Fix 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Don’t trust X-Forwarded-For headers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identifying IPs..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CAPTCHA</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or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multi-factor authentication (MFA)</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password resets.</a:t>
            </a:r>
          </a:p>
          <a:p>
            <a:pPr>
              <a:buFont typeface="Wingdings" panose="05000000000000000000" pitchFamily="2" charset="2"/>
              <a:buChar char="Ø"/>
            </a:pPr>
            <a:endParaRPr lang="en-IN" sz="18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3873846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FE084-5C8F-62F9-3425-4EC214E6A50F}"/>
              </a:ext>
            </a:extLst>
          </p:cNvPr>
          <p:cNvSpPr>
            <a:spLocks noGrp="1"/>
          </p:cNvSpPr>
          <p:nvPr>
            <p:ph type="title"/>
          </p:nvPr>
        </p:nvSpPr>
        <p:spPr/>
        <p:txBody>
          <a:bodyPr>
            <a:normAutofit/>
          </a:bodyPr>
          <a:lstStyle/>
          <a:p>
            <a:pPr algn="ctr"/>
            <a:r>
              <a:rPr lang="en-IN" sz="24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Forged Coupon problem</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429EC456-4E0F-7FA1-F2AB-61E6BED95038}"/>
              </a:ext>
            </a:extLst>
          </p:cNvPr>
          <p:cNvSpPr>
            <a:spLocks noGrp="1" noChangeArrowheads="1"/>
          </p:cNvSpPr>
          <p:nvPr>
            <p:ph idx="1"/>
          </p:nvPr>
        </p:nvSpPr>
        <p:spPr bwMode="auto">
          <a:xfrm>
            <a:off x="838200" y="1711315"/>
            <a:ext cx="571906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Objective: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Get a discount of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least 80%</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by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forging a coupon code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n-US" sz="1400" dirty="0">
                <a:latin typeface="Calibri" panose="020F0502020204030204" pitchFamily="34" charset="0"/>
                <a:ea typeface="Calibri" panose="020F0502020204030204" pitchFamily="34" charset="0"/>
                <a:cs typeface="Calibri" panose="020F0502020204030204" pitchFamily="34" charset="0"/>
              </a:rPr>
              <a:t>The Juice Shop doesn't give out such huge discounts, but if we understand </a:t>
            </a:r>
          </a:p>
          <a:p>
            <a:pPr marL="0" marR="0" lvl="0" indent="0" algn="l" defTabSz="914400" rtl="0" eaLnBrk="0" fontAlgn="base" latinLnBrk="0" hangingPunct="0">
              <a:lnSpc>
                <a:spcPct val="100000"/>
              </a:lnSpc>
              <a:spcBef>
                <a:spcPct val="0"/>
              </a:spcBef>
              <a:spcAft>
                <a:spcPct val="0"/>
              </a:spcAft>
              <a:buClrTx/>
              <a:buSzTx/>
              <a:buNone/>
              <a:tabLst/>
            </a:pPr>
            <a:r>
              <a:rPr lang="en-US" sz="1400" dirty="0">
                <a:latin typeface="Calibri" panose="020F0502020204030204" pitchFamily="34" charset="0"/>
                <a:ea typeface="Calibri" panose="020F0502020204030204" pitchFamily="34" charset="0"/>
                <a:cs typeface="Calibri" panose="020F0502020204030204" pitchFamily="34" charset="0"/>
              </a:rPr>
              <a:t>  how the coupon codes work, we can create one ourselves!</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B5B89C33-A370-E57D-D7F6-BB731EB7D9DA}"/>
              </a:ext>
            </a:extLst>
          </p:cNvPr>
          <p:cNvSpPr txBox="1"/>
          <p:nvPr/>
        </p:nvSpPr>
        <p:spPr>
          <a:xfrm>
            <a:off x="838200" y="2619256"/>
            <a:ext cx="6097554" cy="2523768"/>
          </a:xfrm>
          <a:prstGeom prst="rect">
            <a:avLst/>
          </a:prstGeom>
          <a:noFill/>
        </p:spPr>
        <p:txBody>
          <a:bodyPr wrap="square">
            <a:spAutoFit/>
          </a:bodyPr>
          <a:lstStyle/>
          <a:p>
            <a:pPr marL="285750" indent="-28575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Understanding How Coupons Work:</a:t>
            </a:r>
          </a:p>
          <a:p>
            <a:pPr>
              <a:buFont typeface="Arial" panose="020B0604020202020204" pitchFamily="34" charset="0"/>
              <a:buChar char="•"/>
            </a:pPr>
            <a:endParaRPr lang="en-US" sz="1400" b="1"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How Regular Coupons Work:</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
            </a:pPr>
            <a:r>
              <a:rPr lang="en-US" sz="1400" dirty="0">
                <a:latin typeface="Calibri" panose="020F0502020204030204" pitchFamily="34" charset="0"/>
                <a:ea typeface="Calibri" panose="020F0502020204030204" pitchFamily="34" charset="0"/>
                <a:cs typeface="Calibri" panose="020F0502020204030204" pitchFamily="34" charset="0"/>
              </a:rPr>
              <a:t>The Juice Shop has a field where you can enter a </a:t>
            </a:r>
            <a:r>
              <a:rPr lang="en-US" sz="1400" b="1" dirty="0">
                <a:latin typeface="Calibri" panose="020F0502020204030204" pitchFamily="34" charset="0"/>
                <a:ea typeface="Calibri" panose="020F0502020204030204" pitchFamily="34" charset="0"/>
                <a:cs typeface="Calibri" panose="020F0502020204030204" pitchFamily="34" charset="0"/>
              </a:rPr>
              <a:t>coupon code</a:t>
            </a:r>
            <a:r>
              <a:rPr lang="en-US" sz="1400" dirty="0">
                <a:latin typeface="Calibri" panose="020F0502020204030204" pitchFamily="34" charset="0"/>
                <a:ea typeface="Calibri" panose="020F0502020204030204" pitchFamily="34" charset="0"/>
                <a:cs typeface="Calibri" panose="020F0502020204030204" pitchFamily="34" charset="0"/>
              </a:rPr>
              <a:t> at checkout.</a:t>
            </a:r>
          </a:p>
          <a:p>
            <a:pPr marL="742950" lvl="1" indent="-285750">
              <a:buFont typeface="Wingdings" panose="05000000000000000000" pitchFamily="2" charset="2"/>
              <a:buChar char="§"/>
            </a:pPr>
            <a:r>
              <a:rPr lang="en-US" sz="1400" dirty="0">
                <a:latin typeface="Calibri" panose="020F0502020204030204" pitchFamily="34" charset="0"/>
                <a:ea typeface="Calibri" panose="020F0502020204030204" pitchFamily="34" charset="0"/>
                <a:cs typeface="Calibri" panose="020F0502020204030204" pitchFamily="34" charset="0"/>
              </a:rPr>
              <a:t>Coupons are </a:t>
            </a:r>
            <a:r>
              <a:rPr lang="en-US" sz="1400" b="1" dirty="0">
                <a:latin typeface="Calibri" panose="020F0502020204030204" pitchFamily="34" charset="0"/>
                <a:ea typeface="Calibri" panose="020F0502020204030204" pitchFamily="34" charset="0"/>
                <a:cs typeface="Calibri" panose="020F0502020204030204" pitchFamily="34" charset="0"/>
              </a:rPr>
              <a:t>encoded strings</a:t>
            </a:r>
            <a:r>
              <a:rPr lang="en-US" sz="1400" dirty="0">
                <a:latin typeface="Calibri" panose="020F0502020204030204" pitchFamily="34" charset="0"/>
                <a:ea typeface="Calibri" panose="020F0502020204030204" pitchFamily="34" charset="0"/>
                <a:cs typeface="Calibri" panose="020F0502020204030204" pitchFamily="34" charset="0"/>
              </a:rPr>
              <a:t> (a mix of letters, numbers, and symbols).</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The Trick:</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
            </a:pPr>
            <a:r>
              <a:rPr lang="en-US" sz="1400" dirty="0">
                <a:latin typeface="Calibri" panose="020F0502020204030204" pitchFamily="34" charset="0"/>
                <a:ea typeface="Calibri" panose="020F0502020204030204" pitchFamily="34" charset="0"/>
                <a:cs typeface="Calibri" panose="020F0502020204030204" pitchFamily="34" charset="0"/>
              </a:rPr>
              <a:t>The goal is to </a:t>
            </a:r>
            <a:r>
              <a:rPr lang="en-US" sz="1400" b="1" dirty="0">
                <a:latin typeface="Calibri" panose="020F0502020204030204" pitchFamily="34" charset="0"/>
                <a:ea typeface="Calibri" panose="020F0502020204030204" pitchFamily="34" charset="0"/>
                <a:cs typeface="Calibri" panose="020F0502020204030204" pitchFamily="34" charset="0"/>
              </a:rPr>
              <a:t>figure out how the Juice Shop makes these coupon codes</a:t>
            </a:r>
            <a:r>
              <a:rPr lang="en-US" sz="14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Wingdings" panose="05000000000000000000" pitchFamily="2" charset="2"/>
              <a:buChar char="§"/>
            </a:pPr>
            <a:r>
              <a:rPr lang="en-US" sz="1400" dirty="0">
                <a:latin typeface="Calibri" panose="020F0502020204030204" pitchFamily="34" charset="0"/>
                <a:ea typeface="Calibri" panose="020F0502020204030204" pitchFamily="34" charset="0"/>
                <a:cs typeface="Calibri" panose="020F0502020204030204" pitchFamily="34" charset="0"/>
              </a:rPr>
              <a:t>If we know the pattern or the </a:t>
            </a:r>
            <a:r>
              <a:rPr lang="en-US" sz="1400" b="1" dirty="0">
                <a:latin typeface="Calibri" panose="020F0502020204030204" pitchFamily="34" charset="0"/>
                <a:ea typeface="Calibri" panose="020F0502020204030204" pitchFamily="34" charset="0"/>
                <a:cs typeface="Calibri" panose="020F0502020204030204" pitchFamily="34" charset="0"/>
              </a:rPr>
              <a:t>code generation method</a:t>
            </a:r>
            <a:r>
              <a:rPr lang="en-US" sz="1400" dirty="0">
                <a:latin typeface="Calibri" panose="020F0502020204030204" pitchFamily="34" charset="0"/>
                <a:ea typeface="Calibri" panose="020F0502020204030204" pitchFamily="34" charset="0"/>
                <a:cs typeface="Calibri" panose="020F0502020204030204" pitchFamily="34" charset="0"/>
              </a:rPr>
              <a:t>, we can make one ourselves!</a:t>
            </a:r>
          </a:p>
        </p:txBody>
      </p:sp>
    </p:spTree>
    <p:extLst>
      <p:ext uri="{BB962C8B-B14F-4D97-AF65-F5344CB8AC3E}">
        <p14:creationId xmlns:p14="http://schemas.microsoft.com/office/powerpoint/2010/main" val="400593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EC9F1-C464-4DA2-01B9-E8AD9ADF109F}"/>
              </a:ext>
            </a:extLst>
          </p:cNvPr>
          <p:cNvSpPr>
            <a:spLocks noGrp="1"/>
          </p:cNvSpPr>
          <p:nvPr>
            <p:ph type="title"/>
          </p:nvPr>
        </p:nvSpPr>
        <p:spPr/>
        <p:txBody>
          <a:bodyPr>
            <a:normAutofit/>
          </a:bodyPr>
          <a:lstStyle/>
          <a:p>
            <a:pPr algn="ctr"/>
            <a:r>
              <a:rPr lang="en-IN" sz="2400" dirty="0">
                <a:latin typeface="Calibri" panose="020F0502020204030204" pitchFamily="34" charset="0"/>
                <a:ea typeface="Calibri" panose="020F0502020204030204" pitchFamily="34" charset="0"/>
                <a:cs typeface="Calibri" panose="020F0502020204030204" pitchFamily="34" charset="0"/>
              </a:rPr>
              <a:t>How to hack it</a:t>
            </a:r>
          </a:p>
        </p:txBody>
      </p:sp>
      <p:sp>
        <p:nvSpPr>
          <p:cNvPr id="3" name="Content Placeholder 2">
            <a:extLst>
              <a:ext uri="{FF2B5EF4-FFF2-40B4-BE49-F238E27FC236}">
                <a16:creationId xmlns:a16="http://schemas.microsoft.com/office/drawing/2014/main" id="{061C2B27-CF4F-00E1-9858-6834539C2A12}"/>
              </a:ext>
            </a:extLst>
          </p:cNvPr>
          <p:cNvSpPr>
            <a:spLocks noGrp="1"/>
          </p:cNvSpPr>
          <p:nvPr>
            <p:ph idx="1"/>
          </p:nvPr>
        </p:nvSpPr>
        <p:spPr/>
        <p:txBody>
          <a:bodyPr>
            <a:normAutofit/>
          </a:bodyPr>
          <a:lstStyle/>
          <a:p>
            <a:pPr>
              <a:buFont typeface="Wingdings" panose="05000000000000000000" pitchFamily="2" charset="2"/>
              <a:buChar char="Ø"/>
            </a:pPr>
            <a:r>
              <a:rPr lang="en-US" sz="1900" b="1" dirty="0">
                <a:latin typeface="Calibri" panose="020F0502020204030204" pitchFamily="34" charset="0"/>
                <a:ea typeface="Calibri" panose="020F0502020204030204" pitchFamily="34" charset="0"/>
                <a:cs typeface="Calibri" panose="020F0502020204030204" pitchFamily="34" charset="0"/>
              </a:rPr>
              <a:t>Pattern Analysis Approach:</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Step 1:</a:t>
            </a:r>
            <a:r>
              <a:rPr lang="en-US" sz="1400" dirty="0">
                <a:latin typeface="Calibri" panose="020F0502020204030204" pitchFamily="34" charset="0"/>
                <a:ea typeface="Calibri" panose="020F0502020204030204" pitchFamily="34" charset="0"/>
                <a:cs typeface="Calibri" panose="020F0502020204030204" pitchFamily="34" charset="0"/>
              </a:rPr>
              <a:t> Find old coupon codes (from backup files or Juice Shop’s social media).</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Step 2:</a:t>
            </a:r>
            <a:r>
              <a:rPr lang="en-US" sz="1400" dirty="0">
                <a:latin typeface="Calibri" panose="020F0502020204030204" pitchFamily="34" charset="0"/>
                <a:ea typeface="Calibri" panose="020F0502020204030204" pitchFamily="34" charset="0"/>
                <a:cs typeface="Calibri" panose="020F0502020204030204" pitchFamily="34" charset="0"/>
              </a:rPr>
              <a:t> Notice the </a:t>
            </a:r>
            <a:r>
              <a:rPr lang="en-US" sz="1400" b="1" dirty="0">
                <a:latin typeface="Calibri" panose="020F0502020204030204" pitchFamily="34" charset="0"/>
                <a:ea typeface="Calibri" panose="020F0502020204030204" pitchFamily="34" charset="0"/>
                <a:cs typeface="Calibri" panose="020F0502020204030204" pitchFamily="34" charset="0"/>
              </a:rPr>
              <a:t>pattern</a:t>
            </a:r>
            <a:r>
              <a:rPr lang="en-US" sz="1400" dirty="0">
                <a:latin typeface="Calibri" panose="020F0502020204030204" pitchFamily="34" charset="0"/>
                <a:ea typeface="Calibri" panose="020F0502020204030204" pitchFamily="34" charset="0"/>
                <a:cs typeface="Calibri" panose="020F0502020204030204" pitchFamily="34" charset="0"/>
              </a:rPr>
              <a:t> in the codes (e.g., many end with </a:t>
            </a:r>
            <a:r>
              <a:rPr lang="en-US" sz="1400" b="1" dirty="0">
                <a:latin typeface="Calibri" panose="020F0502020204030204" pitchFamily="34" charset="0"/>
                <a:ea typeface="Calibri" panose="020F0502020204030204" pitchFamily="34" charset="0"/>
                <a:cs typeface="Calibri" panose="020F0502020204030204" pitchFamily="34" charset="0"/>
              </a:rPr>
              <a:t>"gC7sn"</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Step 3:</a:t>
            </a:r>
            <a:r>
              <a:rPr lang="en-US" sz="1400" dirty="0">
                <a:latin typeface="Calibri" panose="020F0502020204030204" pitchFamily="34" charset="0"/>
                <a:ea typeface="Calibri" panose="020F0502020204030204" pitchFamily="34" charset="0"/>
                <a:cs typeface="Calibri" panose="020F0502020204030204" pitchFamily="34" charset="0"/>
              </a:rPr>
              <a:t> Realize that the </a:t>
            </a:r>
            <a:r>
              <a:rPr lang="en-US" sz="1400" b="1" dirty="0">
                <a:latin typeface="Calibri" panose="020F0502020204030204" pitchFamily="34" charset="0"/>
                <a:ea typeface="Calibri" panose="020F0502020204030204" pitchFamily="34" charset="0"/>
                <a:cs typeface="Calibri" panose="020F0502020204030204" pitchFamily="34" charset="0"/>
              </a:rPr>
              <a:t>last few characters might encode the discount</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Step 4:</a:t>
            </a:r>
            <a:r>
              <a:rPr lang="en-US" sz="1400" dirty="0">
                <a:latin typeface="Calibri" panose="020F0502020204030204" pitchFamily="34" charset="0"/>
                <a:ea typeface="Calibri" panose="020F0502020204030204" pitchFamily="34" charset="0"/>
                <a:cs typeface="Calibri" panose="020F0502020204030204" pitchFamily="34" charset="0"/>
              </a:rPr>
              <a:t> Try combinations using the pattern to </a:t>
            </a:r>
            <a:r>
              <a:rPr lang="en-US" sz="1400" b="1" dirty="0">
                <a:latin typeface="Calibri" panose="020F0502020204030204" pitchFamily="34" charset="0"/>
                <a:ea typeface="Calibri" panose="020F0502020204030204" pitchFamily="34" charset="0"/>
                <a:cs typeface="Calibri" panose="020F0502020204030204" pitchFamily="34" charset="0"/>
              </a:rPr>
              <a:t>generate an 80% coupon</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 </a:t>
            </a:r>
            <a:r>
              <a:rPr lang="en-US" sz="1900" b="1" dirty="0">
                <a:latin typeface="Calibri" panose="020F0502020204030204" pitchFamily="34" charset="0"/>
                <a:ea typeface="Calibri" panose="020F0502020204030204" pitchFamily="34" charset="0"/>
                <a:cs typeface="Calibri" panose="020F0502020204030204" pitchFamily="34" charset="0"/>
              </a:rPr>
              <a:t>Reverse Engineering Approach:</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Step 1:</a:t>
            </a:r>
            <a:r>
              <a:rPr lang="en-US" sz="1400" dirty="0">
                <a:latin typeface="Calibri" panose="020F0502020204030204" pitchFamily="34" charset="0"/>
                <a:ea typeface="Calibri" panose="020F0502020204030204" pitchFamily="34" charset="0"/>
                <a:cs typeface="Calibri" panose="020F0502020204030204" pitchFamily="34" charset="0"/>
              </a:rPr>
              <a:t> Investigate the </a:t>
            </a:r>
            <a:r>
              <a:rPr lang="en-US" sz="1400" b="1" dirty="0">
                <a:latin typeface="Calibri" panose="020F0502020204030204" pitchFamily="34" charset="0"/>
                <a:ea typeface="Calibri" panose="020F0502020204030204" pitchFamily="34" charset="0"/>
                <a:cs typeface="Calibri" panose="020F0502020204030204" pitchFamily="34" charset="0"/>
              </a:rPr>
              <a:t>code libraries</a:t>
            </a:r>
            <a:r>
              <a:rPr lang="en-US" sz="1400" dirty="0">
                <a:latin typeface="Calibri" panose="020F0502020204030204" pitchFamily="34" charset="0"/>
                <a:ea typeface="Calibri" panose="020F0502020204030204" pitchFamily="34" charset="0"/>
                <a:cs typeface="Calibri" panose="020F0502020204030204" pitchFamily="34" charset="0"/>
              </a:rPr>
              <a:t> used by Juice Shop (like looking into a toy-making manual).</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Step 2:</a:t>
            </a:r>
            <a:r>
              <a:rPr lang="en-US" sz="1400" dirty="0">
                <a:latin typeface="Calibri" panose="020F0502020204030204" pitchFamily="34" charset="0"/>
                <a:ea typeface="Calibri" panose="020F0502020204030204" pitchFamily="34" charset="0"/>
                <a:cs typeface="Calibri" panose="020F0502020204030204" pitchFamily="34" charset="0"/>
              </a:rPr>
              <a:t> Identify the </a:t>
            </a:r>
            <a:r>
              <a:rPr lang="en-US" sz="1400" b="1" dirty="0">
                <a:latin typeface="Calibri" panose="020F0502020204030204" pitchFamily="34" charset="0"/>
                <a:ea typeface="Calibri" panose="020F0502020204030204" pitchFamily="34" charset="0"/>
                <a:cs typeface="Calibri" panose="020F0502020204030204" pitchFamily="34" charset="0"/>
              </a:rPr>
              <a:t>Z85 encoding library</a:t>
            </a:r>
            <a:r>
              <a:rPr lang="en-US" sz="1400" dirty="0">
                <a:latin typeface="Calibri" panose="020F0502020204030204" pitchFamily="34" charset="0"/>
                <a:ea typeface="Calibri" panose="020F0502020204030204" pitchFamily="34" charset="0"/>
                <a:cs typeface="Calibri" panose="020F0502020204030204" pitchFamily="34" charset="0"/>
              </a:rPr>
              <a:t> that creates these codes.</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Step 3:</a:t>
            </a:r>
            <a:r>
              <a:rPr lang="en-US" sz="1400" dirty="0">
                <a:latin typeface="Calibri" panose="020F0502020204030204" pitchFamily="34" charset="0"/>
                <a:ea typeface="Calibri" panose="020F0502020204030204" pitchFamily="34" charset="0"/>
                <a:cs typeface="Calibri" panose="020F0502020204030204" pitchFamily="34" charset="0"/>
              </a:rPr>
              <a:t> Use a tool called </a:t>
            </a:r>
            <a:r>
              <a:rPr lang="en-US" sz="1400" b="1" dirty="0">
                <a:latin typeface="Calibri" panose="020F0502020204030204" pitchFamily="34" charset="0"/>
                <a:ea typeface="Calibri" panose="020F0502020204030204" pitchFamily="34" charset="0"/>
                <a:cs typeface="Calibri" panose="020F0502020204030204" pitchFamily="34" charset="0"/>
              </a:rPr>
              <a:t>z85-cli</a:t>
            </a:r>
            <a:r>
              <a:rPr lang="en-US" sz="1400" dirty="0">
                <a:latin typeface="Calibri" panose="020F0502020204030204" pitchFamily="34" charset="0"/>
                <a:ea typeface="Calibri" panose="020F0502020204030204" pitchFamily="34" charset="0"/>
                <a:cs typeface="Calibri" panose="020F0502020204030204" pitchFamily="34" charset="0"/>
              </a:rPr>
              <a:t> to </a:t>
            </a:r>
            <a:r>
              <a:rPr lang="en-US" sz="1400" b="1" dirty="0">
                <a:latin typeface="Calibri" panose="020F0502020204030204" pitchFamily="34" charset="0"/>
                <a:ea typeface="Calibri" panose="020F0502020204030204" pitchFamily="34" charset="0"/>
                <a:cs typeface="Calibri" panose="020F0502020204030204" pitchFamily="34" charset="0"/>
              </a:rPr>
              <a:t>decode a known coupon</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Step 4:</a:t>
            </a: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b="1" dirty="0">
                <a:latin typeface="Calibri" panose="020F0502020204030204" pitchFamily="34" charset="0"/>
                <a:ea typeface="Calibri" panose="020F0502020204030204" pitchFamily="34" charset="0"/>
                <a:cs typeface="Calibri" panose="020F0502020204030204" pitchFamily="34" charset="0"/>
              </a:rPr>
              <a:t>Encode your own coupon</a:t>
            </a:r>
            <a:r>
              <a:rPr lang="en-US" sz="1400" dirty="0">
                <a:latin typeface="Calibri" panose="020F0502020204030204" pitchFamily="34" charset="0"/>
                <a:ea typeface="Calibri" panose="020F0502020204030204" pitchFamily="34" charset="0"/>
                <a:cs typeface="Calibri" panose="020F0502020204030204" pitchFamily="34" charset="0"/>
              </a:rPr>
              <a:t> for the current month with an 80% discount.</a:t>
            </a:r>
          </a:p>
          <a:p>
            <a:endParaRPr lang="en-IN" dirty="0"/>
          </a:p>
        </p:txBody>
      </p:sp>
    </p:spTree>
    <p:extLst>
      <p:ext uri="{BB962C8B-B14F-4D97-AF65-F5344CB8AC3E}">
        <p14:creationId xmlns:p14="http://schemas.microsoft.com/office/powerpoint/2010/main" val="2842225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DDF8B-20C5-F943-4282-005E3BB7E141}"/>
              </a:ext>
            </a:extLst>
          </p:cNvPr>
          <p:cNvSpPr>
            <a:spLocks noGrp="1"/>
          </p:cNvSpPr>
          <p:nvPr>
            <p:ph type="title"/>
          </p:nvPr>
        </p:nvSpPr>
        <p:spPr/>
        <p:txBody>
          <a:bodyPr>
            <a:normAutofit/>
          </a:bodyPr>
          <a:lstStyle/>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Why Does This Work? (The Vulnerability)</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2FE0E58E-3DC9-05C7-D474-1570615DF289}"/>
              </a:ext>
            </a:extLst>
          </p:cNvPr>
          <p:cNvSpPr>
            <a:spLocks noGrp="1" noChangeArrowheads="1"/>
          </p:cNvSpPr>
          <p:nvPr>
            <p:ph idx="1"/>
          </p:nvPr>
        </p:nvSpPr>
        <p:spPr bwMode="auto">
          <a:xfrm>
            <a:off x="838200" y="1297959"/>
            <a:ext cx="640752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problem is that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server trusts the coupon code without much checking</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Juice Shop did not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securely generate and verify coupon codes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making it possible 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predict or forge them</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33CCBF6-EE16-5332-1698-8181B9FCDB8A}"/>
              </a:ext>
            </a:extLst>
          </p:cNvPr>
          <p:cNvSpPr txBox="1"/>
          <p:nvPr/>
        </p:nvSpPr>
        <p:spPr>
          <a:xfrm>
            <a:off x="838200" y="2214937"/>
            <a:ext cx="6097554" cy="369332"/>
          </a:xfrm>
          <a:prstGeom prst="rect">
            <a:avLst/>
          </a:prstGeom>
          <a:noFill/>
        </p:spPr>
        <p:txBody>
          <a:bodyPr wrap="square">
            <a:spAutoFit/>
          </a:bodyPr>
          <a:lstStyle/>
          <a:p>
            <a:pPr marL="285750" indent="-28575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How to Fix This Issue</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2">
            <a:extLst>
              <a:ext uri="{FF2B5EF4-FFF2-40B4-BE49-F238E27FC236}">
                <a16:creationId xmlns:a16="http://schemas.microsoft.com/office/drawing/2014/main" id="{65524A49-89C5-C554-0C6B-6934EA18740A}"/>
              </a:ext>
            </a:extLst>
          </p:cNvPr>
          <p:cNvSpPr>
            <a:spLocks noChangeArrowheads="1"/>
          </p:cNvSpPr>
          <p:nvPr/>
        </p:nvSpPr>
        <p:spPr bwMode="auto">
          <a:xfrm>
            <a:off x="838200" y="2623522"/>
            <a:ext cx="722826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Secure Coupon Generation:</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strong encryption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codes.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Validate codes on the server (backend), not just at the client side (frontend).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Rate Limiting:</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Prevent trying many codes quickly (like stopping someone from guessing a safe’s combination).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7237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AC43F9-5A89-60C0-045E-ED4BD653EC1B}"/>
              </a:ext>
            </a:extLst>
          </p:cNvPr>
          <p:cNvSpPr>
            <a:spLocks noGrp="1"/>
          </p:cNvSpPr>
          <p:nvPr>
            <p:ph idx="1"/>
          </p:nvPr>
        </p:nvSpPr>
        <p:spPr>
          <a:xfrm>
            <a:off x="838200" y="394914"/>
            <a:ext cx="10515600" cy="6183167"/>
          </a:xfrm>
        </p:spPr>
        <p:txBody>
          <a:bodyPr>
            <a:normAutofit/>
          </a:bodyPr>
          <a:lstStyle/>
          <a:p>
            <a:pP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What is the Imaginary Challenge (#999)?</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A fictional challenge that doesn’t really exist but can be marked as solved by exploiting a flaw.</a:t>
            </a:r>
          </a:p>
          <a:p>
            <a:pP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Objective:</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Trick the application into thinking you have solved challenge #999.</a:t>
            </a:r>
          </a:p>
          <a:p>
            <a:pP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What Makes This Possible?</a:t>
            </a:r>
          </a:p>
          <a:p>
            <a:pPr>
              <a:buFont typeface="Wingdings" panose="05000000000000000000" pitchFamily="2" charset="2"/>
              <a:buChar char="v"/>
            </a:pPr>
            <a:r>
              <a:rPr lang="en-US" sz="1400" b="1" dirty="0">
                <a:latin typeface="Calibri" panose="020F0502020204030204" pitchFamily="34" charset="0"/>
                <a:ea typeface="Calibri" panose="020F0502020204030204" pitchFamily="34" charset="0"/>
                <a:cs typeface="Calibri" panose="020F0502020204030204" pitchFamily="34" charset="0"/>
              </a:rPr>
              <a:t>Progress Saving in Juice Shop:</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The application </a:t>
            </a:r>
            <a:r>
              <a:rPr lang="en-US" sz="1400" b="1" dirty="0">
                <a:latin typeface="Calibri" panose="020F0502020204030204" pitchFamily="34" charset="0"/>
                <a:ea typeface="Calibri" panose="020F0502020204030204" pitchFamily="34" charset="0"/>
                <a:cs typeface="Calibri" panose="020F0502020204030204" pitchFamily="34" charset="0"/>
              </a:rPr>
              <a:t>saves your hacking progress</a:t>
            </a:r>
            <a:r>
              <a:rPr lang="en-US" sz="1400" dirty="0">
                <a:latin typeface="Calibri" panose="020F0502020204030204" pitchFamily="34" charset="0"/>
                <a:ea typeface="Calibri" panose="020F0502020204030204" pitchFamily="34" charset="0"/>
                <a:cs typeface="Calibri" panose="020F0502020204030204" pitchFamily="34" charset="0"/>
              </a:rPr>
              <a:t> automatically.</a:t>
            </a: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This is done using a </a:t>
            </a:r>
            <a:r>
              <a:rPr lang="en-US" sz="1400" b="1" dirty="0">
                <a:latin typeface="Calibri" panose="020F0502020204030204" pitchFamily="34" charset="0"/>
                <a:ea typeface="Calibri" panose="020F0502020204030204" pitchFamily="34" charset="0"/>
                <a:cs typeface="Calibri" panose="020F0502020204030204" pitchFamily="34" charset="0"/>
              </a:rPr>
              <a:t>“continue code”</a:t>
            </a:r>
            <a:r>
              <a:rPr lang="en-US" sz="1400" dirty="0">
                <a:latin typeface="Calibri" panose="020F0502020204030204" pitchFamily="34" charset="0"/>
                <a:ea typeface="Calibri" panose="020F0502020204030204" pitchFamily="34" charset="0"/>
                <a:cs typeface="Calibri" panose="020F0502020204030204" pitchFamily="34" charset="0"/>
              </a:rPr>
              <a:t> stored as a </a:t>
            </a:r>
            <a:r>
              <a:rPr lang="en-US" sz="1400" b="1" dirty="0">
                <a:latin typeface="Calibri" panose="020F0502020204030204" pitchFamily="34" charset="0"/>
                <a:ea typeface="Calibri" panose="020F0502020204030204" pitchFamily="34" charset="0"/>
                <a:cs typeface="Calibri" panose="020F0502020204030204" pitchFamily="34" charset="0"/>
              </a:rPr>
              <a:t>browser cookie</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Wingdings" panose="05000000000000000000" pitchFamily="2" charset="2"/>
              <a:buChar char="v"/>
            </a:pPr>
            <a:r>
              <a:rPr lang="en-US" sz="1400" b="1" dirty="0">
                <a:latin typeface="Calibri" panose="020F0502020204030204" pitchFamily="34" charset="0"/>
                <a:ea typeface="Calibri" panose="020F0502020204030204" pitchFamily="34" charset="0"/>
                <a:cs typeface="Calibri" panose="020F0502020204030204" pitchFamily="34" charset="0"/>
              </a:rPr>
              <a:t>The Mistake:</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The developer used </a:t>
            </a:r>
            <a:r>
              <a:rPr lang="en-US" sz="1400" b="1" dirty="0">
                <a:latin typeface="Calibri" panose="020F0502020204030204" pitchFamily="34" charset="0"/>
                <a:ea typeface="Calibri" panose="020F0502020204030204" pitchFamily="34" charset="0"/>
                <a:cs typeface="Calibri" panose="020F0502020204030204" pitchFamily="34" charset="0"/>
              </a:rPr>
              <a:t>insecure practices</a:t>
            </a:r>
            <a:r>
              <a:rPr lang="en-US" sz="1400" dirty="0">
                <a:latin typeface="Calibri" panose="020F0502020204030204" pitchFamily="34" charset="0"/>
                <a:ea typeface="Calibri" panose="020F0502020204030204" pitchFamily="34" charset="0"/>
                <a:cs typeface="Calibri" panose="020F0502020204030204" pitchFamily="34" charset="0"/>
              </a:rPr>
              <a:t> when generating these codes.</a:t>
            </a: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Specifically, the app uses the </a:t>
            </a:r>
            <a:r>
              <a:rPr lang="en-US" sz="1400" b="1" dirty="0" err="1">
                <a:latin typeface="Calibri" panose="020F0502020204030204" pitchFamily="34" charset="0"/>
                <a:ea typeface="Calibri" panose="020F0502020204030204" pitchFamily="34" charset="0"/>
                <a:cs typeface="Calibri" panose="020F0502020204030204" pitchFamily="34" charset="0"/>
              </a:rPr>
              <a:t>Hashids</a:t>
            </a:r>
            <a:r>
              <a:rPr lang="en-US" sz="1400" b="1" dirty="0">
                <a:latin typeface="Calibri" panose="020F0502020204030204" pitchFamily="34" charset="0"/>
                <a:ea typeface="Calibri" panose="020F0502020204030204" pitchFamily="34" charset="0"/>
                <a:cs typeface="Calibri" panose="020F0502020204030204" pitchFamily="34" charset="0"/>
              </a:rPr>
              <a:t> library</a:t>
            </a:r>
            <a:r>
              <a:rPr lang="en-US" sz="1400" dirty="0">
                <a:latin typeface="Calibri" panose="020F0502020204030204" pitchFamily="34" charset="0"/>
                <a:ea typeface="Calibri" panose="020F0502020204030204" pitchFamily="34" charset="0"/>
                <a:cs typeface="Calibri" panose="020F0502020204030204" pitchFamily="34" charset="0"/>
              </a:rPr>
              <a:t> with the </a:t>
            </a:r>
            <a:r>
              <a:rPr lang="en-US" sz="1400" b="1" dirty="0">
                <a:latin typeface="Calibri" panose="020F0502020204030204" pitchFamily="34" charset="0"/>
                <a:ea typeface="Calibri" panose="020F0502020204030204" pitchFamily="34" charset="0"/>
                <a:cs typeface="Calibri" panose="020F0502020204030204" pitchFamily="34" charset="0"/>
              </a:rPr>
              <a:t>default salt</a:t>
            </a:r>
            <a:r>
              <a:rPr lang="en-US" sz="1400" dirty="0">
                <a:latin typeface="Calibri" panose="020F0502020204030204" pitchFamily="34" charset="0"/>
                <a:ea typeface="Calibri" panose="020F0502020204030204" pitchFamily="34" charset="0"/>
                <a:cs typeface="Calibri" panose="020F0502020204030204" pitchFamily="34" charset="0"/>
              </a:rPr>
              <a:t>:</a:t>
            </a:r>
          </a:p>
          <a:p>
            <a:pPr marL="1143000" lvl="2" indent="-228600">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Salt:</a:t>
            </a:r>
            <a:r>
              <a:rPr lang="en-US" sz="1400" dirty="0">
                <a:latin typeface="Calibri" panose="020F0502020204030204" pitchFamily="34" charset="0"/>
                <a:ea typeface="Calibri" panose="020F0502020204030204" pitchFamily="34" charset="0"/>
                <a:cs typeface="Calibri" panose="020F0502020204030204" pitchFamily="34" charset="0"/>
              </a:rPr>
              <a:t> A random string used to make encryption more secure.</a:t>
            </a:r>
          </a:p>
          <a:p>
            <a:pPr marL="1143000" lvl="2" indent="-228600">
              <a:buFont typeface="Arial" panose="020B0604020202020204" pitchFamily="34" charset="0"/>
              <a:buChar char="•"/>
            </a:pPr>
            <a:r>
              <a:rPr lang="en-US" sz="1400" b="1" dirty="0" err="1">
                <a:latin typeface="Calibri" panose="020F0502020204030204" pitchFamily="34" charset="0"/>
                <a:ea typeface="Calibri" panose="020F0502020204030204" pitchFamily="34" charset="0"/>
                <a:cs typeface="Calibri" panose="020F0502020204030204" pitchFamily="34" charset="0"/>
              </a:rPr>
              <a:t>Hashids</a:t>
            </a:r>
            <a:r>
              <a:rPr lang="en-US" sz="1400" b="1" dirty="0">
                <a:latin typeface="Calibri" panose="020F0502020204030204" pitchFamily="34" charset="0"/>
                <a:ea typeface="Calibri" panose="020F0502020204030204" pitchFamily="34" charset="0"/>
                <a:cs typeface="Calibri" panose="020F0502020204030204" pitchFamily="34" charset="0"/>
              </a:rPr>
              <a:t>:</a:t>
            </a:r>
            <a:r>
              <a:rPr lang="en-US" sz="1400" dirty="0">
                <a:latin typeface="Calibri" panose="020F0502020204030204" pitchFamily="34" charset="0"/>
                <a:ea typeface="Calibri" panose="020F0502020204030204" pitchFamily="34" charset="0"/>
                <a:cs typeface="Calibri" panose="020F0502020204030204" pitchFamily="34" charset="0"/>
              </a:rPr>
              <a:t> A library that converts numbers into hash strings.</a:t>
            </a: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The salt used here is literally </a:t>
            </a:r>
            <a:r>
              <a:rPr lang="en-US" sz="1400" b="1" dirty="0">
                <a:latin typeface="Calibri" panose="020F0502020204030204" pitchFamily="34" charset="0"/>
                <a:ea typeface="Calibri" panose="020F0502020204030204" pitchFamily="34" charset="0"/>
                <a:cs typeface="Calibri" panose="020F0502020204030204" pitchFamily="34" charset="0"/>
              </a:rPr>
              <a:t>"this is my salt"</a:t>
            </a:r>
            <a:r>
              <a:rPr lang="en-US" sz="1400" dirty="0">
                <a:latin typeface="Calibri" panose="020F0502020204030204" pitchFamily="34" charset="0"/>
                <a:ea typeface="Calibri" panose="020F0502020204030204" pitchFamily="34" charset="0"/>
                <a:cs typeface="Calibri" panose="020F0502020204030204" pitchFamily="34" charset="0"/>
              </a:rPr>
              <a:t>, which is too predictable!</a:t>
            </a:r>
          </a:p>
          <a:p>
            <a:pPr lvl="1">
              <a:buFont typeface="Wingdings" panose="05000000000000000000" pitchFamily="2" charset="2"/>
              <a:buChar char="v"/>
            </a:pPr>
            <a:endParaRPr lang="en-US" sz="14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buFont typeface="Wingdings" panose="05000000000000000000" pitchFamily="2" charset="2"/>
              <a:buChar char="v"/>
            </a:pPr>
            <a:r>
              <a:rPr lang="en-IN" sz="1400" b="1" dirty="0">
                <a:latin typeface="Calibri" panose="020F0502020204030204" pitchFamily="34" charset="0"/>
                <a:ea typeface="Calibri" panose="020F0502020204030204" pitchFamily="34" charset="0"/>
                <a:cs typeface="Calibri" panose="020F0502020204030204" pitchFamily="34" charset="0"/>
              </a:rPr>
              <a:t>What is a continue code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1400" dirty="0">
                <a:latin typeface="Calibri" panose="020F0502020204030204" pitchFamily="34" charset="0"/>
                <a:ea typeface="Calibri" panose="020F0502020204030204" pitchFamily="34" charset="0"/>
                <a:cs typeface="Calibri" panose="020F0502020204030204" pitchFamily="34" charset="0"/>
              </a:rPr>
              <a:t>A unique code generated by the application to save your progress. It allows you to </a:t>
            </a:r>
            <a:r>
              <a:rPr lang="en-US" sz="1400" b="1" dirty="0">
                <a:latin typeface="Calibri" panose="020F0502020204030204" pitchFamily="34" charset="0"/>
                <a:ea typeface="Calibri" panose="020F0502020204030204" pitchFamily="34" charset="0"/>
                <a:cs typeface="Calibri" panose="020F0502020204030204" pitchFamily="34" charset="0"/>
              </a:rPr>
              <a:t>resume your hacking session</a:t>
            </a:r>
            <a:r>
              <a:rPr lang="en-US" sz="1400" dirty="0">
                <a:latin typeface="Calibri" panose="020F0502020204030204" pitchFamily="34" charset="0"/>
                <a:ea typeface="Calibri" panose="020F0502020204030204" pitchFamily="34" charset="0"/>
                <a:cs typeface="Calibri" panose="020F0502020204030204" pitchFamily="34" charset="0"/>
              </a:rPr>
              <a:t> after a break or server crash</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When you complete challenges, the Juice Shop automatically saves your progress.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progress is stored as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hashed code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 a browser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cookie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called continue code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Example: </a:t>
            </a:r>
            <a:r>
              <a:rPr kumimoji="0" lang="en-US" altLang="en-US" sz="14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continueCode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69OxrZ8aJEgxONZyWoz1Dw4BvXmRGkM6Ae9M7k2rK63YpqQLPjnlb5V5LvDj</a:t>
            </a:r>
          </a:p>
          <a:p>
            <a:pPr lvl="1">
              <a:buFont typeface="Wingdings" panose="05000000000000000000" pitchFamily="2" charset="2"/>
              <a:buChar char="v"/>
            </a:pPr>
            <a:endParaRPr lang="en-US" sz="1600" dirty="0"/>
          </a:p>
          <a:p>
            <a:pPr lvl="1">
              <a:buFont typeface="Wingdings" panose="05000000000000000000" pitchFamily="2" charset="2"/>
              <a:buChar char="v"/>
            </a:pPr>
            <a:endParaRPr lang="en-IN" sz="1400" b="1" dirty="0">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v"/>
            </a:pPr>
            <a:endParaRPr lang="en-US" sz="1400" b="1"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3444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CEE51-D0F1-C678-9B55-D673409F15DF}"/>
              </a:ext>
            </a:extLst>
          </p:cNvPr>
          <p:cNvSpPr>
            <a:spLocks noGrp="1"/>
          </p:cNvSpPr>
          <p:nvPr>
            <p:ph type="title"/>
          </p:nvPr>
        </p:nvSpPr>
        <p:spPr/>
        <p:txBody>
          <a:bodyPr>
            <a:normAutofit/>
          </a:bodyPr>
          <a:lstStyle/>
          <a:p>
            <a:pPr algn="ctr"/>
            <a:r>
              <a:rPr lang="en-IN" sz="2400" dirty="0">
                <a:latin typeface="Calibri" panose="020F0502020204030204" pitchFamily="34" charset="0"/>
                <a:ea typeface="Calibri" panose="020F0502020204030204" pitchFamily="34" charset="0"/>
                <a:cs typeface="Calibri" panose="020F0502020204030204" pitchFamily="34" charset="0"/>
              </a:rPr>
              <a:t>How the Exploit Works:</a:t>
            </a:r>
          </a:p>
        </p:txBody>
      </p:sp>
      <p:sp>
        <p:nvSpPr>
          <p:cNvPr id="4" name="Rectangle 1">
            <a:extLst>
              <a:ext uri="{FF2B5EF4-FFF2-40B4-BE49-F238E27FC236}">
                <a16:creationId xmlns:a16="http://schemas.microsoft.com/office/drawing/2014/main" id="{76AC3D26-70AE-F0CE-C619-36ECB7F91BD0}"/>
              </a:ext>
            </a:extLst>
          </p:cNvPr>
          <p:cNvSpPr>
            <a:spLocks noGrp="1" noChangeArrowheads="1"/>
          </p:cNvSpPr>
          <p:nvPr>
            <p:ph idx="1"/>
          </p:nvPr>
        </p:nvSpPr>
        <p:spPr bwMode="auto">
          <a:xfrm>
            <a:off x="838200" y="1693996"/>
            <a:ext cx="10227608" cy="4614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Step 1: Solve Any Challenge</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Complete a simple challenge in Juice Shop (like “Login with Admin”).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triggers the saving of progress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the app generates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continue code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Step 2: Locate the Cookie:</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Open your browser's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Developer Tools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(usually F12 or right-click -&gt; Inspect).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Go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“Application” tab</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-&gt;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Cookies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-&gt; Find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continueCode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code is essentially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hashed version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of your progress.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Step 3: Reverse Engineer the Code:</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From the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package.json.bak</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file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you find that the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Hashids</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library</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was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You also find that it uses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default salt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"this is my salt".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Using a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Hashids</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demo online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input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999</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the salt to get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continue code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n-US" sz="1400" dirty="0">
                <a:latin typeface="Calibri" panose="020F0502020204030204" pitchFamily="34" charset="0"/>
                <a:ea typeface="Calibri" panose="020F0502020204030204" pitchFamily="34" charset="0"/>
                <a:cs typeface="Calibri" panose="020F0502020204030204" pitchFamily="34" charset="0"/>
              </a:rPr>
              <a:t>The result is something like: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69OxrZ8aJEgxONZyWoz1Dw4BvXmRGkM6Ae9M7k2rK63YpqQLPjnlb5V5LvDj</a:t>
            </a:r>
          </a:p>
          <a:p>
            <a:pPr>
              <a:buFont typeface="Wingdings" panose="05000000000000000000" pitchFamily="2" charset="2"/>
              <a:buChar char="Ø"/>
            </a:pPr>
            <a:r>
              <a:rPr lang="en-US" sz="1400" b="1" dirty="0">
                <a:latin typeface="Calibri" panose="020F0502020204030204" pitchFamily="34" charset="0"/>
                <a:ea typeface="Calibri" panose="020F0502020204030204" pitchFamily="34" charset="0"/>
                <a:cs typeface="Calibri" panose="020F0502020204030204" pitchFamily="34" charset="0"/>
              </a:rPr>
              <a:t>Step 4: Faking Progress:</a:t>
            </a:r>
          </a:p>
          <a:p>
            <a:r>
              <a:rPr lang="en-US" sz="1400" dirty="0">
                <a:latin typeface="Calibri" panose="020F0502020204030204" pitchFamily="34" charset="0"/>
                <a:ea typeface="Calibri" panose="020F0502020204030204" pitchFamily="34" charset="0"/>
                <a:cs typeface="Calibri" panose="020F0502020204030204" pitchFamily="34" charset="0"/>
              </a:rPr>
              <a:t>Send a </a:t>
            </a:r>
            <a:r>
              <a:rPr lang="en-US" sz="1400" b="1" dirty="0">
                <a:latin typeface="Calibri" panose="020F0502020204030204" pitchFamily="34" charset="0"/>
                <a:ea typeface="Calibri" panose="020F0502020204030204" pitchFamily="34" charset="0"/>
                <a:cs typeface="Calibri" panose="020F0502020204030204" pitchFamily="34" charset="0"/>
              </a:rPr>
              <a:t>PUT request</a:t>
            </a:r>
            <a:r>
              <a:rPr lang="en-US" sz="1400" dirty="0">
                <a:latin typeface="Calibri" panose="020F0502020204030204" pitchFamily="34" charset="0"/>
                <a:ea typeface="Calibri" panose="020F0502020204030204" pitchFamily="34" charset="0"/>
                <a:cs typeface="Calibri" panose="020F0502020204030204" pitchFamily="34" charset="0"/>
              </a:rPr>
              <a:t> to the server to mark challenge #999 as solved:</a:t>
            </a:r>
          </a:p>
          <a:p>
            <a:pPr marL="0" indent="0" eaLnBrk="0" fontAlgn="base" hangingPunct="0">
              <a:lnSpc>
                <a:spcPct val="100000"/>
              </a:lnSpc>
              <a:spcBef>
                <a:spcPct val="0"/>
              </a:spcBef>
              <a:spcAft>
                <a:spcPct val="0"/>
              </a:spcAft>
              <a:buNone/>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http://localhost:3000/rest/continue-code/apply/69OxrZ8aJEgxONZyWoz1Dw4BvXmRGkM6Ae9M7k2rK63YpqQLPjnlb5V5LvDj</a:t>
            </a:r>
          </a:p>
          <a:p>
            <a:pPr eaLnBrk="0" fontAlgn="base" hangingPunct="0">
              <a:lnSpc>
                <a:spcPct val="100000"/>
              </a:lnSpc>
              <a:spcBef>
                <a:spcPct val="0"/>
              </a:spcBef>
              <a:spcAft>
                <a:spcPct val="0"/>
              </a:spcAft>
            </a:pPr>
            <a:r>
              <a:rPr lang="en-US" sz="1400" dirty="0">
                <a:latin typeface="Calibri" panose="020F0502020204030204" pitchFamily="34" charset="0"/>
                <a:ea typeface="Calibri" panose="020F0502020204030204" pitchFamily="34" charset="0"/>
                <a:cs typeface="Calibri" panose="020F0502020204030204" pitchFamily="34" charset="0"/>
              </a:rPr>
              <a:t>The server </a:t>
            </a:r>
            <a:r>
              <a:rPr lang="en-US" sz="1400" b="1" dirty="0">
                <a:latin typeface="Calibri" panose="020F0502020204030204" pitchFamily="34" charset="0"/>
                <a:ea typeface="Calibri" panose="020F0502020204030204" pitchFamily="34" charset="0"/>
                <a:cs typeface="Calibri" panose="020F0502020204030204" pitchFamily="34" charset="0"/>
              </a:rPr>
              <a:t>accepts the request</a:t>
            </a:r>
            <a:r>
              <a:rPr lang="en-US" sz="1400" dirty="0">
                <a:latin typeface="Calibri" panose="020F0502020204030204" pitchFamily="34" charset="0"/>
                <a:ea typeface="Calibri" panose="020F0502020204030204" pitchFamily="34" charset="0"/>
                <a:cs typeface="Calibri" panose="020F0502020204030204" pitchFamily="34" charset="0"/>
              </a:rPr>
              <a:t>, thinking the challenge has been completed.</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7780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7B94F9-CDF6-3A8F-675B-E4C1149F98D2}"/>
              </a:ext>
            </a:extLst>
          </p:cNvPr>
          <p:cNvSpPr>
            <a:spLocks noGrp="1"/>
          </p:cNvSpPr>
          <p:nvPr>
            <p:ph idx="1"/>
          </p:nvPr>
        </p:nvSpPr>
        <p:spPr>
          <a:xfrm>
            <a:off x="838200" y="1321772"/>
            <a:ext cx="10515600" cy="4901746"/>
          </a:xfrm>
        </p:spPr>
        <p:txBody>
          <a:bodyPr>
            <a:normAutofit/>
          </a:bodyPr>
          <a:lstStyle/>
          <a:p>
            <a:pPr>
              <a:buFont typeface="Wingdings" panose="05000000000000000000" pitchFamily="2" charset="2"/>
              <a:buChar char="Ø"/>
            </a:pPr>
            <a:r>
              <a:rPr lang="en-IN" sz="1800" dirty="0">
                <a:latin typeface="Calibri" panose="020F0502020204030204" pitchFamily="34" charset="0"/>
                <a:ea typeface="Calibri" panose="020F0502020204030204" pitchFamily="34" charset="0"/>
                <a:cs typeface="Calibri" panose="020F0502020204030204" pitchFamily="34" charset="0"/>
              </a:rPr>
              <a:t>Why Did This Work?</a:t>
            </a:r>
            <a:endParaRPr lang="en-US" sz="1800" b="1"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Poor Salt Usage:</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Salt is supposed to be </a:t>
            </a:r>
            <a:r>
              <a:rPr lang="en-US" sz="1400" b="1" dirty="0">
                <a:latin typeface="Calibri" panose="020F0502020204030204" pitchFamily="34" charset="0"/>
                <a:ea typeface="Calibri" panose="020F0502020204030204" pitchFamily="34" charset="0"/>
                <a:cs typeface="Calibri" panose="020F0502020204030204" pitchFamily="34" charset="0"/>
              </a:rPr>
              <a:t>unique and unpredictable</a:t>
            </a:r>
            <a:r>
              <a:rPr lang="en-US" sz="1400" dirty="0">
                <a:latin typeface="Calibri" panose="020F0502020204030204" pitchFamily="34" charset="0"/>
                <a:ea typeface="Calibri" panose="020F0502020204030204" pitchFamily="34" charset="0"/>
                <a:cs typeface="Calibri" panose="020F0502020204030204" pitchFamily="34" charset="0"/>
              </a:rPr>
              <a:t>, but here it’s </a:t>
            </a:r>
            <a:r>
              <a:rPr lang="en-US" sz="1400" b="1" dirty="0">
                <a:latin typeface="Calibri" panose="020F0502020204030204" pitchFamily="34" charset="0"/>
                <a:ea typeface="Calibri" panose="020F0502020204030204" pitchFamily="34" charset="0"/>
                <a:cs typeface="Calibri" panose="020F0502020204030204" pitchFamily="34" charset="0"/>
              </a:rPr>
              <a:t>generic and obvious</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Client-Side Flaw:</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The </a:t>
            </a:r>
            <a:r>
              <a:rPr lang="en-US" sz="1400" b="1" dirty="0">
                <a:latin typeface="Calibri" panose="020F0502020204030204" pitchFamily="34" charset="0"/>
                <a:ea typeface="Calibri" panose="020F0502020204030204" pitchFamily="34" charset="0"/>
                <a:cs typeface="Calibri" panose="020F0502020204030204" pitchFamily="34" charset="0"/>
              </a:rPr>
              <a:t>cookie is stored client-side</a:t>
            </a:r>
            <a:r>
              <a:rPr lang="en-US" sz="1400" dirty="0">
                <a:latin typeface="Calibri" panose="020F0502020204030204" pitchFamily="34" charset="0"/>
                <a:ea typeface="Calibri" panose="020F0502020204030204" pitchFamily="34" charset="0"/>
                <a:cs typeface="Calibri" panose="020F0502020204030204" pitchFamily="34" charset="0"/>
              </a:rPr>
              <a:t>, and the server </a:t>
            </a:r>
            <a:r>
              <a:rPr lang="en-US" sz="1400" b="1" dirty="0">
                <a:latin typeface="Calibri" panose="020F0502020204030204" pitchFamily="34" charset="0"/>
                <a:ea typeface="Calibri" panose="020F0502020204030204" pitchFamily="34" charset="0"/>
                <a:cs typeface="Calibri" panose="020F0502020204030204" pitchFamily="34" charset="0"/>
              </a:rPr>
              <a:t>naively trusts it</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Predictable Hash:</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Using </a:t>
            </a:r>
            <a:r>
              <a:rPr lang="en-US" sz="1400" b="1" dirty="0">
                <a:latin typeface="Calibri" panose="020F0502020204030204" pitchFamily="34" charset="0"/>
                <a:ea typeface="Calibri" panose="020F0502020204030204" pitchFamily="34" charset="0"/>
                <a:cs typeface="Calibri" panose="020F0502020204030204" pitchFamily="34" charset="0"/>
              </a:rPr>
              <a:t>default settings</a:t>
            </a:r>
            <a:r>
              <a:rPr lang="en-US" sz="1400" dirty="0">
                <a:latin typeface="Calibri" panose="020F0502020204030204" pitchFamily="34" charset="0"/>
                <a:ea typeface="Calibri" panose="020F0502020204030204" pitchFamily="34" charset="0"/>
                <a:cs typeface="Calibri" panose="020F0502020204030204" pitchFamily="34" charset="0"/>
              </a:rPr>
              <a:t> and </a:t>
            </a:r>
            <a:r>
              <a:rPr lang="en-US" sz="1400" b="1" dirty="0">
                <a:latin typeface="Calibri" panose="020F0502020204030204" pitchFamily="34" charset="0"/>
                <a:ea typeface="Calibri" panose="020F0502020204030204" pitchFamily="34" charset="0"/>
                <a:cs typeface="Calibri" panose="020F0502020204030204" pitchFamily="34" charset="0"/>
              </a:rPr>
              <a:t>public libraries</a:t>
            </a:r>
            <a:r>
              <a:rPr lang="en-US" sz="1400" dirty="0">
                <a:latin typeface="Calibri" panose="020F0502020204030204" pitchFamily="34" charset="0"/>
                <a:ea typeface="Calibri" panose="020F0502020204030204" pitchFamily="34" charset="0"/>
                <a:cs typeface="Calibri" panose="020F0502020204030204" pitchFamily="34" charset="0"/>
              </a:rPr>
              <a:t> makes it easy to guess the hash.</a:t>
            </a:r>
          </a:p>
          <a:p>
            <a:pPr marL="457200" lvl="1" indent="0">
              <a:buNone/>
            </a:pP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r>
              <a:rPr lang="en-IN" sz="2200" dirty="0">
                <a:latin typeface="Calibri" panose="020F0502020204030204" pitchFamily="34" charset="0"/>
                <a:ea typeface="Calibri" panose="020F0502020204030204" pitchFamily="34" charset="0"/>
                <a:cs typeface="Calibri" panose="020F0502020204030204" pitchFamily="34" charset="0"/>
              </a:rPr>
              <a:t>How to Fix 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Secure and Unique Salts:</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Never use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default salts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or predictable values.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Validate on the Server Side:</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Do not blindly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trust client-generated data</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Encrypt Sensitive Data:</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Cookies containing progress or achievements should be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encrypted securely</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endParaRPr lang="en-IN" sz="22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endParaRPr lang="en-IN" sz="2200" dirty="0">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2724920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ADCBE-8BB4-A0AA-9637-025355BCA655}"/>
              </a:ext>
            </a:extLst>
          </p:cNvPr>
          <p:cNvSpPr>
            <a:spLocks noGrp="1"/>
          </p:cNvSpPr>
          <p:nvPr>
            <p:ph type="title"/>
          </p:nvPr>
        </p:nvSpPr>
        <p:spPr/>
        <p:txBody>
          <a:bodyPr>
            <a:norm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What is the "Nested Easter Egg" Challenge</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57EBD646-E0E7-73ED-0993-ECC14F90699A}"/>
              </a:ext>
            </a:extLst>
          </p:cNvPr>
          <p:cNvSpPr>
            <a:spLocks noGrp="1" noChangeArrowheads="1"/>
          </p:cNvSpPr>
          <p:nvPr>
            <p:ph idx="1"/>
          </p:nvPr>
        </p:nvSpPr>
        <p:spPr bwMode="auto">
          <a:xfrm>
            <a:off x="2121546" y="1690688"/>
            <a:ext cx="7948907"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challenge is to find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"real" Easter egg</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hidden within the Juice Shop application.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It’s like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secret surprise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hidden within a fake surprise!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challenge involves finding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secret URL</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that shows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3D interactive scene called "Planet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Orangeuze</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694998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72843-1C82-8FF9-A1E3-298BC8C68342}"/>
              </a:ext>
            </a:extLst>
          </p:cNvPr>
          <p:cNvSpPr>
            <a:spLocks noGrp="1"/>
          </p:cNvSpPr>
          <p:nvPr>
            <p:ph type="title"/>
          </p:nvPr>
        </p:nvSpPr>
        <p:spPr>
          <a:xfrm>
            <a:off x="716902" y="-23473"/>
            <a:ext cx="10515600" cy="1325563"/>
          </a:xfrm>
        </p:spPr>
        <p:txBody>
          <a:bodyPr>
            <a:normAutofit/>
          </a:bodyPr>
          <a:lstStyle/>
          <a:p>
            <a:r>
              <a:rPr lang="en-IN" sz="3200" dirty="0"/>
              <a:t>Step-by-Step Process</a:t>
            </a:r>
          </a:p>
        </p:txBody>
      </p:sp>
      <p:sp>
        <p:nvSpPr>
          <p:cNvPr id="3" name="Content Placeholder 2">
            <a:extLst>
              <a:ext uri="{FF2B5EF4-FFF2-40B4-BE49-F238E27FC236}">
                <a16:creationId xmlns:a16="http://schemas.microsoft.com/office/drawing/2014/main" id="{DB6AD89B-5C85-D904-E3BA-86701A761BEB}"/>
              </a:ext>
            </a:extLst>
          </p:cNvPr>
          <p:cNvSpPr>
            <a:spLocks noGrp="1"/>
          </p:cNvSpPr>
          <p:nvPr>
            <p:ph idx="1"/>
          </p:nvPr>
        </p:nvSpPr>
        <p:spPr>
          <a:xfrm>
            <a:off x="446314" y="1027906"/>
            <a:ext cx="10515600" cy="4351338"/>
          </a:xfrm>
        </p:spPr>
        <p:txBody>
          <a:bodyPr>
            <a:normAutofit/>
          </a:bodyPr>
          <a:lstStyle/>
          <a:p>
            <a:r>
              <a:rPr lang="en-US" sz="1400" b="1" dirty="0">
                <a:latin typeface="Calibri" panose="020F0502020204030204" pitchFamily="34" charset="0"/>
                <a:ea typeface="Calibri" panose="020F0502020204030204" pitchFamily="34" charset="0"/>
                <a:cs typeface="Calibri" panose="020F0502020204030204" pitchFamily="34" charset="0"/>
              </a:rPr>
              <a:t>Step 1: Finding the First Easter Egg</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In the Juice Shop, there is a </a:t>
            </a:r>
            <a:r>
              <a:rPr lang="en-US" sz="1400" b="1" dirty="0">
                <a:latin typeface="Calibri" panose="020F0502020204030204" pitchFamily="34" charset="0"/>
                <a:ea typeface="Calibri" panose="020F0502020204030204" pitchFamily="34" charset="0"/>
                <a:cs typeface="Calibri" panose="020F0502020204030204" pitchFamily="34" charset="0"/>
              </a:rPr>
              <a:t>hidden Easter egg</a:t>
            </a:r>
            <a:r>
              <a:rPr lang="en-US" sz="1400" dirty="0">
                <a:latin typeface="Calibri" panose="020F0502020204030204" pitchFamily="34" charset="0"/>
                <a:ea typeface="Calibri" panose="020F0502020204030204" pitchFamily="34" charset="0"/>
                <a:cs typeface="Calibri" panose="020F0502020204030204" pitchFamily="34" charset="0"/>
              </a:rPr>
              <a:t> challenge.</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When you find this fake Easter egg, it gives you a </a:t>
            </a:r>
            <a:r>
              <a:rPr lang="en-US" sz="1400" b="1" dirty="0">
                <a:latin typeface="Calibri" panose="020F0502020204030204" pitchFamily="34" charset="0"/>
                <a:ea typeface="Calibri" panose="020F0502020204030204" pitchFamily="34" charset="0"/>
                <a:cs typeface="Calibri" panose="020F0502020204030204" pitchFamily="34" charset="0"/>
              </a:rPr>
              <a:t>long, weird-looking code</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Example of code:</a:t>
            </a:r>
          </a:p>
          <a:p>
            <a:r>
              <a:rPr lang="en-IN" sz="1400" dirty="0">
                <a:highlight>
                  <a:srgbClr val="FFFF00"/>
                </a:highlight>
                <a:latin typeface="Calibri" panose="020F0502020204030204" pitchFamily="34" charset="0"/>
                <a:ea typeface="Calibri" panose="020F0502020204030204" pitchFamily="34" charset="0"/>
                <a:cs typeface="Calibri" panose="020F0502020204030204" pitchFamily="34" charset="0"/>
              </a:rPr>
              <a:t>L2d1ci9xcmlmL25lci9mYi9zaGFhbC9ndXJsL3V2cS9uYS9ybmZncmUvcnR0L2p2Z3V2YS9ndXIvcm5mZ3JlL3J0dA==</a:t>
            </a:r>
          </a:p>
          <a:p>
            <a:r>
              <a:rPr lang="en-US" sz="1400" dirty="0">
                <a:latin typeface="Calibri" panose="020F0502020204030204" pitchFamily="34" charset="0"/>
                <a:ea typeface="Calibri" panose="020F0502020204030204" pitchFamily="34" charset="0"/>
                <a:cs typeface="Calibri" panose="020F0502020204030204" pitchFamily="34" charset="0"/>
              </a:rPr>
              <a:t>This code looks </a:t>
            </a:r>
            <a:r>
              <a:rPr lang="en-US" sz="1400" b="1" dirty="0">
                <a:latin typeface="Calibri" panose="020F0502020204030204" pitchFamily="34" charset="0"/>
                <a:ea typeface="Calibri" panose="020F0502020204030204" pitchFamily="34" charset="0"/>
                <a:cs typeface="Calibri" panose="020F0502020204030204" pitchFamily="34" charset="0"/>
              </a:rPr>
              <a:t>encrypted or encoded</a:t>
            </a:r>
            <a:r>
              <a:rPr lang="en-US" sz="1400" dirty="0">
                <a:latin typeface="Calibri" panose="020F0502020204030204" pitchFamily="34" charset="0"/>
                <a:ea typeface="Calibri" panose="020F0502020204030204" pitchFamily="34" charset="0"/>
                <a:cs typeface="Calibri" panose="020F0502020204030204" pitchFamily="34" charset="0"/>
              </a:rPr>
              <a:t>.</a:t>
            </a: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2258411A-B459-650F-55BF-9B99506267ED}"/>
              </a:ext>
            </a:extLst>
          </p:cNvPr>
          <p:cNvSpPr>
            <a:spLocks noChangeArrowheads="1"/>
          </p:cNvSpPr>
          <p:nvPr/>
        </p:nvSpPr>
        <p:spPr bwMode="auto">
          <a:xfrm>
            <a:off x="632926" y="2870100"/>
            <a:ext cx="9067419"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Step 2: Decoding the Clue - Base64 Decoding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weird-looking string is encoded using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Base64</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 way to turn binary data into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After decoding, you get another weird-looking string: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/gur/</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qrif</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ner</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/fb/</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shaal</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/gurl/</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uvq</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na</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rnfgre</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rtt</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jvguva</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/gur/</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rnfgre</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rtt</a:t>
            </a:r>
            <a:endPar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highlight>
                <a:srgbClr val="FFFF00"/>
              </a:highlight>
              <a:latin typeface="Calibri" panose="020F0502020204030204" pitchFamily="34" charset="0"/>
              <a:ea typeface="Calibri" panose="020F0502020204030204" pitchFamily="34" charset="0"/>
              <a:cs typeface="Calibri" panose="020F0502020204030204" pitchFamily="34" charset="0"/>
            </a:endParaRPr>
          </a:p>
          <a:p>
            <a:r>
              <a:rPr lang="en-US" sz="1400" b="1" dirty="0">
                <a:latin typeface="Calibri" panose="020F0502020204030204" pitchFamily="34" charset="0"/>
                <a:ea typeface="Calibri" panose="020F0502020204030204" pitchFamily="34" charset="0"/>
                <a:cs typeface="Calibri" panose="020F0502020204030204" pitchFamily="34" charset="0"/>
              </a:rPr>
              <a:t>Step 3: Applying the ROT13 Cipher</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Notice the </a:t>
            </a:r>
            <a:r>
              <a:rPr lang="en-US" sz="1400" b="1" dirty="0">
                <a:latin typeface="Calibri" panose="020F0502020204030204" pitchFamily="34" charset="0"/>
                <a:ea typeface="Calibri" panose="020F0502020204030204" pitchFamily="34" charset="0"/>
                <a:cs typeface="Calibri" panose="020F0502020204030204" pitchFamily="34" charset="0"/>
              </a:rPr>
              <a:t>repetitive patterns</a:t>
            </a:r>
            <a:r>
              <a:rPr lang="en-US" sz="1400" dirty="0">
                <a:latin typeface="Calibri" panose="020F0502020204030204" pitchFamily="34" charset="0"/>
                <a:ea typeface="Calibri" panose="020F0502020204030204" pitchFamily="34" charset="0"/>
                <a:cs typeface="Calibri" panose="020F0502020204030204" pitchFamily="34" charset="0"/>
              </a:rPr>
              <a:t> like "gur" and "</a:t>
            </a:r>
            <a:r>
              <a:rPr lang="en-US" sz="1400" dirty="0" err="1">
                <a:latin typeface="Calibri" panose="020F0502020204030204" pitchFamily="34" charset="0"/>
                <a:ea typeface="Calibri" panose="020F0502020204030204" pitchFamily="34" charset="0"/>
                <a:cs typeface="Calibri" panose="020F0502020204030204" pitchFamily="34" charset="0"/>
              </a:rPr>
              <a:t>rtt</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This hints that it uses a </a:t>
            </a:r>
            <a:r>
              <a:rPr lang="en-US" sz="1400" b="1" dirty="0">
                <a:latin typeface="Calibri" panose="020F0502020204030204" pitchFamily="34" charset="0"/>
                <a:ea typeface="Calibri" panose="020F0502020204030204" pitchFamily="34" charset="0"/>
                <a:cs typeface="Calibri" panose="020F0502020204030204" pitchFamily="34" charset="0"/>
              </a:rPr>
              <a:t>ROT13 cipher</a:t>
            </a:r>
            <a:r>
              <a:rPr lang="en-US" sz="1400" dirty="0">
                <a:latin typeface="Calibri" panose="020F0502020204030204" pitchFamily="34" charset="0"/>
                <a:ea typeface="Calibri" panose="020F0502020204030204" pitchFamily="34" charset="0"/>
                <a:cs typeface="Calibri" panose="020F0502020204030204" pitchFamily="34" charset="0"/>
              </a:rPr>
              <a:t> (a simple letter substitution where letters are rotated by 13 places in the alphabet).</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After applying ROT13</a:t>
            </a:r>
            <a:r>
              <a:rPr lang="en-US" sz="1400" dirty="0">
                <a:latin typeface="Calibri" panose="020F0502020204030204" pitchFamily="34" charset="0"/>
                <a:ea typeface="Calibri" panose="020F0502020204030204" pitchFamily="34" charset="0"/>
                <a:cs typeface="Calibri" panose="020F0502020204030204" pitchFamily="34" charset="0"/>
              </a:rPr>
              <a:t>, it turns into a readable URL: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/the/</a:t>
            </a:r>
            <a:r>
              <a:rPr kumimoji="0" lang="en-US" altLang="en-US" sz="1400" b="0" i="0" u="none" strike="noStrike" cap="none" normalizeH="0" baseline="0" dirty="0" err="1">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devs</a:t>
            </a: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/are/so/funny/they/hid/an/easter/egg/within/the/easter/egg</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ROT13 Trick:</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A becomes N, B becomes O, C becomes P, etc.</a:t>
            </a: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Applying ROT13 </a:t>
            </a:r>
            <a:r>
              <a:rPr lang="en-US" sz="1400" b="1" dirty="0">
                <a:latin typeface="Calibri" panose="020F0502020204030204" pitchFamily="34" charset="0"/>
                <a:ea typeface="Calibri" panose="020F0502020204030204" pitchFamily="34" charset="0"/>
                <a:cs typeface="Calibri" panose="020F0502020204030204" pitchFamily="34" charset="0"/>
              </a:rPr>
              <a:t>again</a:t>
            </a:r>
            <a:r>
              <a:rPr lang="en-US" sz="1400" dirty="0">
                <a:latin typeface="Calibri" panose="020F0502020204030204" pitchFamily="34" charset="0"/>
                <a:ea typeface="Calibri" panose="020F0502020204030204" pitchFamily="34" charset="0"/>
                <a:cs typeface="Calibri" panose="020F0502020204030204" pitchFamily="34" charset="0"/>
              </a:rPr>
              <a:t> on the result gives the </a:t>
            </a:r>
            <a:r>
              <a:rPr lang="en-US" sz="1400" b="1" dirty="0">
                <a:latin typeface="Calibri" panose="020F0502020204030204" pitchFamily="34" charset="0"/>
                <a:ea typeface="Calibri" panose="020F0502020204030204" pitchFamily="34" charset="0"/>
                <a:cs typeface="Calibri" panose="020F0502020204030204" pitchFamily="34" charset="0"/>
              </a:rPr>
              <a:t>original text</a:t>
            </a:r>
            <a:r>
              <a:rPr lang="en-US" sz="1400" dirty="0">
                <a:latin typeface="Calibri" panose="020F0502020204030204" pitchFamily="34" charset="0"/>
                <a:ea typeface="Calibri" panose="020F0502020204030204" pitchFamily="34" charset="0"/>
                <a:cs typeface="Calibri" panose="020F0502020204030204" pitchFamily="34" charset="0"/>
              </a:rPr>
              <a:t>.</a:t>
            </a:r>
          </a:p>
          <a:p>
            <a:r>
              <a:rPr lang="en-US" sz="1400" b="1" dirty="0">
                <a:latin typeface="Calibri" panose="020F0502020204030204" pitchFamily="34" charset="0"/>
                <a:ea typeface="Calibri" panose="020F0502020204030204" pitchFamily="34" charset="0"/>
                <a:cs typeface="Calibri" panose="020F0502020204030204" pitchFamily="34" charset="0"/>
              </a:rPr>
              <a:t>Step 4: Accessing the Real Easter Egg</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Visit the URL on your Juice Shop instance: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http://localhost:3000/the/devs/are/so/funny/they/hid/an/easter/egg/within/the/easter/egg</a:t>
            </a:r>
          </a:p>
          <a:p>
            <a:pPr eaLnBrk="0" fontAlgn="base" hangingPunct="0">
              <a:spcBef>
                <a:spcPct val="0"/>
              </a:spcBef>
              <a:spcAft>
                <a:spcPct val="0"/>
              </a:spcAft>
            </a:pPr>
            <a:r>
              <a:rPr lang="en-US" sz="1400" dirty="0">
                <a:latin typeface="Calibri" panose="020F0502020204030204" pitchFamily="34" charset="0"/>
                <a:ea typeface="Calibri" panose="020F0502020204030204" pitchFamily="34" charset="0"/>
                <a:cs typeface="Calibri" panose="020F0502020204030204" pitchFamily="34" charset="0"/>
              </a:rPr>
              <a:t>You will see </a:t>
            </a:r>
            <a:r>
              <a:rPr lang="en-US" sz="1400" b="1" dirty="0">
                <a:latin typeface="Calibri" panose="020F0502020204030204" pitchFamily="34" charset="0"/>
                <a:ea typeface="Calibri" panose="020F0502020204030204" pitchFamily="34" charset="0"/>
                <a:cs typeface="Calibri" panose="020F0502020204030204" pitchFamily="34" charset="0"/>
              </a:rPr>
              <a:t>Planet </a:t>
            </a:r>
            <a:r>
              <a:rPr lang="en-US" sz="1400" b="1" dirty="0" err="1">
                <a:latin typeface="Calibri" panose="020F0502020204030204" pitchFamily="34" charset="0"/>
                <a:ea typeface="Calibri" panose="020F0502020204030204" pitchFamily="34" charset="0"/>
                <a:cs typeface="Calibri" panose="020F0502020204030204" pitchFamily="34" charset="0"/>
              </a:rPr>
              <a:t>Orangeuze</a:t>
            </a:r>
            <a:r>
              <a:rPr lang="en-US" sz="1400" dirty="0">
                <a:latin typeface="Calibri" panose="020F0502020204030204" pitchFamily="34" charset="0"/>
                <a:ea typeface="Calibri" panose="020F0502020204030204" pitchFamily="34" charset="0"/>
                <a:cs typeface="Calibri" panose="020F0502020204030204" pitchFamily="34" charset="0"/>
              </a:rPr>
              <a:t>, a fun 3D interactive animation!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highlight>
                <a:srgbClr val="FFFF00"/>
              </a:highligh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8648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40D7-AAA6-9DA3-0FE0-E31B859226D8}"/>
              </a:ext>
            </a:extLst>
          </p:cNvPr>
          <p:cNvSpPr>
            <a:spLocks noGrp="1"/>
          </p:cNvSpPr>
          <p:nvPr>
            <p:ph type="title"/>
          </p:nvPr>
        </p:nvSpPr>
        <p:spPr>
          <a:xfrm>
            <a:off x="772886" y="-166720"/>
            <a:ext cx="10515600" cy="1325563"/>
          </a:xfrm>
        </p:spPr>
        <p:txBody>
          <a:bodyPr>
            <a:normAutofit/>
          </a:bodyPr>
          <a:lstStyle/>
          <a:p>
            <a:pPr marL="285750" indent="-285750" algn="ct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Takeaways: What Can We Learn</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3238F26A-2378-4942-20C7-8AD36CE208EC}"/>
              </a:ext>
            </a:extLst>
          </p:cNvPr>
          <p:cNvSpPr>
            <a:spLocks noGrp="1" noChangeArrowheads="1"/>
          </p:cNvSpPr>
          <p:nvPr>
            <p:ph idx="1"/>
          </p:nvPr>
        </p:nvSpPr>
        <p:spPr bwMode="auto">
          <a:xfrm>
            <a:off x="2388831" y="2259449"/>
            <a:ext cx="7414337"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Weak encryption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(like ROT13) should not be used for sensitive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Multiple encoding layers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do not make data more secure; they just make it harder to read.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Always look for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patterns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when facing encoded text, as it often hints at the encoding method used.</a:t>
            </a:r>
          </a:p>
        </p:txBody>
      </p:sp>
    </p:spTree>
    <p:extLst>
      <p:ext uri="{BB962C8B-B14F-4D97-AF65-F5344CB8AC3E}">
        <p14:creationId xmlns:p14="http://schemas.microsoft.com/office/powerpoint/2010/main" val="1643069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C9D5B-D4AA-9E3E-5603-4A16C44AE46A}"/>
              </a:ext>
            </a:extLst>
          </p:cNvPr>
          <p:cNvSpPr>
            <a:spLocks noGrp="1"/>
          </p:cNvSpPr>
          <p:nvPr>
            <p:ph type="title"/>
          </p:nvPr>
        </p:nvSpPr>
        <p:spPr/>
        <p:txBody>
          <a:bodyPr>
            <a:normAutofit/>
          </a:bodyPr>
          <a:lstStyle/>
          <a:p>
            <a:pPr algn="ctr"/>
            <a:r>
              <a:rPr lang="en-IN" sz="2400" dirty="0">
                <a:latin typeface="Calibri" panose="020F0502020204030204" pitchFamily="34" charset="0"/>
                <a:ea typeface="Calibri" panose="020F0502020204030204" pitchFamily="34" charset="0"/>
                <a:cs typeface="Calibri" panose="020F0502020204030204" pitchFamily="34" charset="0"/>
              </a:rPr>
              <a:t>What is the "Premium Challenge"</a:t>
            </a:r>
          </a:p>
        </p:txBody>
      </p:sp>
      <p:sp>
        <p:nvSpPr>
          <p:cNvPr id="4" name="Rectangle 1">
            <a:extLst>
              <a:ext uri="{FF2B5EF4-FFF2-40B4-BE49-F238E27FC236}">
                <a16:creationId xmlns:a16="http://schemas.microsoft.com/office/drawing/2014/main" id="{19B64F9B-7D1B-1203-B302-BAA2DF050271}"/>
              </a:ext>
            </a:extLst>
          </p:cNvPr>
          <p:cNvSpPr>
            <a:spLocks noGrp="1" noChangeArrowheads="1"/>
          </p:cNvSpPr>
          <p:nvPr>
            <p:ph idx="1"/>
          </p:nvPr>
        </p:nvSpPr>
        <p:spPr bwMode="auto">
          <a:xfrm>
            <a:off x="838200" y="2016138"/>
            <a:ext cx="975042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The Setup:</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"Premium Challenge"</a:t>
            </a:r>
            <a:r>
              <a:rPr kumimoji="0" lang="en-US" altLang="en-US" sz="1800" b="0" i="0" u="none" strike="noStrike" cap="none" normalizeH="0" baseline="0" dirty="0">
                <a:ln>
                  <a:noFill/>
                </a:ln>
                <a:solidFill>
                  <a:schemeClr val="tx1"/>
                </a:solidFill>
                <a:effectLst/>
                <a:latin typeface="Arial" panose="020B0604020202020204" pitchFamily="34" charset="0"/>
              </a:rPr>
              <a:t> claims you need to pay Bitcoin to unlock 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But the challenge says you don’t actually have to pay. You just need to </a:t>
            </a:r>
            <a:r>
              <a:rPr kumimoji="0" lang="en-US" altLang="en-US" sz="1800" b="1" i="0" u="none" strike="noStrike" cap="none" normalizeH="0" baseline="0" dirty="0">
                <a:ln>
                  <a:noFill/>
                </a:ln>
                <a:solidFill>
                  <a:schemeClr val="tx1"/>
                </a:solidFill>
                <a:effectLst/>
                <a:latin typeface="Arial" panose="020B0604020202020204" pitchFamily="34" charset="0"/>
              </a:rPr>
              <a:t>find a way around it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800" b="1"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Core Concept: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Sometimes developers protect something like it’s super secure (like putting a lock on a door)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but leave the </a:t>
            </a:r>
            <a:r>
              <a:rPr kumimoji="0" lang="en-US" altLang="en-US" sz="1800" b="1" i="0" u="none" strike="noStrike" cap="none" normalizeH="0" baseline="0" dirty="0">
                <a:ln>
                  <a:noFill/>
                </a:ln>
                <a:solidFill>
                  <a:schemeClr val="tx1"/>
                </a:solidFill>
                <a:effectLst/>
                <a:latin typeface="Arial" panose="020B0604020202020204" pitchFamily="34" charset="0"/>
              </a:rPr>
              <a:t>key in an obvious spot</a:t>
            </a:r>
            <a:r>
              <a:rPr kumimoji="0" lang="en-US" altLang="en-US" sz="1800" b="0" i="0" u="none" strike="noStrike" cap="none" normalizeH="0" baseline="0" dirty="0">
                <a:ln>
                  <a:noFill/>
                </a:ln>
                <a:solidFill>
                  <a:schemeClr val="tx1"/>
                </a:solidFill>
                <a:effectLst/>
                <a:latin typeface="Arial" panose="020B0604020202020204" pitchFamily="34" charset="0"/>
              </a:rPr>
              <a:t> (like under the doormat).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 this case, the </a:t>
            </a:r>
            <a:r>
              <a:rPr kumimoji="0" lang="en-US" altLang="en-US" sz="1800" b="1" i="0" u="none" strike="noStrike" cap="none" normalizeH="0" baseline="0" dirty="0">
                <a:ln>
                  <a:noFill/>
                </a:ln>
                <a:solidFill>
                  <a:schemeClr val="tx1"/>
                </a:solidFill>
                <a:effectLst/>
                <a:latin typeface="Arial" panose="020B0604020202020204" pitchFamily="34" charset="0"/>
              </a:rPr>
              <a:t>“key”</a:t>
            </a:r>
            <a:r>
              <a:rPr kumimoji="0" lang="en-US" altLang="en-US" sz="1800" b="0" i="0" u="none" strike="noStrike" cap="none" normalizeH="0" baseline="0" dirty="0">
                <a:ln>
                  <a:noFill/>
                </a:ln>
                <a:solidFill>
                  <a:schemeClr val="tx1"/>
                </a:solidFill>
                <a:effectLst/>
                <a:latin typeface="Arial" panose="020B0604020202020204" pitchFamily="34" charset="0"/>
              </a:rPr>
              <a:t> is hidden, but not well enough!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6386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39D51-F20E-9811-4258-AC00A7A0DFBD}"/>
              </a:ext>
            </a:extLst>
          </p:cNvPr>
          <p:cNvSpPr>
            <a:spLocks noGrp="1"/>
          </p:cNvSpPr>
          <p:nvPr>
            <p:ph type="title"/>
          </p:nvPr>
        </p:nvSpPr>
        <p:spPr>
          <a:xfrm>
            <a:off x="838200" y="-157389"/>
            <a:ext cx="10515600" cy="1325563"/>
          </a:xfrm>
        </p:spPr>
        <p:txBody>
          <a:bodyPr>
            <a:normAutofit/>
          </a:bodyPr>
          <a:lstStyle/>
          <a:p>
            <a:pPr marL="285750" indent="-285750">
              <a:buFont typeface="Wingdings" panose="05000000000000000000" pitchFamily="2" charset="2"/>
              <a:buChar char="Ø"/>
            </a:pPr>
            <a:r>
              <a:rPr lang="en-IN" sz="1800" dirty="0">
                <a:latin typeface="Calibri" panose="020F0502020204030204" pitchFamily="34" charset="0"/>
                <a:ea typeface="Calibri" panose="020F0502020204030204" pitchFamily="34" charset="0"/>
                <a:cs typeface="Calibri" panose="020F0502020204030204" pitchFamily="34" charset="0"/>
              </a:rPr>
              <a:t>Finding the Vulnerability:</a:t>
            </a:r>
          </a:p>
        </p:txBody>
      </p:sp>
      <p:sp>
        <p:nvSpPr>
          <p:cNvPr id="4" name="Rectangle 1">
            <a:extLst>
              <a:ext uri="{FF2B5EF4-FFF2-40B4-BE49-F238E27FC236}">
                <a16:creationId xmlns:a16="http://schemas.microsoft.com/office/drawing/2014/main" id="{41580267-7C1F-9886-CFE7-CFC48891F94F}"/>
              </a:ext>
            </a:extLst>
          </p:cNvPr>
          <p:cNvSpPr>
            <a:spLocks noGrp="1" noChangeArrowheads="1"/>
          </p:cNvSpPr>
          <p:nvPr>
            <p:ph idx="1"/>
          </p:nvPr>
        </p:nvSpPr>
        <p:spPr bwMode="auto">
          <a:xfrm>
            <a:off x="838200" y="752456"/>
            <a:ext cx="10681514" cy="6497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Step 1: Inspect the Page:</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Check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HTML source code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of the page.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You’ll find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comment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that looks like random letters and symbols.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is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encrypted text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using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AES-256-CBC encryption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Step 2: Forced Directory Browsing Attack:</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a tool like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OWASP ZAP</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search for hidden folders or files on the website.</a:t>
            </a:r>
          </a:p>
          <a:p>
            <a:pPr eaLnBrk="0" fontAlgn="base" hangingPunct="0">
              <a:lnSpc>
                <a:spcPct val="100000"/>
              </a:lnSpc>
              <a:spcBef>
                <a:spcPct val="0"/>
              </a:spcBef>
              <a:spcAft>
                <a:spcPct val="0"/>
              </a:spcAft>
              <a:buFont typeface="Wingdings" panose="05000000000000000000" pitchFamily="2" charset="2"/>
              <a:buChar char="v"/>
            </a:pPr>
            <a:endParaRPr lang="en-US" sz="1400" b="1"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buFont typeface="Wingdings" panose="05000000000000000000" pitchFamily="2" charset="2"/>
              <a:buChar char="v"/>
            </a:pPr>
            <a:r>
              <a:rPr lang="en-US" sz="1400" b="1" dirty="0">
                <a:latin typeface="Calibri" panose="020F0502020204030204" pitchFamily="34" charset="0"/>
                <a:ea typeface="Calibri" panose="020F0502020204030204" pitchFamily="34" charset="0"/>
                <a:cs typeface="Calibri" panose="020F0502020204030204" pitchFamily="34" charset="0"/>
              </a:rPr>
              <a:t>OWASP ZAP (Zed Attack Proxy)</a:t>
            </a:r>
            <a:r>
              <a:rPr lang="en-US" sz="1400" dirty="0">
                <a:latin typeface="Calibri" panose="020F0502020204030204" pitchFamily="34" charset="0"/>
                <a:ea typeface="Calibri" panose="020F0502020204030204" pitchFamily="34" charset="0"/>
                <a:cs typeface="Calibri" panose="020F0502020204030204" pitchFamily="34" charset="0"/>
              </a:rPr>
              <a:t> is a free and open-source </a:t>
            </a:r>
            <a:r>
              <a:rPr lang="en-US" sz="1400" b="1" dirty="0">
                <a:latin typeface="Calibri" panose="020F0502020204030204" pitchFamily="34" charset="0"/>
                <a:ea typeface="Calibri" panose="020F0502020204030204" pitchFamily="34" charset="0"/>
                <a:cs typeface="Calibri" panose="020F0502020204030204" pitchFamily="34" charset="0"/>
              </a:rPr>
              <a:t>web application security scanner</a:t>
            </a:r>
            <a:r>
              <a:rPr lang="en-US" sz="1400" dirty="0">
                <a:latin typeface="Calibri" panose="020F0502020204030204" pitchFamily="34" charset="0"/>
                <a:ea typeface="Calibri" panose="020F0502020204030204" pitchFamily="34" charset="0"/>
                <a:cs typeface="Calibri" panose="020F0502020204030204" pitchFamily="34" charset="0"/>
              </a:rPr>
              <a:t> maintained by the </a:t>
            </a:r>
          </a:p>
          <a:p>
            <a:pPr marL="0" indent="0" eaLnBrk="0" fontAlgn="base" hangingPunct="0">
              <a:lnSpc>
                <a:spcPct val="100000"/>
              </a:lnSpc>
              <a:spcBef>
                <a:spcPct val="0"/>
              </a:spcBef>
              <a:spcAft>
                <a:spcPct val="0"/>
              </a:spcAft>
              <a:buNone/>
            </a:pPr>
            <a:r>
              <a:rPr lang="en-US" sz="1400" b="1" dirty="0">
                <a:latin typeface="Calibri" panose="020F0502020204030204" pitchFamily="34" charset="0"/>
                <a:ea typeface="Calibri" panose="020F0502020204030204" pitchFamily="34" charset="0"/>
                <a:cs typeface="Calibri" panose="020F0502020204030204" pitchFamily="34" charset="0"/>
              </a:rPr>
              <a:t>      OWASP Foundation (Open Web Application Security Project)</a:t>
            </a:r>
            <a:r>
              <a:rPr lang="en-US" sz="1400" dirty="0">
                <a:latin typeface="Calibri" panose="020F0502020204030204" pitchFamily="34" charset="0"/>
                <a:ea typeface="Calibri" panose="020F0502020204030204" pitchFamily="34" charset="0"/>
                <a:cs typeface="Calibri" panose="020F0502020204030204" pitchFamily="34" charset="0"/>
              </a:rPr>
              <a:t>. It's designed to help developers and security professionals find </a:t>
            </a:r>
            <a:r>
              <a:rPr lang="en-US" sz="1400" b="1" dirty="0">
                <a:latin typeface="Calibri" panose="020F0502020204030204" pitchFamily="34" charset="0"/>
                <a:ea typeface="Calibri" panose="020F0502020204030204" pitchFamily="34" charset="0"/>
                <a:cs typeface="Calibri" panose="020F0502020204030204" pitchFamily="34" charset="0"/>
              </a:rPr>
              <a:t>vulnerabilities</a:t>
            </a:r>
          </a:p>
          <a:p>
            <a:pPr marL="0" indent="0" eaLnBrk="0" fontAlgn="base" hangingPunct="0">
              <a:lnSpc>
                <a:spcPct val="100000"/>
              </a:lnSpc>
              <a:spcBef>
                <a:spcPct val="0"/>
              </a:spcBef>
              <a:spcAft>
                <a:spcPct val="0"/>
              </a:spcAft>
              <a:buNone/>
            </a:pPr>
            <a:r>
              <a:rPr lang="en-US" sz="1400" b="1"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 in web applications.</a:t>
            </a:r>
          </a:p>
          <a:p>
            <a:pPr eaLnBrk="0" fontAlgn="base" hangingPunct="0">
              <a:lnSpc>
                <a:spcPct val="100000"/>
              </a:lnSpc>
              <a:spcBef>
                <a:spcPct val="0"/>
              </a:spcBef>
              <a:spcAft>
                <a:spcPct val="0"/>
              </a:spcAf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We discover a folder called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encryptionkeys</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Inside, there’s a file called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premium.key</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that contains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encryption key</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IV (Initialization Vector)</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is like finding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safe with a password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then discovering the password written on a sticky note nearby!</a:t>
            </a:r>
          </a:p>
          <a:p>
            <a:r>
              <a:rPr lang="en-US" sz="1800" b="1" dirty="0">
                <a:latin typeface="Calibri" panose="020F0502020204030204" pitchFamily="34" charset="0"/>
                <a:ea typeface="Calibri" panose="020F0502020204030204" pitchFamily="34" charset="0"/>
                <a:cs typeface="Calibri" panose="020F0502020204030204" pitchFamily="34" charset="0"/>
              </a:rPr>
              <a:t>Decrypting the Message:</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Step 3: Decrypt the Encrypted Text:</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Use </a:t>
            </a:r>
            <a:r>
              <a:rPr lang="en-US" sz="1400" b="1" dirty="0">
                <a:latin typeface="Calibri" panose="020F0502020204030204" pitchFamily="34" charset="0"/>
                <a:ea typeface="Calibri" panose="020F0502020204030204" pitchFamily="34" charset="0"/>
                <a:cs typeface="Calibri" panose="020F0502020204030204" pitchFamily="34" charset="0"/>
              </a:rPr>
              <a:t>OpenSSL</a:t>
            </a:r>
            <a:r>
              <a:rPr lang="en-US" sz="1400" dirty="0">
                <a:latin typeface="Calibri" panose="020F0502020204030204" pitchFamily="34" charset="0"/>
                <a:ea typeface="Calibri" panose="020F0502020204030204" pitchFamily="34" charset="0"/>
                <a:cs typeface="Calibri" panose="020F0502020204030204" pitchFamily="34" charset="0"/>
              </a:rPr>
              <a:t> (a tool for encryption and decryption) to decode the text.</a:t>
            </a: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Use the key and IV to unlock the message.</a:t>
            </a: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The result is a </a:t>
            </a:r>
            <a:r>
              <a:rPr lang="en-US" sz="1400" b="1" dirty="0">
                <a:latin typeface="Calibri" panose="020F0502020204030204" pitchFamily="34" charset="0"/>
                <a:ea typeface="Calibri" panose="020F0502020204030204" pitchFamily="34" charset="0"/>
                <a:cs typeface="Calibri" panose="020F0502020204030204" pitchFamily="34" charset="0"/>
              </a:rPr>
              <a:t>URL</a:t>
            </a:r>
            <a:r>
              <a:rPr lang="en-US" sz="1400" dirty="0">
                <a:latin typeface="Calibri" panose="020F0502020204030204" pitchFamily="34" charset="0"/>
                <a:ea typeface="Calibri" panose="020F0502020204030204" pitchFamily="34" charset="0"/>
                <a:cs typeface="Calibri" panose="020F0502020204030204" pitchFamily="34" charset="0"/>
              </a:rPr>
              <a:t> hidden behind the paywall.</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Step 4: Visit the URL:</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Visit the decrypted link to unlock the </a:t>
            </a:r>
            <a:r>
              <a:rPr lang="en-US" sz="1400" b="1" dirty="0">
                <a:latin typeface="Calibri" panose="020F0502020204030204" pitchFamily="34" charset="0"/>
                <a:ea typeface="Calibri" panose="020F0502020204030204" pitchFamily="34" charset="0"/>
                <a:cs typeface="Calibri" panose="020F0502020204030204" pitchFamily="34" charset="0"/>
              </a:rPr>
              <a:t>Premium VR wallpaper</a:t>
            </a:r>
            <a:r>
              <a:rPr lang="en-US" sz="14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Challenge completed without paying a single Bitcoin!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0393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BF70-1E61-395B-00C4-2EC88E2F4258}"/>
              </a:ext>
            </a:extLst>
          </p:cNvPr>
          <p:cNvSpPr>
            <a:spLocks noGrp="1"/>
          </p:cNvSpPr>
          <p:nvPr>
            <p:ph type="title"/>
          </p:nvPr>
        </p:nvSpPr>
        <p:spPr/>
        <p:txBody>
          <a:bodyPr>
            <a:normAutofit/>
          </a:bodyPr>
          <a:lstStyle/>
          <a:p>
            <a:pPr marL="285750" indent="-285750">
              <a:buFont typeface="Wingdings" panose="05000000000000000000" pitchFamily="2" charset="2"/>
              <a:buChar char="Ø"/>
            </a:pPr>
            <a:r>
              <a:rPr lang="en-IN" sz="1800" dirty="0">
                <a:latin typeface="Calibri" panose="020F0502020204030204" pitchFamily="34" charset="0"/>
                <a:ea typeface="Calibri" panose="020F0502020204030204" pitchFamily="34" charset="0"/>
                <a:cs typeface="Calibri" panose="020F0502020204030204" pitchFamily="34" charset="0"/>
              </a:rPr>
              <a:t>Why Did This Work</a:t>
            </a:r>
          </a:p>
        </p:txBody>
      </p:sp>
      <p:sp>
        <p:nvSpPr>
          <p:cNvPr id="4" name="Rectangle 1">
            <a:extLst>
              <a:ext uri="{FF2B5EF4-FFF2-40B4-BE49-F238E27FC236}">
                <a16:creationId xmlns:a16="http://schemas.microsoft.com/office/drawing/2014/main" id="{CFBB6ECA-603D-1002-3B68-757A7A4D3D53}"/>
              </a:ext>
            </a:extLst>
          </p:cNvPr>
          <p:cNvSpPr>
            <a:spLocks noGrp="1" noChangeArrowheads="1"/>
          </p:cNvSpPr>
          <p:nvPr>
            <p:ph idx="1"/>
          </p:nvPr>
        </p:nvSpPr>
        <p:spPr bwMode="auto">
          <a:xfrm>
            <a:off x="903515" y="1245246"/>
            <a:ext cx="10515600"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Poor Security Practices:</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encrypted key and IV</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were stored on the same server and accessible to anyone who looked for them.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Misconfigured Permissions:</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directory was not properly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restricted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making it easy to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browse and find keys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Lesson Learned:</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Sensitive information like encryption keys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should never be exposed to the public.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Always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restrict access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directories that store important data.</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IN" sz="1800" dirty="0">
                <a:latin typeface="Calibri" panose="020F0502020204030204" pitchFamily="34" charset="0"/>
                <a:ea typeface="Calibri" panose="020F0502020204030204" pitchFamily="34" charset="0"/>
                <a:cs typeface="Calibri" panose="020F0502020204030204" pitchFamily="34" charset="0"/>
              </a:rPr>
              <a:t>How to Fix 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400" b="1" dirty="0">
                <a:latin typeface="Calibri" panose="020F0502020204030204" pitchFamily="34" charset="0"/>
                <a:ea typeface="Calibri" panose="020F0502020204030204" pitchFamily="34" charset="0"/>
                <a:cs typeface="Calibri" panose="020F0502020204030204" pitchFamily="34" charset="0"/>
              </a:rPr>
              <a:t> 1.</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Restrict Directory Access:</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Make sure directories with sensitive information are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not publicly accessible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2. Store Keys Securely:</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secure environment variable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store keys instead of keeping them on the server.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3. Validate Access:</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Ensure that any page or resource requiring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premium unlock</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actually verifies whether the user </a:t>
            </a:r>
          </a:p>
          <a:p>
            <a:pPr marL="0" marR="0" lvl="0" indent="0" algn="l" defTabSz="914400" rtl="0" eaLnBrk="0" fontAlgn="base" latinLnBrk="0" hangingPunct="0">
              <a:lnSpc>
                <a:spcPct val="100000"/>
              </a:lnSpc>
              <a:spcBef>
                <a:spcPct val="0"/>
              </a:spcBef>
              <a:spcAft>
                <a:spcPct val="0"/>
              </a:spcAft>
              <a:buClrTx/>
              <a:buSzTx/>
              <a:buNone/>
              <a:tabLst/>
            </a:pPr>
            <a:r>
              <a:rPr lang="en-US" altLang="en-US" sz="1400" dirty="0">
                <a:latin typeface="Calibri" panose="020F0502020204030204" pitchFamily="34" charset="0"/>
                <a:ea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has paid.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IN" sz="1800" dirty="0">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9022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A8E1F-7480-339B-867C-965B7363DBAF}"/>
              </a:ext>
            </a:extLst>
          </p:cNvPr>
          <p:cNvSpPr>
            <a:spLocks noGrp="1"/>
          </p:cNvSpPr>
          <p:nvPr>
            <p:ph type="title"/>
          </p:nvPr>
        </p:nvSpPr>
        <p:spPr/>
        <p:txBody>
          <a:bodyPr>
            <a:normAutofit/>
          </a:bodyPr>
          <a:lstStyle/>
          <a:p>
            <a:pPr algn="ctr"/>
            <a:r>
              <a:rPr lang="en-IN" sz="2400" b="1" dirty="0">
                <a:latin typeface="Calibri" panose="020F0502020204030204" pitchFamily="34" charset="0"/>
                <a:ea typeface="Calibri" panose="020F0502020204030204" pitchFamily="34" charset="0"/>
                <a:cs typeface="Calibri" panose="020F0502020204030204" pitchFamily="34" charset="0"/>
              </a:rPr>
              <a:t>Challenge Name:</a:t>
            </a:r>
            <a:r>
              <a:rPr lang="en-IN" sz="2400" dirty="0">
                <a:latin typeface="Calibri" panose="020F0502020204030204" pitchFamily="34" charset="0"/>
                <a:ea typeface="Calibri" panose="020F0502020204030204" pitchFamily="34" charset="0"/>
                <a:cs typeface="Calibri" panose="020F0502020204030204" pitchFamily="34" charset="0"/>
              </a:rPr>
              <a:t> Weird Crypto</a:t>
            </a:r>
          </a:p>
        </p:txBody>
      </p:sp>
      <p:sp>
        <p:nvSpPr>
          <p:cNvPr id="4" name="Rectangle 1">
            <a:extLst>
              <a:ext uri="{FF2B5EF4-FFF2-40B4-BE49-F238E27FC236}">
                <a16:creationId xmlns:a16="http://schemas.microsoft.com/office/drawing/2014/main" id="{E7EECC84-ED99-A663-5A7F-67B3668D4B12}"/>
              </a:ext>
            </a:extLst>
          </p:cNvPr>
          <p:cNvSpPr>
            <a:spLocks noGrp="1" noChangeArrowheads="1"/>
          </p:cNvSpPr>
          <p:nvPr>
            <p:ph idx="1"/>
          </p:nvPr>
        </p:nvSpPr>
        <p:spPr bwMode="auto">
          <a:xfrm>
            <a:off x="2496072" y="1660311"/>
            <a:ext cx="7199856" cy="3537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Goal:</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Find and report a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crypto algorithm or library</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that 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Poorly chosen for a given use case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Insecure or outdated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Used incorrectly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How to Complete:</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Identify a vulnerable or inappropriate crypto algorithm.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Submit feedback through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Contact Us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form with the vulnerable algorithm’s name.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r>
              <a:rPr lang="en-US" sz="1400" b="1" dirty="0">
                <a:latin typeface="Calibri" panose="020F0502020204030204" pitchFamily="34" charset="0"/>
                <a:ea typeface="Calibri" panose="020F0502020204030204" pitchFamily="34" charset="0"/>
                <a:cs typeface="Calibri" panose="020F0502020204030204" pitchFamily="34" charset="0"/>
              </a:rPr>
              <a:t>What is Cryptography (Crypto)?</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Definition:</a:t>
            </a:r>
            <a:r>
              <a:rPr lang="en-US" sz="1400" dirty="0">
                <a:latin typeface="Calibri" panose="020F0502020204030204" pitchFamily="34" charset="0"/>
                <a:ea typeface="Calibri" panose="020F0502020204030204" pitchFamily="34" charset="0"/>
                <a:cs typeface="Calibri" panose="020F0502020204030204" pitchFamily="34" charset="0"/>
              </a:rPr>
              <a:t> A method of protecting information by transforming it into an unreadable format.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85783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43530-96AF-AA28-6916-0185C5EB6E44}"/>
              </a:ext>
            </a:extLst>
          </p:cNvPr>
          <p:cNvSpPr>
            <a:spLocks noGrp="1"/>
          </p:cNvSpPr>
          <p:nvPr>
            <p:ph type="title"/>
          </p:nvPr>
        </p:nvSpPr>
        <p:spPr/>
        <p:txBody>
          <a:bodyPr>
            <a:norm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The Problem with Weird Crypto in Juice Shop</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E6D2F681-5A49-5910-0C43-169727678375}"/>
              </a:ext>
            </a:extLst>
          </p:cNvPr>
          <p:cNvSpPr>
            <a:spLocks noGrp="1" noChangeArrowheads="1"/>
          </p:cNvSpPr>
          <p:nvPr>
            <p:ph idx="1"/>
          </p:nvPr>
        </p:nvSpPr>
        <p:spPr bwMode="auto">
          <a:xfrm>
            <a:off x="2912500" y="1948875"/>
            <a:ext cx="6366999"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Z85 (Zero-MQ Base85)</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Used for coupon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Problem: Not suitable for cryptographic encoding - just converts binary data to text.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Hashid</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Library:</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Used to generate continue codes.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Problem: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Weak encoding</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that can be easily reverse-engineered.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MD5 (Message Digest Algorithm 5):</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Used to hash passwords.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Problem: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Outdated and insecure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prone to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collision attacks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Base64 Encoding:</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Used for creating default passwords.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Problem: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Not encryption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just encoding - easily reversible.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31730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67FCF-D285-102A-29E7-A8F4FA9035EA}"/>
              </a:ext>
            </a:extLst>
          </p:cNvPr>
          <p:cNvSpPr>
            <a:spLocks noGrp="1"/>
          </p:cNvSpPr>
          <p:nvPr>
            <p:ph type="title"/>
          </p:nvPr>
        </p:nvSpPr>
        <p:spPr/>
        <p:txBody>
          <a:bodyPr>
            <a:normAutofit/>
          </a:bodyPr>
          <a:lstStyle/>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How to Exploit This Vulnerability</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751E7E54-99D8-17C5-1211-F0D73D7800B7}"/>
              </a:ext>
            </a:extLst>
          </p:cNvPr>
          <p:cNvSpPr>
            <a:spLocks noGrp="1" noChangeArrowheads="1"/>
          </p:cNvSpPr>
          <p:nvPr>
            <p:ph idx="1"/>
          </p:nvPr>
        </p:nvSpPr>
        <p:spPr bwMode="auto">
          <a:xfrm>
            <a:off x="838200" y="1099758"/>
            <a:ext cx="7209346" cy="5514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Research and Identification:</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Look at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Juice Shop’s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package.json.bak</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file.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Identify libraries like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z85, base64,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hashid</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MD5</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Submission via Contact Us Form:</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Go to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2"/>
              </a:rPr>
              <a:t>http://localhost:3000/#/contact</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Enter feedback mentioning any of the vulnerable algorithms (like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z85, base64, md5, or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hashid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Submit and complete the challenge.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400" dirty="0">
              <a:latin typeface="Arial" panose="020B0604020202020204" pitchFamily="34" charset="0"/>
            </a:endParaRPr>
          </a:p>
          <a:p>
            <a:pP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Why These Algorithms are Insecure:</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Z85:</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Only useful for data formatting, </a:t>
            </a:r>
            <a:r>
              <a:rPr lang="en-US" sz="1400" b="1" dirty="0">
                <a:latin typeface="Calibri" panose="020F0502020204030204" pitchFamily="34" charset="0"/>
                <a:ea typeface="Calibri" panose="020F0502020204030204" pitchFamily="34" charset="0"/>
                <a:cs typeface="Calibri" panose="020F0502020204030204" pitchFamily="34" charset="0"/>
              </a:rPr>
              <a:t>not for encryption</a:t>
            </a:r>
            <a:r>
              <a:rPr lang="en-US" sz="14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MD5:</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Vulnerable to </a:t>
            </a:r>
            <a:r>
              <a:rPr lang="en-US" sz="1400" b="1" dirty="0">
                <a:latin typeface="Calibri" panose="020F0502020204030204" pitchFamily="34" charset="0"/>
                <a:ea typeface="Calibri" panose="020F0502020204030204" pitchFamily="34" charset="0"/>
                <a:cs typeface="Calibri" panose="020F0502020204030204" pitchFamily="34" charset="0"/>
              </a:rPr>
              <a:t>collision attacks</a:t>
            </a:r>
            <a:r>
              <a:rPr lang="en-US" sz="1400" dirty="0">
                <a:latin typeface="Calibri" panose="020F0502020204030204" pitchFamily="34" charset="0"/>
                <a:ea typeface="Calibri" panose="020F0502020204030204" pitchFamily="34" charset="0"/>
                <a:cs typeface="Calibri" panose="020F0502020204030204" pitchFamily="34" charset="0"/>
              </a:rPr>
              <a:t> where two different inputs produce the same hash.</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Base64:</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Encoding</a:t>
            </a:r>
            <a:r>
              <a:rPr lang="en-US" sz="1400" dirty="0">
                <a:latin typeface="Calibri" panose="020F0502020204030204" pitchFamily="34" charset="0"/>
                <a:ea typeface="Calibri" panose="020F0502020204030204" pitchFamily="34" charset="0"/>
                <a:cs typeface="Calibri" panose="020F0502020204030204" pitchFamily="34" charset="0"/>
              </a:rPr>
              <a:t>, not encryption - easily reversed to plaintext.</a:t>
            </a:r>
          </a:p>
          <a:p>
            <a:pPr>
              <a:buFont typeface="Arial" panose="020B0604020202020204" pitchFamily="34" charset="0"/>
              <a:buChar char="•"/>
            </a:pPr>
            <a:r>
              <a:rPr lang="en-US" sz="1400" b="1" dirty="0" err="1">
                <a:latin typeface="Calibri" panose="020F0502020204030204" pitchFamily="34" charset="0"/>
                <a:ea typeface="Calibri" panose="020F0502020204030204" pitchFamily="34" charset="0"/>
                <a:cs typeface="Calibri" panose="020F0502020204030204" pitchFamily="34" charset="0"/>
              </a:rPr>
              <a:t>Hashid</a:t>
            </a:r>
            <a:r>
              <a:rPr lang="en-US" sz="1400" b="1" dirty="0">
                <a:latin typeface="Calibri" panose="020F0502020204030204" pitchFamily="34" charset="0"/>
                <a:ea typeface="Calibri" panose="020F0502020204030204" pitchFamily="34" charset="0"/>
                <a:cs typeface="Calibri" panose="020F0502020204030204" pitchFamily="34" charset="0"/>
              </a:rPr>
              <a:t>:</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Not designed for security, can be decoded easily.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64336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C8852-6F75-46F0-F698-1DBE9A740007}"/>
              </a:ext>
            </a:extLst>
          </p:cNvPr>
          <p:cNvSpPr>
            <a:spLocks noGrp="1"/>
          </p:cNvSpPr>
          <p:nvPr>
            <p:ph type="title"/>
          </p:nvPr>
        </p:nvSpPr>
        <p:spPr/>
        <p:txBody>
          <a:bodyPr>
            <a:normAutofit/>
          </a:bodyPr>
          <a:lstStyle/>
          <a:p>
            <a:pPr marL="342900" indent="-342900">
              <a:buFont typeface="Wingdings" panose="05000000000000000000" pitchFamily="2" charset="2"/>
              <a:buChar char="Ø"/>
            </a:pPr>
            <a:r>
              <a:rPr lang="en-IN" sz="2400" dirty="0">
                <a:latin typeface="Calibri" panose="020F0502020204030204" pitchFamily="34" charset="0"/>
                <a:ea typeface="Calibri" panose="020F0502020204030204" pitchFamily="34" charset="0"/>
                <a:cs typeface="Calibri" panose="020F0502020204030204" pitchFamily="34" charset="0"/>
              </a:rPr>
              <a:t>How to fix</a:t>
            </a:r>
          </a:p>
        </p:txBody>
      </p:sp>
      <p:sp>
        <p:nvSpPr>
          <p:cNvPr id="4" name="Rectangle 1">
            <a:extLst>
              <a:ext uri="{FF2B5EF4-FFF2-40B4-BE49-F238E27FC236}">
                <a16:creationId xmlns:a16="http://schemas.microsoft.com/office/drawing/2014/main" id="{4F7B820E-77B7-FB03-7ECD-F810D57A850E}"/>
              </a:ext>
            </a:extLst>
          </p:cNvPr>
          <p:cNvSpPr>
            <a:spLocks noGrp="1" noChangeArrowheads="1"/>
          </p:cNvSpPr>
          <p:nvPr>
            <p:ph idx="1"/>
          </p:nvPr>
        </p:nvSpPr>
        <p:spPr bwMode="auto">
          <a:xfrm>
            <a:off x="968829" y="1390718"/>
            <a:ext cx="4460965"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Always Use Strong Crypto:</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well-established algorithms like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SHA-256</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hashing.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Avoid Encoding for Security:</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Encoding (like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Base64</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does not equal encryption.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Keep Crypto Updated:</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secure libraries and up-to-date algorithms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Avoid DIY Crypto:</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established libraries, not custom or outdated ones.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125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11033</TotalTime>
  <Words>4522</Words>
  <Application>Microsoft Office PowerPoint</Application>
  <PresentationFormat>Widescreen</PresentationFormat>
  <Paragraphs>530</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 Unicode MS</vt:lpstr>
      <vt:lpstr>Aptos</vt:lpstr>
      <vt:lpstr>Aptos Display</vt:lpstr>
      <vt:lpstr>Arial</vt:lpstr>
      <vt:lpstr>Calibri</vt:lpstr>
      <vt:lpstr>Helvetica Neue</vt:lpstr>
      <vt:lpstr>Wingdings</vt:lpstr>
      <vt:lpstr>Office Theme</vt:lpstr>
      <vt:lpstr>PowerPoint Presentation</vt:lpstr>
      <vt:lpstr>Unvalidated redirects</vt:lpstr>
      <vt:lpstr>PowerPoint Presentation</vt:lpstr>
      <vt:lpstr>How to Bypass the Allowlist Check</vt:lpstr>
      <vt:lpstr>PowerPoint Presentation</vt:lpstr>
      <vt:lpstr>What Happened in OWASP Juice Shop?  Juice Shop once accepted donations via Bitcoin, Dash, and Ether. Due to lack of donations, these were discontinued. However, the old redirect links for these cryptocurrency addresses were not properly removed from the code. </vt:lpstr>
      <vt:lpstr>  CAPTCHA Bypass problem </vt:lpstr>
      <vt:lpstr>How Does CAPTCHA Work in OWASP Juice Shop?</vt:lpstr>
      <vt:lpstr>Vulnerability: CAPTCHA Bypass</vt:lpstr>
      <vt:lpstr>How to Exploit the CAPTCHA Bypass</vt:lpstr>
      <vt:lpstr>How to Fix the Vulnerability</vt:lpstr>
      <vt:lpstr>Extra Language problem</vt:lpstr>
      <vt:lpstr>Exploiting the Vulnerability</vt:lpstr>
      <vt:lpstr>How to Fix the Vulnerability</vt:lpstr>
      <vt:lpstr>What Is the "Multiple Likes" Vulnerability</vt:lpstr>
      <vt:lpstr>Exploitation Method:</vt:lpstr>
      <vt:lpstr>How to Fix the "Multiple Likes" Vulnerability:</vt:lpstr>
      <vt:lpstr>What is Reset Morty's Password problem</vt:lpstr>
      <vt:lpstr>How to Bypass the Protection:</vt:lpstr>
      <vt:lpstr>Why This Works: </vt:lpstr>
      <vt:lpstr>Forged Coupon problem</vt:lpstr>
      <vt:lpstr>How to hack it</vt:lpstr>
      <vt:lpstr>Why Does This Work? (The Vulnerability)</vt:lpstr>
      <vt:lpstr>PowerPoint Presentation</vt:lpstr>
      <vt:lpstr>How the Exploit Works:</vt:lpstr>
      <vt:lpstr>PowerPoint Presentation</vt:lpstr>
      <vt:lpstr>What is the "Nested Easter Egg" Challenge</vt:lpstr>
      <vt:lpstr>Step-by-Step Process</vt:lpstr>
      <vt:lpstr>Takeaways: What Can We Learn</vt:lpstr>
      <vt:lpstr>What is the "Premium Challenge"</vt:lpstr>
      <vt:lpstr>Finding the Vulnerability:</vt:lpstr>
      <vt:lpstr>Why Did This Work</vt:lpstr>
      <vt:lpstr>Challenge Name: Weird Crypto</vt:lpstr>
      <vt:lpstr>The Problem with Weird Crypto in Juice Shop</vt:lpstr>
      <vt:lpstr>How to Exploit This Vulnerability</vt:lpstr>
      <vt:lpstr>How to fix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Glen Paul Chirayath Shaju</dc:creator>
  <cp:lastModifiedBy>Glen Paul Chirayath Shaju</cp:lastModifiedBy>
  <cp:revision>3</cp:revision>
  <dcterms:created xsi:type="dcterms:W3CDTF">2025-05-06T18:28:13Z</dcterms:created>
  <dcterms:modified xsi:type="dcterms:W3CDTF">2025-05-14T10:21:30Z</dcterms:modified>
</cp:coreProperties>
</file>