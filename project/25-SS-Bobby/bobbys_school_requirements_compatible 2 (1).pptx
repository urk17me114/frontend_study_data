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6" r:id="rId5"/>
    <p:sldId id="267" r:id="rId6"/>
    <p:sldId id="268" r:id="rId7"/>
    <p:sldId id="269" r:id="rId8"/>
    <p:sldId id="272" r:id="rId9"/>
    <p:sldId id="273" r:id="rId10"/>
    <p:sldId id="270" r:id="rId11"/>
    <p:sldId id="274" r:id="rId12"/>
    <p:sldId id="275" r:id="rId13"/>
    <p:sldId id="271" r:id="rId14"/>
    <p:sldId id="276" r:id="rId15"/>
    <p:sldId id="277" r:id="rId16"/>
    <p:sldId id="278" r:id="rId17"/>
    <p:sldId id="279" r:id="rId18"/>
    <p:sldId id="280" r:id="rId19"/>
    <p:sldId id="281" r:id="rId20"/>
    <p:sldId id="259" r:id="rId21"/>
    <p:sldId id="260" r:id="rId22"/>
    <p:sldId id="261" r:id="rId23"/>
    <p:sldId id="262" r:id="rId24"/>
    <p:sldId id="263" r:id="rId25"/>
    <p:sldId id="264" r:id="rId26"/>
    <p:sldId id="265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Requirement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dirty="0"/>
              <a:t>Bobby's School System</a:t>
            </a:r>
            <a:endParaRPr lang="en-IN" dirty="0"/>
          </a:p>
          <a:p>
            <a:endParaRPr lang="en-IN" dirty="0"/>
          </a:p>
          <a:p>
            <a:endParaRPr lang="en-IN" dirty="0"/>
          </a:p>
          <a:p>
            <a:pPr algn="r"/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55E145-84B6-C314-26D4-1D0639929597}"/>
              </a:ext>
            </a:extLst>
          </p:cNvPr>
          <p:cNvSpPr txBox="1"/>
          <p:nvPr/>
        </p:nvSpPr>
        <p:spPr>
          <a:xfrm>
            <a:off x="6096000" y="5638800"/>
            <a:ext cx="25808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Glen Paul Chirayath Shaju</a:t>
            </a:r>
          </a:p>
          <a:p>
            <a:r>
              <a:rPr lang="en-IN" dirty="0"/>
              <a:t>Sai Bharghav Thoomu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document presents a full requirement analysis for the proposed school management system for Bobby's School. It outlines what the system needs, what stakeholders want, and how these requirements can be realized.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What Do We Need? - Functional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- Student Management: Registration, attendance tracking, performance records, promotion history.</a:t>
            </a:r>
          </a:p>
          <a:p>
            <a:r>
              <a:rPr dirty="0"/>
              <a:t>- Teacher Management: Profiles, schedules, subjects, attendance, performance reviews.</a:t>
            </a:r>
          </a:p>
          <a:p>
            <a:r>
              <a:rPr dirty="0"/>
              <a:t>- Class Management: Timetabling, subject allocation, classroom allocation.</a:t>
            </a:r>
          </a:p>
          <a:p>
            <a:r>
              <a:rPr dirty="0"/>
              <a:t>- Examination System: Exam schedules, grading, report cards.</a:t>
            </a:r>
          </a:p>
          <a:p>
            <a:r>
              <a:rPr dirty="0"/>
              <a:t>- User Management: Role-based access for Admin, Teachers, Students, and Parents.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F3A35-6C18-9A19-45BC-46CCA70A2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UC 1: Student Registration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611F82-EAA7-6A40-B404-1544AC7843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b="1" dirty="0"/>
              <a:t>Initiating Actor:</a:t>
            </a:r>
            <a:r>
              <a:rPr lang="en-US" dirty="0"/>
              <a:t> Student / Admin / Parent</a:t>
            </a:r>
            <a:br>
              <a:rPr lang="en-US" dirty="0"/>
            </a:br>
            <a:r>
              <a:rPr lang="en-US" b="1" dirty="0"/>
              <a:t>Actor’s Goal:</a:t>
            </a:r>
            <a:r>
              <a:rPr lang="en-US" dirty="0"/>
              <a:t> To register a new student in the system.</a:t>
            </a:r>
            <a:br>
              <a:rPr lang="en-US" dirty="0"/>
            </a:br>
            <a:r>
              <a:rPr lang="en-US" b="1" dirty="0"/>
              <a:t>Participating Actors:</a:t>
            </a:r>
            <a:r>
              <a:rPr lang="en-US" dirty="0"/>
              <a:t> Admin Office, Parent (for minor students)</a:t>
            </a:r>
          </a:p>
          <a:p>
            <a:r>
              <a:rPr lang="en-US" b="1" dirty="0"/>
              <a:t>Preconditions: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Initiating user must be authenticated (or verified via OTP/email for new registrations).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Required personal and academic details must be available.</a:t>
            </a:r>
          </a:p>
          <a:p>
            <a:r>
              <a:rPr lang="en-US" b="1" dirty="0"/>
              <a:t>Postconditions: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new student record is created and stored in the system.</a:t>
            </a:r>
          </a:p>
          <a:p>
            <a:r>
              <a:rPr lang="en-US" b="1" dirty="0"/>
              <a:t>Flow of Events for Main Success Scenario: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Student, Parent, or Admin logs into the system.</a:t>
            </a:r>
          </a:p>
          <a:p>
            <a:pPr>
              <a:buFont typeface="+mj-lt"/>
              <a:buAutoNum type="arabicPeriod"/>
            </a:pPr>
            <a:r>
              <a:rPr lang="en-US" dirty="0"/>
              <a:t>Navigates to the "Registration" section.</a:t>
            </a:r>
          </a:p>
          <a:p>
            <a:pPr>
              <a:buFont typeface="+mj-lt"/>
              <a:buAutoNum type="arabicPeriod"/>
            </a:pPr>
            <a:r>
              <a:rPr lang="en-US" dirty="0"/>
              <a:t>System displays the registration form.</a:t>
            </a:r>
          </a:p>
          <a:p>
            <a:pPr>
              <a:buFont typeface="+mj-lt"/>
              <a:buAutoNum type="arabicPeriod"/>
            </a:pPr>
            <a:r>
              <a:rPr lang="en-US" dirty="0"/>
              <a:t>User fills in the student's personal and academic details.</a:t>
            </a:r>
          </a:p>
          <a:p>
            <a:pPr>
              <a:buFont typeface="+mj-lt"/>
              <a:buAutoNum type="arabicPeriod"/>
            </a:pPr>
            <a:r>
              <a:rPr lang="en-US" dirty="0"/>
              <a:t>Clicks "Submit".</a:t>
            </a:r>
          </a:p>
          <a:p>
            <a:pPr>
              <a:buFont typeface="+mj-lt"/>
              <a:buAutoNum type="arabicPeriod"/>
            </a:pPr>
            <a:r>
              <a:rPr lang="en-US" dirty="0"/>
              <a:t>System validates the input and stores the new student record.</a:t>
            </a:r>
          </a:p>
          <a:p>
            <a:pPr>
              <a:buFont typeface="+mj-lt"/>
              <a:buAutoNum type="arabicPeriod"/>
            </a:pPr>
            <a:r>
              <a:rPr lang="en-US" dirty="0"/>
              <a:t>Admin Office is notified for verification and further processing.</a:t>
            </a:r>
          </a:p>
          <a:p>
            <a:pPr>
              <a:buFont typeface="+mj-lt"/>
              <a:buAutoNum type="arabicPeriod"/>
            </a:pPr>
            <a:r>
              <a:rPr lang="en-US" dirty="0"/>
              <a:t>Confirmation is sent to the student and parent (if applicable).</a:t>
            </a:r>
          </a:p>
        </p:txBody>
      </p:sp>
    </p:spTree>
    <p:extLst>
      <p:ext uri="{BB962C8B-B14F-4D97-AF65-F5344CB8AC3E}">
        <p14:creationId xmlns:p14="http://schemas.microsoft.com/office/powerpoint/2010/main" val="32953310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70D9E-D7DD-B4EB-A11F-1050C176D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UC 2: Attendance Tracking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BBE0AA-4A2D-A8B0-0F76-431823A380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b="1" dirty="0"/>
              <a:t>Initiating Actor:</a:t>
            </a:r>
            <a:r>
              <a:rPr lang="en-US" dirty="0"/>
              <a:t> Teacher / Student / Parent</a:t>
            </a:r>
            <a:br>
              <a:rPr lang="en-US" dirty="0"/>
            </a:br>
            <a:r>
              <a:rPr lang="en-US" b="1" dirty="0"/>
              <a:t>Actor’s Goal: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Teacher: To mark or view attendance.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Student/Parent: To view attendance records.</a:t>
            </a:r>
          </a:p>
          <a:p>
            <a:r>
              <a:rPr lang="en-US" b="1" dirty="0"/>
              <a:t>Participating Actors:</a:t>
            </a:r>
            <a:r>
              <a:rPr lang="en-US" dirty="0"/>
              <a:t> Admin Office</a:t>
            </a:r>
          </a:p>
          <a:p>
            <a:r>
              <a:rPr lang="en-US" b="1" dirty="0"/>
              <a:t>Preconditions: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User must be authenticated.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Class and student data must exist.</a:t>
            </a:r>
          </a:p>
          <a:p>
            <a:r>
              <a:rPr lang="en-US" b="1" dirty="0"/>
              <a:t>Postconditions: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Attendance data is updated or retrieved.</a:t>
            </a:r>
          </a:p>
          <a:p>
            <a:r>
              <a:rPr lang="en-US" b="1" dirty="0"/>
              <a:t>Flow of Events for Main Success Scenario: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Teacher logs into the system.</a:t>
            </a:r>
          </a:p>
          <a:p>
            <a:pPr>
              <a:buFont typeface="+mj-lt"/>
              <a:buAutoNum type="arabicPeriod"/>
            </a:pPr>
            <a:r>
              <a:rPr lang="en-US" dirty="0"/>
              <a:t>Navigates to the "Attendance" section and selects class and date.</a:t>
            </a:r>
          </a:p>
          <a:p>
            <a:pPr>
              <a:buFont typeface="+mj-lt"/>
              <a:buAutoNum type="arabicPeriod"/>
            </a:pPr>
            <a:r>
              <a:rPr lang="en-US" dirty="0"/>
              <a:t>System displays the list of students.</a:t>
            </a:r>
          </a:p>
          <a:p>
            <a:pPr>
              <a:buFont typeface="+mj-lt"/>
              <a:buAutoNum type="arabicPeriod"/>
            </a:pPr>
            <a:r>
              <a:rPr lang="en-US" dirty="0"/>
              <a:t>Teacher marks present/absent status and submits.</a:t>
            </a:r>
          </a:p>
          <a:p>
            <a:pPr>
              <a:buFont typeface="+mj-lt"/>
              <a:buAutoNum type="arabicPeriod"/>
            </a:pPr>
            <a:r>
              <a:rPr lang="en-US" dirty="0"/>
              <a:t>System updates attendance records.</a:t>
            </a:r>
          </a:p>
          <a:p>
            <a:pPr>
              <a:buFont typeface="+mj-lt"/>
              <a:buAutoNum type="arabicPeriod"/>
            </a:pPr>
            <a:r>
              <a:rPr lang="en-US" dirty="0"/>
              <a:t>Students and Parents log in to view attendance history.</a:t>
            </a:r>
          </a:p>
          <a:p>
            <a:pPr>
              <a:buFont typeface="+mj-lt"/>
              <a:buAutoNum type="arabicPeriod"/>
            </a:pPr>
            <a:r>
              <a:rPr lang="en-US" dirty="0"/>
              <a:t>Admin Office accesses data for reports or audits.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38069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A0038-0609-A9A7-7B79-5611956A5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UC 3: Performance Records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070BD3-76B5-BAF2-8FCB-087D3AC11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b="1" dirty="0"/>
              <a:t>Initiating Actor:</a:t>
            </a:r>
            <a:r>
              <a:rPr lang="en-US" dirty="0"/>
              <a:t> Teacher / Student / Parent</a:t>
            </a:r>
            <a:br>
              <a:rPr lang="en-US" dirty="0"/>
            </a:br>
            <a:r>
              <a:rPr lang="en-US" b="1" dirty="0"/>
              <a:t>Actor’s Goal: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Teacher: To enter or update academic performance.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Student/Parent: To view performance records.</a:t>
            </a:r>
          </a:p>
          <a:p>
            <a:r>
              <a:rPr lang="en-US" b="1" dirty="0"/>
              <a:t>Participating Actors:</a:t>
            </a:r>
            <a:r>
              <a:rPr lang="en-US" dirty="0"/>
              <a:t> Academic Department, Admin Office</a:t>
            </a:r>
          </a:p>
          <a:p>
            <a:r>
              <a:rPr lang="en-US" b="1" dirty="0"/>
              <a:t>Preconditions: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User must be authenticated.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Student must be enrolled in the course.</a:t>
            </a:r>
          </a:p>
          <a:p>
            <a:r>
              <a:rPr lang="en-US" b="1" dirty="0"/>
              <a:t>Postconditions: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Performance data is recorded or made viewable.</a:t>
            </a:r>
          </a:p>
          <a:p>
            <a:r>
              <a:rPr lang="en-US" b="1" dirty="0"/>
              <a:t>Flow of Events for Main Success Scenario: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Teacher logs into the system.</a:t>
            </a:r>
          </a:p>
          <a:p>
            <a:pPr>
              <a:buFont typeface="+mj-lt"/>
              <a:buAutoNum type="arabicPeriod"/>
            </a:pPr>
            <a:r>
              <a:rPr lang="en-US" dirty="0"/>
              <a:t>Navigates to "Performance Records".</a:t>
            </a:r>
          </a:p>
          <a:p>
            <a:pPr>
              <a:buFont typeface="+mj-lt"/>
              <a:buAutoNum type="arabicPeriod"/>
            </a:pPr>
            <a:r>
              <a:rPr lang="en-US" dirty="0"/>
              <a:t>Selects course and student(s).</a:t>
            </a:r>
          </a:p>
          <a:p>
            <a:pPr>
              <a:buFont typeface="+mj-lt"/>
              <a:buAutoNum type="arabicPeriod"/>
            </a:pPr>
            <a:r>
              <a:rPr lang="en-US" dirty="0"/>
              <a:t>Enters marks/grades for assignments, exams, etc.</a:t>
            </a:r>
          </a:p>
          <a:p>
            <a:pPr>
              <a:buFont typeface="+mj-lt"/>
              <a:buAutoNum type="arabicPeriod"/>
            </a:pPr>
            <a:r>
              <a:rPr lang="en-US" dirty="0"/>
              <a:t>Clicks "Save".</a:t>
            </a:r>
          </a:p>
          <a:p>
            <a:pPr>
              <a:buFont typeface="+mj-lt"/>
              <a:buAutoNum type="arabicPeriod"/>
            </a:pPr>
            <a:r>
              <a:rPr lang="en-US" dirty="0"/>
              <a:t>System stores and validates data.</a:t>
            </a:r>
          </a:p>
          <a:p>
            <a:pPr>
              <a:buFont typeface="+mj-lt"/>
              <a:buAutoNum type="arabicPeriod"/>
            </a:pPr>
            <a:r>
              <a:rPr lang="en-US" dirty="0"/>
              <a:t>Academic Department and Admin Office are notified.</a:t>
            </a:r>
          </a:p>
          <a:p>
            <a:pPr>
              <a:buFont typeface="+mj-lt"/>
              <a:buAutoNum type="arabicPeriod"/>
            </a:pPr>
            <a:r>
              <a:rPr lang="en-US" dirty="0"/>
              <a:t>Students and Parents log in to view updated performance data.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44211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F6771-6DD9-AB6E-EC8A-EB3C358D2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UC 4: Promotion History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915D2-5852-ED67-F032-E42594DB77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b="1" dirty="0"/>
              <a:t>Initiating Actor:</a:t>
            </a:r>
            <a:r>
              <a:rPr lang="en-US" dirty="0"/>
              <a:t> Teacher / Admin</a:t>
            </a:r>
            <a:br>
              <a:rPr lang="en-US" dirty="0"/>
            </a:br>
            <a:r>
              <a:rPr lang="en-US" b="1" dirty="0"/>
              <a:t>Actor’s Goal: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Teacher/Admin: To update a student’s promotion status.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Student/Parent: To view promotion history.</a:t>
            </a:r>
          </a:p>
          <a:p>
            <a:r>
              <a:rPr lang="en-US" b="1" dirty="0"/>
              <a:t>Participating Actors:</a:t>
            </a:r>
            <a:r>
              <a:rPr lang="en-US" dirty="0"/>
              <a:t> Academic Department, Admin Office</a:t>
            </a:r>
          </a:p>
          <a:p>
            <a:r>
              <a:rPr lang="en-US" b="1" dirty="0"/>
              <a:t>Preconditions: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User must be authenticated.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Student must have complete performance data.</a:t>
            </a:r>
          </a:p>
          <a:p>
            <a:r>
              <a:rPr lang="en-US" b="1" dirty="0"/>
              <a:t>Postconditions: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Promotion history is updated or retrieved.</a:t>
            </a:r>
          </a:p>
          <a:p>
            <a:r>
              <a:rPr lang="en-US" b="1" dirty="0"/>
              <a:t>Flow of Events for Main Success Scenario: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Teacher or Admin logs into the system.</a:t>
            </a:r>
          </a:p>
          <a:p>
            <a:pPr>
              <a:buFont typeface="+mj-lt"/>
              <a:buAutoNum type="arabicPeriod"/>
            </a:pPr>
            <a:r>
              <a:rPr lang="en-US" dirty="0"/>
              <a:t>Navigates to the "Promotion History" section.</a:t>
            </a:r>
          </a:p>
          <a:p>
            <a:pPr>
              <a:buFont typeface="+mj-lt"/>
              <a:buAutoNum type="arabicPeriod"/>
            </a:pPr>
            <a:r>
              <a:rPr lang="en-US" dirty="0"/>
              <a:t>Selects the student and reviews academic performance.</a:t>
            </a:r>
          </a:p>
          <a:p>
            <a:pPr>
              <a:buFont typeface="+mj-lt"/>
              <a:buAutoNum type="arabicPeriod"/>
            </a:pPr>
            <a:r>
              <a:rPr lang="en-US" dirty="0"/>
              <a:t>Updates the student’s promotion status (e.g., promoted to next grade).</a:t>
            </a:r>
          </a:p>
          <a:p>
            <a:pPr>
              <a:buFont typeface="+mj-lt"/>
              <a:buAutoNum type="arabicPeriod"/>
            </a:pPr>
            <a:r>
              <a:rPr lang="en-US" dirty="0"/>
              <a:t>Clicks "Save".</a:t>
            </a:r>
          </a:p>
          <a:p>
            <a:pPr>
              <a:buFont typeface="+mj-lt"/>
              <a:buAutoNum type="arabicPeriod"/>
            </a:pPr>
            <a:r>
              <a:rPr lang="en-US" dirty="0"/>
              <a:t>System stores the update and notifies Academic Department.</a:t>
            </a:r>
          </a:p>
          <a:p>
            <a:pPr>
              <a:buFont typeface="+mj-lt"/>
              <a:buAutoNum type="arabicPeriod"/>
            </a:pPr>
            <a:r>
              <a:rPr lang="en-US" dirty="0"/>
              <a:t>Student and Parent log in to view promotion status and history.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068670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F6771-6DD9-AB6E-EC8A-EB3C358D2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UC 5: Teacher Profile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915D2-5852-ED67-F032-E42594DB77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b="1" dirty="0"/>
              <a:t>Initiating Actor:</a:t>
            </a:r>
            <a:r>
              <a:rPr lang="en-US" dirty="0"/>
              <a:t> Teacher / Admin</a:t>
            </a:r>
            <a:br>
              <a:rPr lang="en-US" dirty="0"/>
            </a:br>
            <a:r>
              <a:rPr lang="en-US" b="1" dirty="0"/>
              <a:t>Actor’s Goal: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Teacher: To view or update their personal and professional profile.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Admin: To manage teacher records.</a:t>
            </a:r>
          </a:p>
          <a:p>
            <a:r>
              <a:rPr lang="en-US" b="1" dirty="0"/>
              <a:t>Participating Actors:</a:t>
            </a:r>
            <a:r>
              <a:rPr lang="en-US" dirty="0"/>
              <a:t> Admin Office</a:t>
            </a:r>
          </a:p>
          <a:p>
            <a:r>
              <a:rPr lang="en-US" b="1" dirty="0"/>
              <a:t>Preconditions: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User must be authenticated.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Teacher profile must exist in the system (for updates).</a:t>
            </a:r>
          </a:p>
          <a:p>
            <a:r>
              <a:rPr lang="en-US" b="1" dirty="0"/>
              <a:t>Postconditions: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Teacher profile is created, updated, or displayed.</a:t>
            </a:r>
          </a:p>
          <a:p>
            <a:r>
              <a:rPr lang="en-US" b="1" dirty="0"/>
              <a:t>Flow of Events for Main Success Scenario: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Teacher or Admin logs into the system.</a:t>
            </a:r>
          </a:p>
          <a:p>
            <a:pPr>
              <a:buFont typeface="+mj-lt"/>
              <a:buAutoNum type="arabicPeriod"/>
            </a:pPr>
            <a:r>
              <a:rPr lang="en-US" dirty="0"/>
              <a:t>Navigates to the "Profile" section.</a:t>
            </a:r>
          </a:p>
          <a:p>
            <a:pPr>
              <a:buFont typeface="+mj-lt"/>
              <a:buAutoNum type="arabicPeriod"/>
            </a:pPr>
            <a:r>
              <a:rPr lang="en-US" dirty="0"/>
              <a:t>System displays the current profile data.</a:t>
            </a:r>
          </a:p>
          <a:p>
            <a:pPr>
              <a:buFont typeface="+mj-lt"/>
              <a:buAutoNum type="arabicPeriod"/>
            </a:pPr>
            <a:r>
              <a:rPr lang="en-US" dirty="0"/>
              <a:t>User edits fields such as qualifications, contact info, or experience.</a:t>
            </a:r>
          </a:p>
          <a:p>
            <a:pPr>
              <a:buFont typeface="+mj-lt"/>
              <a:buAutoNum type="arabicPeriod"/>
            </a:pPr>
            <a:r>
              <a:rPr lang="en-US" dirty="0"/>
              <a:t>Clicks "Save".</a:t>
            </a:r>
          </a:p>
          <a:p>
            <a:pPr>
              <a:buFont typeface="+mj-lt"/>
              <a:buAutoNum type="arabicPeriod"/>
            </a:pPr>
            <a:r>
              <a:rPr lang="en-US" dirty="0"/>
              <a:t>System validates input and updates the database.</a:t>
            </a:r>
          </a:p>
          <a:p>
            <a:pPr>
              <a:buFont typeface="+mj-lt"/>
              <a:buAutoNum type="arabicPeriod"/>
            </a:pPr>
            <a:r>
              <a:rPr lang="en-US" dirty="0"/>
              <a:t>Admin Office receives notification if changes are significant (e.g., credentials).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99110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F6771-6DD9-AB6E-EC8A-EB3C358D2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UC 6: Schedule Management</a:t>
            </a:r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E3ACFAFA-1EE8-3BD6-CB1A-6B38E9E342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500" b="1" dirty="0"/>
              <a:t>Initiating Actor:</a:t>
            </a:r>
            <a:r>
              <a:rPr lang="en-US" sz="1500" dirty="0"/>
              <a:t> Admin</a:t>
            </a:r>
            <a:br>
              <a:rPr lang="en-US" sz="1500" dirty="0"/>
            </a:br>
            <a:r>
              <a:rPr lang="en-US" sz="1500" b="1" dirty="0"/>
              <a:t>Actor’s Goal:</a:t>
            </a:r>
            <a:r>
              <a:rPr lang="en-US" sz="1500" dirty="0"/>
              <a:t> To assign and manage teaching schedules for teachers.</a:t>
            </a:r>
          </a:p>
          <a:p>
            <a:r>
              <a:rPr lang="en-US" sz="1500" b="1" dirty="0"/>
              <a:t>Participating Actors:</a:t>
            </a:r>
            <a:r>
              <a:rPr lang="en-US" sz="1500" dirty="0"/>
              <a:t> Teacher, Students, Parents</a:t>
            </a:r>
          </a:p>
          <a:p>
            <a:r>
              <a:rPr lang="en-US" sz="1500" b="1" dirty="0"/>
              <a:t>Preconditions:</a:t>
            </a:r>
            <a:endParaRPr lang="en-US" sz="15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500" dirty="0"/>
              <a:t>Admin must be authenticated.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500" dirty="0"/>
              <a:t>Teacher must be assigned to subjects/classes.</a:t>
            </a:r>
          </a:p>
          <a:p>
            <a:r>
              <a:rPr lang="en-US" sz="1500" b="1" dirty="0"/>
              <a:t>Postconditions:</a:t>
            </a:r>
            <a:endParaRPr lang="en-US" sz="15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500" dirty="0"/>
              <a:t>Teaching schedule is created or updated.</a:t>
            </a:r>
          </a:p>
          <a:p>
            <a:r>
              <a:rPr lang="en-US" sz="1500" b="1" dirty="0"/>
              <a:t>Flow of Events for Main Success Scenario:</a:t>
            </a:r>
            <a:endParaRPr lang="en-US" sz="1500" dirty="0"/>
          </a:p>
          <a:p>
            <a:pPr>
              <a:buFont typeface="+mj-lt"/>
              <a:buAutoNum type="arabicPeriod"/>
            </a:pPr>
            <a:r>
              <a:rPr lang="en-US" sz="1500" dirty="0"/>
              <a:t>Admin logs into the system.</a:t>
            </a:r>
          </a:p>
          <a:p>
            <a:pPr>
              <a:buFont typeface="+mj-lt"/>
              <a:buAutoNum type="arabicPeriod"/>
            </a:pPr>
            <a:r>
              <a:rPr lang="en-US" sz="1500" dirty="0"/>
              <a:t>Navigates to the "Teacher Schedules" section.</a:t>
            </a:r>
          </a:p>
          <a:p>
            <a:pPr>
              <a:buFont typeface="+mj-lt"/>
              <a:buAutoNum type="arabicPeriod"/>
            </a:pPr>
            <a:r>
              <a:rPr lang="en-US" sz="1500" dirty="0"/>
              <a:t>Selects teacher and inputs schedule (days, periods, subjects).</a:t>
            </a:r>
          </a:p>
          <a:p>
            <a:pPr>
              <a:buFont typeface="+mj-lt"/>
              <a:buAutoNum type="arabicPeriod"/>
            </a:pPr>
            <a:r>
              <a:rPr lang="en-US" sz="1500" dirty="0"/>
              <a:t>Clicks "Save".</a:t>
            </a:r>
          </a:p>
          <a:p>
            <a:pPr>
              <a:buFont typeface="+mj-lt"/>
              <a:buAutoNum type="arabicPeriod"/>
            </a:pPr>
            <a:r>
              <a:rPr lang="en-US" sz="1500" dirty="0"/>
              <a:t>System stores the schedule.</a:t>
            </a:r>
          </a:p>
          <a:p>
            <a:pPr>
              <a:buFont typeface="+mj-lt"/>
              <a:buAutoNum type="arabicPeriod"/>
            </a:pPr>
            <a:r>
              <a:rPr lang="en-US" sz="1500" dirty="0"/>
              <a:t>Teacher, Students, and Parents can view the updated schedule.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414054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36205-0ED0-7186-5FC3-336089B35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UC 7: Subject Assignment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3EEF1C-D636-A923-242F-406A18BA72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17524"/>
            <a:ext cx="8229600" cy="4808640"/>
          </a:xfrm>
        </p:spPr>
        <p:txBody>
          <a:bodyPr>
            <a:normAutofit/>
          </a:bodyPr>
          <a:lstStyle/>
          <a:p>
            <a:r>
              <a:rPr lang="en-US" sz="1400" b="1" dirty="0"/>
              <a:t>Initiating Actor:</a:t>
            </a:r>
            <a:r>
              <a:rPr lang="en-US" sz="1400" dirty="0"/>
              <a:t> Admin</a:t>
            </a:r>
            <a:br>
              <a:rPr lang="en-US" sz="1400" dirty="0"/>
            </a:br>
            <a:r>
              <a:rPr lang="en-US" sz="1400" b="1" dirty="0"/>
              <a:t>Actor’s Goal:</a:t>
            </a:r>
            <a:r>
              <a:rPr lang="en-US" sz="1400" dirty="0"/>
              <a:t> To assign subjects to teachers for a specific academic term.</a:t>
            </a:r>
          </a:p>
          <a:p>
            <a:r>
              <a:rPr lang="en-US" sz="1400" b="1" dirty="0"/>
              <a:t>Participating Actors:</a:t>
            </a:r>
            <a:r>
              <a:rPr lang="en-US" sz="1400" dirty="0"/>
              <a:t> Teacher, Academic Department</a:t>
            </a:r>
          </a:p>
          <a:p>
            <a:r>
              <a:rPr lang="en-US" sz="1400" b="1" dirty="0"/>
              <a:t>Preconditions:</a:t>
            </a: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Admin must be authenticated.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Subject offerings must be defined for the term.</a:t>
            </a:r>
          </a:p>
          <a:p>
            <a:r>
              <a:rPr lang="en-US" sz="1400" b="1" dirty="0"/>
              <a:t>Postconditions:</a:t>
            </a: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Teacher is officially assigned to one or more subjects.</a:t>
            </a:r>
          </a:p>
          <a:p>
            <a:r>
              <a:rPr lang="en-US" sz="1400" b="1" dirty="0"/>
              <a:t>Flow of Events for Main Success Scenario:</a:t>
            </a:r>
            <a:endParaRPr lang="en-US" sz="1400" dirty="0"/>
          </a:p>
          <a:p>
            <a:pPr>
              <a:buFont typeface="+mj-lt"/>
              <a:buAutoNum type="arabicPeriod"/>
            </a:pPr>
            <a:r>
              <a:rPr lang="en-US" sz="1400" dirty="0"/>
              <a:t>Admin logs into the system.</a:t>
            </a:r>
          </a:p>
          <a:p>
            <a:pPr>
              <a:buFont typeface="+mj-lt"/>
              <a:buAutoNum type="arabicPeriod"/>
            </a:pPr>
            <a:r>
              <a:rPr lang="en-US" sz="1400" dirty="0"/>
              <a:t>Navigates to the "Subject Assignment" section.</a:t>
            </a:r>
          </a:p>
          <a:p>
            <a:pPr>
              <a:buFont typeface="+mj-lt"/>
              <a:buAutoNum type="arabicPeriod"/>
            </a:pPr>
            <a:r>
              <a:rPr lang="en-US" sz="1400" dirty="0"/>
              <a:t>Selects a teacher and assigns relevant subjects.</a:t>
            </a:r>
          </a:p>
          <a:p>
            <a:pPr>
              <a:buFont typeface="+mj-lt"/>
              <a:buAutoNum type="arabicPeriod"/>
            </a:pPr>
            <a:r>
              <a:rPr lang="en-US" sz="1400" dirty="0"/>
              <a:t>System validates availability and subject-teacher fit.</a:t>
            </a:r>
          </a:p>
          <a:p>
            <a:pPr>
              <a:buFont typeface="+mj-lt"/>
              <a:buAutoNum type="arabicPeriod"/>
            </a:pPr>
            <a:r>
              <a:rPr lang="en-US" sz="1400" dirty="0"/>
              <a:t>Clicks "Confirm".</a:t>
            </a:r>
          </a:p>
          <a:p>
            <a:pPr>
              <a:buFont typeface="+mj-lt"/>
              <a:buAutoNum type="arabicPeriod"/>
            </a:pPr>
            <a:r>
              <a:rPr lang="en-US" sz="1400" dirty="0"/>
              <a:t>Teacher is notified and subjects are reflected in their dashboard.</a:t>
            </a:r>
          </a:p>
          <a:p>
            <a:pPr>
              <a:buFont typeface="+mj-lt"/>
              <a:buAutoNum type="arabicPeriod"/>
            </a:pPr>
            <a:r>
              <a:rPr lang="en-US" sz="1400" dirty="0"/>
              <a:t>Academic Department updates curriculum tracking.</a:t>
            </a:r>
          </a:p>
          <a:p>
            <a:endParaRPr lang="en-IN" sz="1500" dirty="0"/>
          </a:p>
        </p:txBody>
      </p:sp>
    </p:spTree>
    <p:extLst>
      <p:ext uri="{BB962C8B-B14F-4D97-AF65-F5344CB8AC3E}">
        <p14:creationId xmlns:p14="http://schemas.microsoft.com/office/powerpoint/2010/main" val="33987684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36205-0ED0-7186-5FC3-336089B35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UC 8: Teacher Attendance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3EEF1C-D636-A923-242F-406A18BA72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17524"/>
            <a:ext cx="8229600" cy="4808640"/>
          </a:xfrm>
        </p:spPr>
        <p:txBody>
          <a:bodyPr>
            <a:normAutofit/>
          </a:bodyPr>
          <a:lstStyle/>
          <a:p>
            <a:r>
              <a:rPr lang="en-US" sz="1400" b="1" dirty="0"/>
              <a:t>Initiating Actor:</a:t>
            </a:r>
            <a:r>
              <a:rPr lang="en-US" sz="1400" dirty="0"/>
              <a:t> Admin / Teacher</a:t>
            </a:r>
            <a:br>
              <a:rPr lang="en-US" sz="1400" dirty="0"/>
            </a:br>
            <a:r>
              <a:rPr lang="en-US" sz="1400" b="1" dirty="0"/>
              <a:t>Actor’s Goal:</a:t>
            </a: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Teacher: To mark their own attendance (if allowed).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Admin: To monitor or record teacher attendance.</a:t>
            </a:r>
          </a:p>
          <a:p>
            <a:r>
              <a:rPr lang="en-US" sz="1400" b="1" dirty="0"/>
              <a:t>Participating Actors:</a:t>
            </a:r>
            <a:r>
              <a:rPr lang="en-US" sz="1400" dirty="0"/>
              <a:t> Admin Office</a:t>
            </a:r>
          </a:p>
          <a:p>
            <a:r>
              <a:rPr lang="en-US" sz="1400" b="1" dirty="0"/>
              <a:t>Preconditions:</a:t>
            </a: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User must be authenticated.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Attendance periods must be defined (e.g., daily/weekly).</a:t>
            </a:r>
          </a:p>
          <a:p>
            <a:r>
              <a:rPr lang="en-US" sz="1400" b="1" dirty="0"/>
              <a:t>Postconditions:</a:t>
            </a: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Attendance records are updated or retrieved.</a:t>
            </a:r>
          </a:p>
          <a:p>
            <a:r>
              <a:rPr lang="en-US" sz="1400" b="1" dirty="0"/>
              <a:t>Flow of Events for Main Success Scenario:</a:t>
            </a:r>
            <a:endParaRPr lang="en-US" sz="1400" dirty="0"/>
          </a:p>
          <a:p>
            <a:pPr>
              <a:buFont typeface="+mj-lt"/>
              <a:buAutoNum type="arabicPeriod"/>
            </a:pPr>
            <a:r>
              <a:rPr lang="en-US" sz="1400" dirty="0"/>
              <a:t>Teacher logs in and navigates to the "Attendance" section.</a:t>
            </a:r>
          </a:p>
          <a:p>
            <a:pPr>
              <a:buFont typeface="+mj-lt"/>
              <a:buAutoNum type="arabicPeriod"/>
            </a:pPr>
            <a:r>
              <a:rPr lang="en-US" sz="1400" dirty="0"/>
              <a:t>Marks attendance (if self-reporting is enabled).</a:t>
            </a:r>
          </a:p>
          <a:p>
            <a:pPr>
              <a:buFont typeface="+mj-lt"/>
              <a:buAutoNum type="arabicPeriod"/>
            </a:pPr>
            <a:r>
              <a:rPr lang="en-US" sz="1400" dirty="0"/>
              <a:t>Alternatively, Admin manually records attendance.</a:t>
            </a:r>
          </a:p>
          <a:p>
            <a:pPr>
              <a:buFont typeface="+mj-lt"/>
              <a:buAutoNum type="arabicPeriod"/>
            </a:pPr>
            <a:r>
              <a:rPr lang="en-US" sz="1400" dirty="0"/>
              <a:t>Clicks "Submit".</a:t>
            </a:r>
          </a:p>
          <a:p>
            <a:pPr>
              <a:buFont typeface="+mj-lt"/>
              <a:buAutoNum type="arabicPeriod"/>
            </a:pPr>
            <a:r>
              <a:rPr lang="en-US" sz="1400" dirty="0"/>
              <a:t>System stores the record and flags any absences or lateness.</a:t>
            </a:r>
          </a:p>
          <a:p>
            <a:pPr>
              <a:buFont typeface="+mj-lt"/>
              <a:buAutoNum type="arabicPeriod"/>
            </a:pPr>
            <a:r>
              <a:rPr lang="en-US" sz="1400" dirty="0"/>
              <a:t>Admin Office receives a summary for payroll or HR purposes.</a:t>
            </a:r>
          </a:p>
          <a:p>
            <a:endParaRPr lang="en-IN" sz="1500" dirty="0"/>
          </a:p>
        </p:txBody>
      </p:sp>
    </p:spTree>
    <p:extLst>
      <p:ext uri="{BB962C8B-B14F-4D97-AF65-F5344CB8AC3E}">
        <p14:creationId xmlns:p14="http://schemas.microsoft.com/office/powerpoint/2010/main" val="12113956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36205-0ED0-7186-5FC3-336089B35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UC 9: Performance Reviews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3EEF1C-D636-A923-242F-406A18BA72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17524"/>
            <a:ext cx="8229600" cy="4808640"/>
          </a:xfrm>
        </p:spPr>
        <p:txBody>
          <a:bodyPr>
            <a:normAutofit/>
          </a:bodyPr>
          <a:lstStyle/>
          <a:p>
            <a:r>
              <a:rPr lang="en-US" sz="1400" b="1" dirty="0"/>
              <a:t>Initiating Actor:</a:t>
            </a:r>
            <a:r>
              <a:rPr lang="en-US" sz="1400" dirty="0"/>
              <a:t> Admin / Academic Department</a:t>
            </a:r>
            <a:br>
              <a:rPr lang="en-US" sz="1400" dirty="0"/>
            </a:br>
            <a:r>
              <a:rPr lang="en-US" sz="1400" b="1" dirty="0"/>
              <a:t>Actor’s Goal:</a:t>
            </a:r>
            <a:r>
              <a:rPr lang="en-US" sz="1400" dirty="0"/>
              <a:t> To conduct and record performance evaluations of teachers.</a:t>
            </a:r>
          </a:p>
          <a:p>
            <a:r>
              <a:rPr lang="en-US" sz="1400" b="1" dirty="0"/>
              <a:t>Participating Actors:</a:t>
            </a:r>
            <a:r>
              <a:rPr lang="en-US" sz="1400" dirty="0"/>
              <a:t> Teacher, Admin Office</a:t>
            </a:r>
          </a:p>
          <a:p>
            <a:r>
              <a:rPr lang="en-US" sz="1400" b="1" dirty="0"/>
              <a:t>Preconditions:</a:t>
            </a: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User must be authenticated.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Review period and criteria must be pre-defined.</a:t>
            </a:r>
          </a:p>
          <a:p>
            <a:r>
              <a:rPr lang="en-US" sz="1400" b="1" dirty="0"/>
              <a:t>Postconditions:</a:t>
            </a: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Performance review records are stored or displayed.</a:t>
            </a:r>
          </a:p>
          <a:p>
            <a:r>
              <a:rPr lang="en-US" sz="1400" b="1" dirty="0"/>
              <a:t>Flow of Events for Main Success Scenario:</a:t>
            </a:r>
            <a:endParaRPr lang="en-US" sz="1400" dirty="0"/>
          </a:p>
          <a:p>
            <a:pPr>
              <a:buFont typeface="+mj-lt"/>
              <a:buAutoNum type="arabicPeriod"/>
            </a:pPr>
            <a:r>
              <a:rPr lang="en-US" sz="1400" dirty="0"/>
              <a:t>Admin or Academic Head logs into the system.</a:t>
            </a:r>
          </a:p>
          <a:p>
            <a:pPr>
              <a:buFont typeface="+mj-lt"/>
              <a:buAutoNum type="arabicPeriod"/>
            </a:pPr>
            <a:r>
              <a:rPr lang="en-US" sz="1400" dirty="0"/>
              <a:t>Navigates to the "Performance Reviews" section.</a:t>
            </a:r>
          </a:p>
          <a:p>
            <a:pPr>
              <a:buFont typeface="+mj-lt"/>
              <a:buAutoNum type="arabicPeriod"/>
            </a:pPr>
            <a:r>
              <a:rPr lang="en-US" sz="1400" dirty="0"/>
              <a:t>Selects the teacher and review period.</a:t>
            </a:r>
          </a:p>
          <a:p>
            <a:pPr>
              <a:buFont typeface="+mj-lt"/>
              <a:buAutoNum type="arabicPeriod"/>
            </a:pPr>
            <a:r>
              <a:rPr lang="en-US" sz="1400" dirty="0"/>
              <a:t>Fills in ratings/comments on predefined evaluation metrics.</a:t>
            </a:r>
          </a:p>
          <a:p>
            <a:pPr>
              <a:buFont typeface="+mj-lt"/>
              <a:buAutoNum type="arabicPeriod"/>
            </a:pPr>
            <a:r>
              <a:rPr lang="en-US" sz="1400" dirty="0"/>
              <a:t>Clicks "Submit".</a:t>
            </a:r>
          </a:p>
          <a:p>
            <a:pPr>
              <a:buFont typeface="+mj-lt"/>
              <a:buAutoNum type="arabicPeriod"/>
            </a:pPr>
            <a:r>
              <a:rPr lang="en-US" sz="1400" dirty="0"/>
              <a:t>System stores the review and optionally shares feedback with the teacher.</a:t>
            </a:r>
          </a:p>
          <a:p>
            <a:pPr>
              <a:buFont typeface="+mj-lt"/>
              <a:buAutoNum type="arabicPeriod"/>
            </a:pPr>
            <a:r>
              <a:rPr lang="en-US" sz="1400" dirty="0"/>
              <a:t>Admin Office uses data for professional development or contract decisions.</a:t>
            </a:r>
          </a:p>
          <a:p>
            <a:pPr marL="0" indent="0">
              <a:buNone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6650023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11BE9-3508-ECCA-749B-320A84E4C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UC 10: Timetable Generation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9B5B32-D734-9426-B183-D847B458D1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400" b="1" dirty="0"/>
              <a:t>Initiating Actor:</a:t>
            </a:r>
            <a:r>
              <a:rPr lang="en-US" sz="1400" dirty="0"/>
              <a:t> Admin</a:t>
            </a:r>
            <a:br>
              <a:rPr lang="en-US" sz="1400" dirty="0"/>
            </a:br>
            <a:r>
              <a:rPr lang="en-US" sz="1400" b="1" dirty="0"/>
              <a:t>Actor’s Goal:</a:t>
            </a:r>
            <a:r>
              <a:rPr lang="en-US" sz="1400" dirty="0"/>
              <a:t> To create or update the class timetable for a specific academic term.</a:t>
            </a:r>
          </a:p>
          <a:p>
            <a:r>
              <a:rPr lang="en-US" sz="1400" b="1" dirty="0"/>
              <a:t>Participating Actors:</a:t>
            </a:r>
            <a:r>
              <a:rPr lang="en-US" sz="1400" dirty="0"/>
              <a:t> Teachers, Students, Parents</a:t>
            </a:r>
          </a:p>
          <a:p>
            <a:r>
              <a:rPr lang="en-US" sz="1400" b="1" dirty="0"/>
              <a:t>Preconditions:</a:t>
            </a: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Admin must be authenticated.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Class structure and subject offerings must be defined.</a:t>
            </a:r>
          </a:p>
          <a:p>
            <a:r>
              <a:rPr lang="en-US" sz="1400" b="1" dirty="0"/>
              <a:t>Postconditions:</a:t>
            </a: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Timetable is created and available for viewing.</a:t>
            </a:r>
          </a:p>
          <a:p>
            <a:r>
              <a:rPr lang="en-US" sz="1400" b="1" dirty="0"/>
              <a:t>Flow of Events for Main Success Scenario:</a:t>
            </a:r>
            <a:endParaRPr lang="en-US" sz="1400" dirty="0"/>
          </a:p>
          <a:p>
            <a:pPr>
              <a:buFont typeface="+mj-lt"/>
              <a:buAutoNum type="arabicPeriod"/>
            </a:pPr>
            <a:r>
              <a:rPr lang="en-US" sz="1400" dirty="0"/>
              <a:t>Admin logs into the system.</a:t>
            </a:r>
          </a:p>
          <a:p>
            <a:pPr>
              <a:buFont typeface="+mj-lt"/>
              <a:buAutoNum type="arabicPeriod"/>
            </a:pPr>
            <a:r>
              <a:rPr lang="en-US" sz="1400" dirty="0"/>
              <a:t>Navigates to the "Timetable Management" section.</a:t>
            </a:r>
          </a:p>
          <a:p>
            <a:pPr>
              <a:buFont typeface="+mj-lt"/>
              <a:buAutoNum type="arabicPeriod"/>
            </a:pPr>
            <a:r>
              <a:rPr lang="en-US" sz="1400" dirty="0"/>
              <a:t>Selects class, term, and days of the week.</a:t>
            </a:r>
          </a:p>
          <a:p>
            <a:pPr>
              <a:buFont typeface="+mj-lt"/>
              <a:buAutoNum type="arabicPeriod"/>
            </a:pPr>
            <a:r>
              <a:rPr lang="en-US" sz="1400" dirty="0"/>
              <a:t>Assigns time slots for each subject and activity.</a:t>
            </a:r>
          </a:p>
          <a:p>
            <a:pPr>
              <a:buFont typeface="+mj-lt"/>
              <a:buAutoNum type="arabicPeriod"/>
            </a:pPr>
            <a:r>
              <a:rPr lang="en-US" sz="1400" dirty="0"/>
              <a:t>Clicks "Save Timetable".</a:t>
            </a:r>
          </a:p>
          <a:p>
            <a:pPr>
              <a:buFont typeface="+mj-lt"/>
              <a:buAutoNum type="arabicPeriod"/>
            </a:pPr>
            <a:r>
              <a:rPr lang="en-US" sz="1400" dirty="0"/>
              <a:t>System validates for conflicts (e.g., teacher availability, room clashes).</a:t>
            </a:r>
          </a:p>
          <a:p>
            <a:pPr>
              <a:buFont typeface="+mj-lt"/>
              <a:buAutoNum type="arabicPeriod"/>
            </a:pPr>
            <a:r>
              <a:rPr lang="en-US" sz="1400" dirty="0"/>
              <a:t>Finalized timetable is stored and published.</a:t>
            </a:r>
          </a:p>
          <a:p>
            <a:pPr>
              <a:buFont typeface="+mj-lt"/>
              <a:buAutoNum type="arabicPeriod"/>
            </a:pPr>
            <a:r>
              <a:rPr lang="en-US" sz="1400" dirty="0"/>
              <a:t>Teachers, Students, and Parents can view the timetable on their dashboards.</a:t>
            </a:r>
          </a:p>
          <a:p>
            <a:pPr marL="0" indent="0">
              <a:buNone/>
            </a:pP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5862055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35273-F5C5-03D4-DD3F-46FD3EF5F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UC 11: Subject Allocation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72AEAA-5320-0E71-D65F-7698554DF2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1800" b="1" dirty="0"/>
              <a:t>Initiating Actor:</a:t>
            </a:r>
            <a:r>
              <a:rPr lang="en-US" sz="1800" dirty="0"/>
              <a:t> Admin</a:t>
            </a:r>
            <a:br>
              <a:rPr lang="en-US" sz="1800" dirty="0"/>
            </a:br>
            <a:r>
              <a:rPr lang="en-US" sz="1800" b="1" dirty="0"/>
              <a:t>Actor’s Goal:</a:t>
            </a:r>
            <a:r>
              <a:rPr lang="en-US" sz="1800" dirty="0"/>
              <a:t> To allocate subjects to different classes and assign them to teachers.</a:t>
            </a:r>
          </a:p>
          <a:p>
            <a:r>
              <a:rPr lang="en-US" sz="1800" b="1" dirty="0"/>
              <a:t>Participating Actors:</a:t>
            </a:r>
            <a:r>
              <a:rPr lang="en-US" sz="1800" dirty="0"/>
              <a:t> Teachers, Students, Academic Department</a:t>
            </a:r>
          </a:p>
          <a:p>
            <a:r>
              <a:rPr lang="en-US" sz="1800" b="1" dirty="0"/>
              <a:t>Preconditions:</a:t>
            </a:r>
            <a:endParaRPr lang="en-US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Admin must be authenticated.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Class structure and teacher availability must be configured.</a:t>
            </a:r>
          </a:p>
          <a:p>
            <a:r>
              <a:rPr lang="en-US" sz="1800" b="1" dirty="0"/>
              <a:t>Postconditions:</a:t>
            </a:r>
            <a:endParaRPr lang="en-US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Subjects are assigned to classes and teachers.</a:t>
            </a:r>
          </a:p>
          <a:p>
            <a:r>
              <a:rPr lang="en-US" sz="1800" b="1" dirty="0"/>
              <a:t>Flow of Events for Main Success Scenario:</a:t>
            </a:r>
            <a:endParaRPr lang="en-US" sz="1800" dirty="0"/>
          </a:p>
          <a:p>
            <a:pPr>
              <a:buFont typeface="+mj-lt"/>
              <a:buAutoNum type="arabicPeriod"/>
            </a:pPr>
            <a:r>
              <a:rPr lang="en-US" sz="1800" dirty="0"/>
              <a:t>Admin logs into the system.</a:t>
            </a:r>
          </a:p>
          <a:p>
            <a:pPr>
              <a:buFont typeface="+mj-lt"/>
              <a:buAutoNum type="arabicPeriod"/>
            </a:pPr>
            <a:r>
              <a:rPr lang="en-US" sz="1800" dirty="0"/>
              <a:t>Navigates to the "Subject Allocation" section.</a:t>
            </a:r>
          </a:p>
          <a:p>
            <a:pPr>
              <a:buFont typeface="+mj-lt"/>
              <a:buAutoNum type="arabicPeriod"/>
            </a:pPr>
            <a:r>
              <a:rPr lang="en-US" sz="1800" dirty="0"/>
              <a:t>Selects a class and academic term.</a:t>
            </a:r>
          </a:p>
          <a:p>
            <a:pPr>
              <a:buFont typeface="+mj-lt"/>
              <a:buAutoNum type="arabicPeriod"/>
            </a:pPr>
            <a:r>
              <a:rPr lang="en-US" sz="1800" dirty="0"/>
              <a:t>Assigns subjects and links them to available teachers.</a:t>
            </a:r>
          </a:p>
          <a:p>
            <a:pPr>
              <a:buFont typeface="+mj-lt"/>
              <a:buAutoNum type="arabicPeriod"/>
            </a:pPr>
            <a:r>
              <a:rPr lang="en-US" sz="1800" dirty="0"/>
              <a:t>System checks for workload conflicts and subject suitability.</a:t>
            </a:r>
          </a:p>
          <a:p>
            <a:pPr>
              <a:buFont typeface="+mj-lt"/>
              <a:buAutoNum type="arabicPeriod"/>
            </a:pPr>
            <a:r>
              <a:rPr lang="en-US" sz="1800" dirty="0"/>
              <a:t>Clicks "Confirm Allocation".</a:t>
            </a:r>
          </a:p>
          <a:p>
            <a:pPr>
              <a:buFont typeface="+mj-lt"/>
              <a:buAutoNum type="arabicPeriod"/>
            </a:pPr>
            <a:r>
              <a:rPr lang="en-US" sz="1800" dirty="0"/>
              <a:t>Allocations are saved and reflected in teacher and student dashboards.</a:t>
            </a:r>
          </a:p>
          <a:p>
            <a:pPr>
              <a:buFont typeface="+mj-lt"/>
              <a:buAutoNum type="arabicPeriod"/>
            </a:pPr>
            <a:r>
              <a:rPr lang="en-US" sz="1800" dirty="0"/>
              <a:t>Academic Department is notified for curriculum alignment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462447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303E3-4F89-9A73-A647-150AEFB24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UC 12: Classroom Allocation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4E8EE3-CC90-D446-1914-335C0108B5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b="1" dirty="0"/>
              <a:t>Initiating Actor:</a:t>
            </a:r>
            <a:r>
              <a:rPr lang="en-US" dirty="0"/>
              <a:t> Admin</a:t>
            </a:r>
            <a:br>
              <a:rPr lang="en-US" dirty="0"/>
            </a:br>
            <a:r>
              <a:rPr lang="en-US" b="1" dirty="0"/>
              <a:t>Actor’s Goal:</a:t>
            </a:r>
            <a:r>
              <a:rPr lang="en-US" dirty="0"/>
              <a:t> To assign physical or virtual classrooms to specific classes or sessions.</a:t>
            </a:r>
          </a:p>
          <a:p>
            <a:r>
              <a:rPr lang="en-US" b="1" dirty="0"/>
              <a:t>Participating Actors:</a:t>
            </a:r>
            <a:r>
              <a:rPr lang="en-US" dirty="0"/>
              <a:t> Teachers, Students</a:t>
            </a:r>
          </a:p>
          <a:p>
            <a:r>
              <a:rPr lang="en-US" b="1" dirty="0"/>
              <a:t>Preconditions: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Admin must be authenticated.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Class list, timetable, and room availability must exist.</a:t>
            </a:r>
          </a:p>
          <a:p>
            <a:r>
              <a:rPr lang="en-US" b="1" dirty="0"/>
              <a:t>Postconditions: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Classrooms are allocated and scheduled.</a:t>
            </a:r>
          </a:p>
          <a:p>
            <a:r>
              <a:rPr lang="en-US" b="1" dirty="0"/>
              <a:t>Flow of Events for Main Success Scenario: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Admin logs into the system.</a:t>
            </a:r>
          </a:p>
          <a:p>
            <a:pPr>
              <a:buFont typeface="+mj-lt"/>
              <a:buAutoNum type="arabicPeriod"/>
            </a:pPr>
            <a:r>
              <a:rPr lang="en-US" dirty="0"/>
              <a:t>Navigates to the "Classroom Allocation" section.</a:t>
            </a:r>
          </a:p>
          <a:p>
            <a:pPr>
              <a:buFont typeface="+mj-lt"/>
              <a:buAutoNum type="arabicPeriod"/>
            </a:pPr>
            <a:r>
              <a:rPr lang="en-US" dirty="0"/>
              <a:t>Selects class, date, and time slot.</a:t>
            </a:r>
          </a:p>
          <a:p>
            <a:pPr>
              <a:buFont typeface="+mj-lt"/>
              <a:buAutoNum type="arabicPeriod"/>
            </a:pPr>
            <a:r>
              <a:rPr lang="en-US" dirty="0"/>
              <a:t>Assigns an available classroom.</a:t>
            </a:r>
          </a:p>
          <a:p>
            <a:pPr>
              <a:buFont typeface="+mj-lt"/>
              <a:buAutoNum type="arabicPeriod"/>
            </a:pPr>
            <a:r>
              <a:rPr lang="en-US" dirty="0"/>
              <a:t>System checks for conflicts and capacity limits.</a:t>
            </a:r>
          </a:p>
          <a:p>
            <a:pPr>
              <a:buFont typeface="+mj-lt"/>
              <a:buAutoNum type="arabicPeriod"/>
            </a:pPr>
            <a:r>
              <a:rPr lang="en-US" dirty="0"/>
              <a:t>Clicks "Allocate".</a:t>
            </a:r>
          </a:p>
          <a:p>
            <a:pPr>
              <a:buFont typeface="+mj-lt"/>
              <a:buAutoNum type="arabicPeriod"/>
            </a:pPr>
            <a:r>
              <a:rPr lang="en-US" dirty="0"/>
              <a:t>Allocation is saved and displayed in timetables.</a:t>
            </a:r>
          </a:p>
          <a:p>
            <a:pPr>
              <a:buFont typeface="+mj-lt"/>
              <a:buAutoNum type="arabicPeriod"/>
            </a:pPr>
            <a:r>
              <a:rPr lang="en-US" dirty="0"/>
              <a:t>Teachers and Students are notified of the room assignment.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2406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D9785-56F1-5A02-246D-DDB141A7E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UC 13: Exam Schedule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35539A-9FAF-E002-4F91-EA3FD0CF73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b="1" dirty="0"/>
              <a:t>Initiating Actor:</a:t>
            </a:r>
            <a:r>
              <a:rPr lang="en-US" dirty="0"/>
              <a:t> Admin</a:t>
            </a:r>
            <a:br>
              <a:rPr lang="en-US" dirty="0"/>
            </a:br>
            <a:r>
              <a:rPr lang="en-US" b="1" dirty="0"/>
              <a:t>Actor’s Goal:</a:t>
            </a:r>
            <a:r>
              <a:rPr lang="en-US" dirty="0"/>
              <a:t> To create and publish exam schedules for various classes.</a:t>
            </a:r>
          </a:p>
          <a:p>
            <a:r>
              <a:rPr lang="en-US" b="1" dirty="0"/>
              <a:t>Participating Actors:</a:t>
            </a:r>
            <a:r>
              <a:rPr lang="en-US" dirty="0"/>
              <a:t> Teachers, Students, Parents</a:t>
            </a:r>
          </a:p>
          <a:p>
            <a:r>
              <a:rPr lang="en-US" b="1" dirty="0"/>
              <a:t>Preconditions: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Admin must be authenticated.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Exam calendar and subject list must be available.</a:t>
            </a:r>
          </a:p>
          <a:p>
            <a:r>
              <a:rPr lang="en-US" b="1" dirty="0"/>
              <a:t>Postconditions: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Exam schedule is created, stored, and visible to stakeholders.</a:t>
            </a:r>
          </a:p>
          <a:p>
            <a:r>
              <a:rPr lang="en-US" b="1" dirty="0"/>
              <a:t>Flow of Events for Main Success Scenario: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Admin logs into the system.</a:t>
            </a:r>
          </a:p>
          <a:p>
            <a:pPr>
              <a:buFont typeface="+mj-lt"/>
              <a:buAutoNum type="arabicPeriod"/>
            </a:pPr>
            <a:r>
              <a:rPr lang="en-US" dirty="0"/>
              <a:t>Navigates to the "Exam Schedules" section.</a:t>
            </a:r>
          </a:p>
          <a:p>
            <a:pPr>
              <a:buFont typeface="+mj-lt"/>
              <a:buAutoNum type="arabicPeriod"/>
            </a:pPr>
            <a:r>
              <a:rPr lang="en-US" dirty="0"/>
              <a:t>Selects academic term, class, and exam type (e.g., midterm, final).</a:t>
            </a:r>
          </a:p>
          <a:p>
            <a:pPr>
              <a:buFont typeface="+mj-lt"/>
              <a:buAutoNum type="arabicPeriod"/>
            </a:pPr>
            <a:r>
              <a:rPr lang="en-US" dirty="0"/>
              <a:t>Enters subject-wise exam dates and time slots.</a:t>
            </a:r>
          </a:p>
          <a:p>
            <a:pPr>
              <a:buFont typeface="+mj-lt"/>
              <a:buAutoNum type="arabicPeriod"/>
            </a:pPr>
            <a:r>
              <a:rPr lang="en-US" dirty="0"/>
              <a:t>Clicks "Save &amp; Publish".</a:t>
            </a:r>
          </a:p>
          <a:p>
            <a:pPr>
              <a:buFont typeface="+mj-lt"/>
              <a:buAutoNum type="arabicPeriod"/>
            </a:pPr>
            <a:r>
              <a:rPr lang="en-US" dirty="0"/>
              <a:t>System checks for conflicts (e.g., subject overlaps, room availability).</a:t>
            </a:r>
          </a:p>
          <a:p>
            <a:pPr>
              <a:buFont typeface="+mj-lt"/>
              <a:buAutoNum type="arabicPeriod"/>
            </a:pPr>
            <a:r>
              <a:rPr lang="en-US" dirty="0"/>
              <a:t>Finalized schedule is published.</a:t>
            </a:r>
          </a:p>
          <a:p>
            <a:pPr>
              <a:buFont typeface="+mj-lt"/>
              <a:buAutoNum type="arabicPeriod"/>
            </a:pPr>
            <a:r>
              <a:rPr lang="en-US" dirty="0"/>
              <a:t>Teachers, Students, and Parents receive notifications and can view the schedule.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691443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DE579-A873-6029-F765-9BC014836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UC 14: Grading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5D3319-7F26-B3D2-F317-EFB1DDB64D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b="1" dirty="0"/>
              <a:t>Initiating Actor:</a:t>
            </a:r>
            <a:r>
              <a:rPr lang="en-US" dirty="0"/>
              <a:t> Teacher</a:t>
            </a:r>
            <a:br>
              <a:rPr lang="en-US" dirty="0"/>
            </a:br>
            <a:r>
              <a:rPr lang="en-US" b="1" dirty="0"/>
              <a:t>Actor’s Goal:</a:t>
            </a:r>
            <a:r>
              <a:rPr lang="en-US" dirty="0"/>
              <a:t> To enter and submit student grades for assessments.</a:t>
            </a:r>
          </a:p>
          <a:p>
            <a:r>
              <a:rPr lang="en-US" b="1" dirty="0"/>
              <a:t>Participating Actors:</a:t>
            </a:r>
            <a:r>
              <a:rPr lang="en-US" dirty="0"/>
              <a:t> Admin Office, Academic Department</a:t>
            </a:r>
          </a:p>
          <a:p>
            <a:r>
              <a:rPr lang="en-US" b="1" dirty="0"/>
              <a:t>Preconditions: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Teacher must be authenticated.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Exam must have been conducted for the relevant class/subject.</a:t>
            </a:r>
          </a:p>
          <a:p>
            <a:r>
              <a:rPr lang="en-US" b="1" dirty="0"/>
              <a:t>Postconditions: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Grades are stored and made available for report generation.</a:t>
            </a:r>
          </a:p>
          <a:p>
            <a:r>
              <a:rPr lang="en-US" b="1" dirty="0"/>
              <a:t>Flow of Events for Main Success Scenario: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Teacher logs into the system.</a:t>
            </a:r>
          </a:p>
          <a:p>
            <a:pPr>
              <a:buFont typeface="+mj-lt"/>
              <a:buAutoNum type="arabicPeriod"/>
            </a:pPr>
            <a:r>
              <a:rPr lang="en-US" dirty="0"/>
              <a:t>Navigates to the "Grading" section.</a:t>
            </a:r>
          </a:p>
          <a:p>
            <a:pPr>
              <a:buFont typeface="+mj-lt"/>
              <a:buAutoNum type="arabicPeriod"/>
            </a:pPr>
            <a:r>
              <a:rPr lang="en-US" dirty="0"/>
              <a:t>Selects class, subject, and exam session.</a:t>
            </a:r>
          </a:p>
          <a:p>
            <a:pPr>
              <a:buFont typeface="+mj-lt"/>
              <a:buAutoNum type="arabicPeriod"/>
            </a:pPr>
            <a:r>
              <a:rPr lang="en-US" dirty="0"/>
              <a:t>Enters marks or grades for each student.</a:t>
            </a:r>
          </a:p>
          <a:p>
            <a:pPr>
              <a:buFont typeface="+mj-lt"/>
              <a:buAutoNum type="arabicPeriod"/>
            </a:pPr>
            <a:r>
              <a:rPr lang="en-US" dirty="0"/>
              <a:t>Reviews entries and clicks "Submit Grades".</a:t>
            </a:r>
          </a:p>
          <a:p>
            <a:pPr>
              <a:buFont typeface="+mj-lt"/>
              <a:buAutoNum type="arabicPeriod"/>
            </a:pPr>
            <a:r>
              <a:rPr lang="en-US" dirty="0"/>
              <a:t>System validates inputs and stores them.</a:t>
            </a:r>
          </a:p>
          <a:p>
            <a:pPr>
              <a:buFont typeface="+mj-lt"/>
              <a:buAutoNum type="arabicPeriod"/>
            </a:pPr>
            <a:r>
              <a:rPr lang="en-US" dirty="0"/>
              <a:t>Admin Office and Academic Department are notified for approval or review.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488107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E85D3-2843-8EB3-8F57-3A7012F69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UC 15: Report Card Generation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551E1E-258B-AC3E-BD6C-8EA4BA0AB4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b="1" dirty="0"/>
              <a:t>Initiating Actor:</a:t>
            </a:r>
            <a:r>
              <a:rPr lang="en-US" dirty="0"/>
              <a:t> Admin / Teacher</a:t>
            </a:r>
            <a:br>
              <a:rPr lang="en-US" dirty="0"/>
            </a:br>
            <a:r>
              <a:rPr lang="en-US" b="1" dirty="0"/>
              <a:t>Actor’s Goal:</a:t>
            </a:r>
            <a:r>
              <a:rPr lang="en-US" dirty="0"/>
              <a:t> To generate and distribute student report cards.</a:t>
            </a:r>
          </a:p>
          <a:p>
            <a:r>
              <a:rPr lang="en-US" b="1" dirty="0"/>
              <a:t>Participating Actors:</a:t>
            </a:r>
            <a:r>
              <a:rPr lang="en-US" dirty="0"/>
              <a:t> Students, Parents, Academic Department</a:t>
            </a:r>
          </a:p>
          <a:p>
            <a:r>
              <a:rPr lang="en-US" b="1" dirty="0"/>
              <a:t>Preconditions: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All grades must be entered and finalized.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Teacher/Admin must be authenticated.</a:t>
            </a:r>
          </a:p>
          <a:p>
            <a:r>
              <a:rPr lang="en-US" b="1" dirty="0"/>
              <a:t>Postconditions: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Report cards are generated, stored, and made available for download/view.</a:t>
            </a:r>
          </a:p>
          <a:p>
            <a:r>
              <a:rPr lang="en-US" b="1" dirty="0"/>
              <a:t>Flow of Events for Main Success Scenario: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Admin or Teacher logs into the system.</a:t>
            </a:r>
          </a:p>
          <a:p>
            <a:pPr>
              <a:buFont typeface="+mj-lt"/>
              <a:buAutoNum type="arabicPeriod"/>
            </a:pPr>
            <a:r>
              <a:rPr lang="en-US" dirty="0"/>
              <a:t>Navigates to the "Report Cards" section.</a:t>
            </a:r>
          </a:p>
          <a:p>
            <a:pPr>
              <a:buFont typeface="+mj-lt"/>
              <a:buAutoNum type="arabicPeriod"/>
            </a:pPr>
            <a:r>
              <a:rPr lang="en-US" dirty="0"/>
              <a:t>Selects academic term and class.</a:t>
            </a:r>
          </a:p>
          <a:p>
            <a:pPr>
              <a:buFont typeface="+mj-lt"/>
              <a:buAutoNum type="arabicPeriod"/>
            </a:pPr>
            <a:r>
              <a:rPr lang="en-US" dirty="0"/>
              <a:t>System compiles subject-wise grades, attendance, and remarks.</a:t>
            </a:r>
          </a:p>
          <a:p>
            <a:pPr>
              <a:buFont typeface="+mj-lt"/>
              <a:buAutoNum type="arabicPeriod"/>
            </a:pPr>
            <a:r>
              <a:rPr lang="en-US" dirty="0"/>
              <a:t>Clicks "Generate" or "Publish".</a:t>
            </a:r>
          </a:p>
          <a:p>
            <a:pPr>
              <a:buFont typeface="+mj-lt"/>
              <a:buAutoNum type="arabicPeriod"/>
            </a:pPr>
            <a:r>
              <a:rPr lang="en-US" dirty="0"/>
              <a:t>Report cards are created in PDF or digital format.</a:t>
            </a:r>
          </a:p>
          <a:p>
            <a:pPr>
              <a:buFont typeface="+mj-lt"/>
              <a:buAutoNum type="arabicPeriod"/>
            </a:pPr>
            <a:r>
              <a:rPr lang="en-US" dirty="0"/>
              <a:t>Students and Parents are notified and can access the report cards.</a:t>
            </a:r>
          </a:p>
          <a:p>
            <a:pPr>
              <a:buFont typeface="+mj-lt"/>
              <a:buAutoNum type="arabicPeriod"/>
            </a:pPr>
            <a:r>
              <a:rPr lang="en-US" dirty="0"/>
              <a:t>Academic Department uses the reports for records or analytics.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66362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2E174-CDB2-7C17-7D72-0074CA849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UC 16: Role-Based Access Management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624097E-704D-91BE-D234-E672E83CE65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354802"/>
            <a:ext cx="8281691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Initiating Actor: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Admin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</a:b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Actor’s Goal: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To assign, update, or manage system roles and access permissions for all user types.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Participating Actors: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Teachers, Students, Parents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Preconditions: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Admin must be authenticated.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Users must have registered or existing accounts.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Defined roles and permissions schema must exist in the system.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Postconditions: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Roles are assigned or updated.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Users gain or lose access to specific system features based on role.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Flow of Events for Main Success Scenario: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Admin logs into the system.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Navigates to the "User Management" or "Role Permissions" section.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Selects a user or group (Teacher, Student, Parent, etc.).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Assigns a role (e.g., Admin, Teacher, Student, Parent).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Optionally configures custom permissions (e.g., view-only, edit, approve).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Clicks "Save Changes".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7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System updates the user’s access rights based on the assigned role.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8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Users now see system features relevant to their role upon login.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1580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What Do We Need? - Non-Functional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- Usability: Intuitive UI for users of varying tech literacy.</a:t>
            </a:r>
          </a:p>
          <a:p>
            <a:r>
              <a:t>- Scalability: Support for increasing student/teacher base.</a:t>
            </a:r>
          </a:p>
          <a:p>
            <a:r>
              <a:t>- Performance: Fast response time under load.</a:t>
            </a:r>
          </a:p>
          <a:p>
            <a:r>
              <a:t>- Security: Data protection, role-based access, encryption.</a:t>
            </a:r>
          </a:p>
          <a:p>
            <a:r>
              <a:t>- Availability: High uptime, minimal maintenance downtime.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What Do We Want? - Stakeholder Expectations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Students: Easy access to grades, timetables, and notifications.</a:t>
            </a:r>
          </a:p>
          <a:p>
            <a:r>
              <a:t>- Teachers: Simplified class and student management.</a:t>
            </a:r>
          </a:p>
          <a:p>
            <a:r>
              <a:t>- Parents: Real-time updates on student performance and attendance.</a:t>
            </a:r>
          </a:p>
          <a:p>
            <a:r>
              <a:t>- Administrators: Full control over operations, easy data access.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Do We Want? - System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Improve administrative efficiency.</a:t>
            </a:r>
          </a:p>
          <a:p>
            <a:r>
              <a:t>- Reduce paperwork and manual errors.</a:t>
            </a:r>
          </a:p>
          <a:p>
            <a:r>
              <a:t>- Foster transparency and communication.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How Can We Realize This? - 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Web-based Application: Accessible on PCs, tablets, and smartphones.</a:t>
            </a:r>
          </a:p>
          <a:p>
            <a:r>
              <a:t>- Cloud-Hosted Backend: Ensures data redundancy and scalability.</a:t>
            </a:r>
          </a:p>
          <a:p>
            <a:r>
              <a:t>- Modular Design: Each module (Student, Teacher, Exams, etc.) can be developed and maintained independently.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How Can We Realize This? - Technologies to 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Frontend: HTML5, CSS3, JavaScript (React or Angular).</a:t>
            </a:r>
          </a:p>
          <a:p>
            <a:r>
              <a:t>- Backend: Node.js, Django, or Laravel.</a:t>
            </a:r>
          </a:p>
          <a:p>
            <a:r>
              <a:t>- Database: PostgreSQL or MongoDB.</a:t>
            </a:r>
          </a:p>
          <a:p>
            <a:r>
              <a:t>- Authentication: OAuth 2.0 / JWT.</a:t>
            </a:r>
          </a:p>
          <a:p>
            <a:r>
              <a:t>- Hosting: AWS, Azure, or Google Cloud.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How Can We Realize This? - Implementation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Phase 1: Requirements Gathering and Finalization</a:t>
            </a:r>
          </a:p>
          <a:p>
            <a:r>
              <a:t>- Phase 2: UI/UX Design and Prototyping</a:t>
            </a:r>
          </a:p>
          <a:p>
            <a:r>
              <a:t>- Phase 3: Core Module Development</a:t>
            </a:r>
          </a:p>
          <a:p>
            <a:r>
              <a:t>- Phase 4: Integration and Testing</a:t>
            </a:r>
          </a:p>
          <a:p>
            <a:r>
              <a:t>- Phase 5: Deployment and Training</a:t>
            </a:r>
          </a:p>
          <a:p>
            <a:r>
              <a:t>- Phase 6: Feedback and Iteration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requirement analysis outlines the path to building a comprehensive, user-friendly school system for Bobby's School. With clear goals, robust design, and stakeholder focus, the system is positioned to improve educational operations significantly.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2681</Words>
  <Application>Microsoft Office PowerPoint</Application>
  <PresentationFormat>On-screen Show (4:3)</PresentationFormat>
  <Paragraphs>320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Requirement Analysis</vt:lpstr>
      <vt:lpstr>Introduction</vt:lpstr>
      <vt:lpstr>What Do We Need? - Functional Requirements</vt:lpstr>
      <vt:lpstr>UC 1: Student Registration</vt:lpstr>
      <vt:lpstr>UC 2: Attendance Tracking</vt:lpstr>
      <vt:lpstr>UC 3: Performance Records</vt:lpstr>
      <vt:lpstr>UC 4: Promotion History</vt:lpstr>
      <vt:lpstr>UC 5: Teacher Profile Management</vt:lpstr>
      <vt:lpstr>UC 6: Schedule Management</vt:lpstr>
      <vt:lpstr>UC 7: Subject Assignment</vt:lpstr>
      <vt:lpstr>UC 8: Teacher Attendance Management</vt:lpstr>
      <vt:lpstr>UC 9: Performance Reviews</vt:lpstr>
      <vt:lpstr>UC 10: Timetable Generation</vt:lpstr>
      <vt:lpstr>UC 11: Subject Allocation</vt:lpstr>
      <vt:lpstr>UC 12: Classroom Allocation</vt:lpstr>
      <vt:lpstr>UC 13: Exam Schedule Management</vt:lpstr>
      <vt:lpstr>UC 14: Grading</vt:lpstr>
      <vt:lpstr>UC 15: Report Card Generation</vt:lpstr>
      <vt:lpstr>UC 16: Role-Based Access Management</vt:lpstr>
      <vt:lpstr>What Do We Need? - Non-Functional Requirements</vt:lpstr>
      <vt:lpstr>What Do We Want? - Stakeholder Expectations</vt:lpstr>
      <vt:lpstr>What Do We Want? - System Goals</vt:lpstr>
      <vt:lpstr>How Can We Realize This? - System Architecture</vt:lpstr>
      <vt:lpstr>How Can We Realize This? - Technologies to Use</vt:lpstr>
      <vt:lpstr>How Can We Realize This? - Implementation Plan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GLEN PAUL C S</dc:creator>
  <cp:keywords/>
  <dc:description>generated using python-pptx</dc:description>
  <cp:lastModifiedBy>Sai Bhargav Thoomu</cp:lastModifiedBy>
  <cp:revision>2</cp:revision>
  <dcterms:created xsi:type="dcterms:W3CDTF">2013-01-27T09:14:16Z</dcterms:created>
  <dcterms:modified xsi:type="dcterms:W3CDTF">2025-04-29T16:02:30Z</dcterms:modified>
  <cp:category/>
</cp:coreProperties>
</file>